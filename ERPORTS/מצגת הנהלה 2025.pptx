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6344-D12F-157C-89D5-ECE46E1AD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5B05F-C7CF-1211-7D51-F408DB91A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8E7C-020D-4367-CBB3-917467E5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886EC-4328-5CB8-8A35-1560E972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2F4DD-1183-93F7-416F-49412D051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848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538C-C377-DB4D-2DD4-B66C18D9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4CA4-D3B6-4DD5-B258-5DC9AF2FA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336E2-ADFD-1192-AFD4-D946F7CC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72461-DDB8-E264-F5F0-2B143B88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18F6E-AF40-2EAE-F9A9-DC5A047A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6636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0EB7-2201-2AE9-846F-6C61C2A5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5A5E9-91BA-0913-3456-FA294C5D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F2C3C-9ED5-09AE-0B6B-620821083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D3CEC-A63B-9DCC-EA31-34868125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CACD-0CC1-3115-DC0F-4E9EC49E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234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93B8-3E0C-F96A-BADA-7070FE2D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AA459-605D-6137-05E1-4B862BEA5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9A0D2-AD8E-5815-7E3D-9BA4B9B55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469DB-E7E5-A718-CCB8-5CB5B583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4FACC-18AA-A65D-9341-4A101F16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EFFDC-50BF-C932-3B91-EACA5630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3549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BC67-2ECE-CCB3-D1D7-CB55CCC16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1FED6-924C-F9C2-073E-B41A9C6C7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0BB80-6C4A-A89D-BB97-A5DB5353D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F59E1-0270-E87B-202C-E5A8BA060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7939F-676E-7076-198D-082CB52CE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607C9-2CA8-D9CF-7112-EFC89275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AE884-AF7D-A570-1C9F-5E767521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A8D7B-3294-933D-2F71-E69A2F9A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418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39027-8899-1BF7-4512-A339A815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F1C61-CC34-60E2-F79B-B2EA9B78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ECFCD-0082-A147-225C-0D3F2C06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6F54D-60A0-C025-CCF7-DE5AF8EE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496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DB665-8124-1CDC-F2F0-9BED34A4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40237-6DC0-0164-0C8E-13CAE8ADF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750A2-6DF7-5125-5C23-825FEAC0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638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CCE9-19BB-C086-39A1-862160579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A601C-67C0-47DC-A9C0-18E24D070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F3C3A-FF72-08F1-4456-6391144B2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A1C04-F325-46D0-00E4-D09E304F2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26535-D8BE-9CCD-682E-9F276CCC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5454F-0BD7-43D3-099F-351350E7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817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EE69-7D24-C737-5D1B-B1E4A2EB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F59B4-7926-BE70-0C95-48A98BD8D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B6B35-F677-72F1-31D7-9130818CA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94576-41DF-BAD5-EF7C-43F138E6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DB709-66AF-B393-B1FF-A519A8B3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07D38-3050-5167-956B-CF0ABC74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972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5A8C-AE39-1038-6C60-3B0EAB76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A67FE-51CD-4315-DC43-42EFCF4D3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2542-23C1-822E-49D7-D2E93952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C9128-E67E-70F8-3F02-4EE49A8C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1FBDC-7C32-D315-8566-536440DF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540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6E34B5-B541-F638-AA6F-701B8E101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BA2E7-2F3A-DC9D-23B6-6695FC5DF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97020-8841-7DE3-18F2-5EC6D71E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50C1F-511F-1B6E-536C-CDF09DBD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5A30A-A3F0-41EE-994B-20988ED4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896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BD967-6EAF-B380-3365-9FA0549D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16D33-69BE-5FF6-A5AE-E2BDC09BD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6C5FE-56A6-B193-1B64-9ED6E2145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CAB98-F393-43DD-920E-C5E018770401}" type="datetimeFigureOut">
              <a:rPr lang="en-IL" smtClean="0"/>
              <a:t>24/05/2026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DF30B-E4FA-32FB-345A-AAA626B80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5930A-9EAA-BE20-E8D7-4DDC7529E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5EE59-08BE-4E19-A094-3F2BE5AEAF2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3868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749C0-F9F0-B5EB-C0D8-91694C7907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BE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C8B14-8643-31DD-22DB-F0126AB969CA}"/>
              </a:ext>
            </a:extLst>
          </p:cNvPr>
          <p:cNvSpPr/>
          <p:nvPr/>
        </p:nvSpPr>
        <p:spPr>
          <a:xfrm>
            <a:off x="635000" y="508000"/>
            <a:ext cx="10922000" cy="584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C0D94-565E-5EB9-9C65-5A44F9462B7E}"/>
              </a:ext>
            </a:extLst>
          </p:cNvPr>
          <p:cNvSpPr txBox="1"/>
          <p:nvPr/>
        </p:nvSpPr>
        <p:spPr>
          <a:xfrm>
            <a:off x="1016000" y="1143000"/>
            <a:ext cx="1016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4000" b="1">
                <a:solidFill>
                  <a:srgbClr val="323232"/>
                </a:solidFill>
              </a:rPr>
              <a:t>מצגת הנהלה</a:t>
            </a:r>
            <a:endParaRPr lang="en-IL" sz="4000" b="1">
              <a:solidFill>
                <a:srgbClr val="32323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E5885-9FF5-B438-7415-5166740D0FB0}"/>
              </a:ext>
            </a:extLst>
          </p:cNvPr>
          <p:cNvSpPr txBox="1"/>
          <p:nvPr/>
        </p:nvSpPr>
        <p:spPr>
          <a:xfrm>
            <a:off x="1016000" y="2286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200">
                <a:solidFill>
                  <a:srgbClr val="505050"/>
                </a:solidFill>
              </a:rPr>
              <a:t>2024 מול 2025</a:t>
            </a:r>
            <a:endParaRPr lang="en-IL" sz="3200">
              <a:solidFill>
                <a:srgbClr val="505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540D1-F8FB-C85A-BF34-4538E474B753}"/>
              </a:ext>
            </a:extLst>
          </p:cNvPr>
          <p:cNvSpPr txBox="1"/>
          <p:nvPr/>
        </p:nvSpPr>
        <p:spPr>
          <a:xfrm>
            <a:off x="1016000" y="3175000"/>
            <a:ext cx="1016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>
                <a:solidFill>
                  <a:srgbClr val="787878"/>
                </a:solidFill>
              </a:rPr>
              <a:t>שנתי | בורדרו</a:t>
            </a:r>
            <a:endParaRPr lang="en-IL" sz="2000">
              <a:solidFill>
                <a:srgbClr val="787878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1AF25-6DF7-2323-9798-FD8A6CD1E93A}"/>
              </a:ext>
            </a:extLst>
          </p:cNvPr>
          <p:cNvSpPr txBox="1"/>
          <p:nvPr/>
        </p:nvSpPr>
        <p:spPr>
          <a:xfrm>
            <a:off x="1016000" y="5080000"/>
            <a:ext cx="1016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3400" b="1">
                <a:solidFill>
                  <a:srgbClr val="00823C"/>
                </a:solidFill>
              </a:rPr>
              <a:t>לבב סוכנות לביטוח</a:t>
            </a:r>
            <a:endParaRPr lang="en-IL" sz="3400" b="1">
              <a:solidFill>
                <a:srgbClr val="00823C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8BDF9-6A33-576F-6B26-E3CE02883CE9}"/>
              </a:ext>
            </a:extLst>
          </p:cNvPr>
          <p:cNvSpPr/>
          <p:nvPr/>
        </p:nvSpPr>
        <p:spPr>
          <a:xfrm>
            <a:off x="635000" y="6413500"/>
            <a:ext cx="10922000" cy="63500"/>
          </a:xfrm>
          <a:prstGeom prst="rect">
            <a:avLst/>
          </a:prstGeom>
          <a:solidFill>
            <a:srgbClr val="C8A01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76414-7C73-049E-3E42-89C9CFEE7B57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 / 29</a:t>
            </a:r>
          </a:p>
        </p:txBody>
      </p:sp>
    </p:spTree>
    <p:extLst>
      <p:ext uri="{BB962C8B-B14F-4D97-AF65-F5344CB8AC3E}">
        <p14:creationId xmlns:p14="http://schemas.microsoft.com/office/powerpoint/2010/main" val="344192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176C9-5217-3507-7064-14DB420799BB}"/>
              </a:ext>
            </a:extLst>
          </p:cNvPr>
          <p:cNvSpPr txBox="1"/>
          <p:nvPr/>
        </p:nvSpPr>
        <p:spPr>
          <a:xfrm>
            <a:off x="254000" y="127000"/>
            <a:ext cx="11684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400" b="1">
                <a:solidFill>
                  <a:srgbClr val="323232"/>
                </a:solidFill>
              </a:rPr>
              <a:t>סה"כ פרמיות ועמלות - 2024 מול 2025</a:t>
            </a:r>
            <a:endParaRPr lang="en-IL" sz="24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815C8-9279-9DCD-1FCA-3100D434C529}"/>
              </a:ext>
            </a:extLst>
          </p:cNvPr>
          <p:cNvSpPr txBox="1"/>
          <p:nvPr/>
        </p:nvSpPr>
        <p:spPr>
          <a:xfrm>
            <a:off x="508000" y="660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A7033-6FA8-9A0F-50A2-1F82057BB00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990600"/>
            <a:ext cx="10160000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3D866C-C96C-1F14-0157-64F68B4CD311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2869708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6B3CC7-1B13-84B4-03E4-B9CF5B4CCBA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FDF12-6B65-947B-0C7D-7F647B63731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A72AC1-4896-4DD6-1BA3-C221828612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D8815F-3FCC-8CC2-4A44-693CC51D9426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416876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DFC0FB-B1EB-59DD-B61E-6FBC908A16A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E3D41-5B38-9211-432B-667CF46C531D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31134-05C1-2159-5678-C2508BB2F7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EC9F15-D868-EFCA-DB4E-BA5EFDF02921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127323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37A9F3-88F3-1A9A-ADC3-D0436A026F9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4DFF9-790D-48E8-5F85-DBF96794888E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03E4D-0AF3-279C-259C-DFC07717F3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55AEBF-852F-5DEF-49C2-C0EAA016C2E4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719195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392FD8-983B-4B8D-4EBD-8088BDC2FEFF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חודשים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62F89-7BD2-AEB3-446B-21AFC074E9CD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AA96B-F633-15F1-EC9F-8FB7460845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25B27-E062-EF55-231E-63285BBE2C72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3772729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B61D22-278A-0CC8-A3B5-2727C3F691D1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חודשים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96AED3-D1BA-983C-4F37-31EDC56982AC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E3483-DBAA-8C3D-4FCB-BFE19D0F6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094141"/>
              </p:ext>
            </p:extLst>
          </p:nvPr>
        </p:nvGraphicFramePr>
        <p:xfrm>
          <a:off x="127000" y="571500"/>
          <a:ext cx="1193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2497149320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533422167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87359562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39679089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2501581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363212915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36872156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07393858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58416668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0374442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07987305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12344497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2436341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945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11916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ינואר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5,414,115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4,921,603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800,367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10536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פברואר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2,918,679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2,913,684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441,742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463,472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1330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מרץ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2,076,749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2,434,789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421,798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353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אפריל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2,805,638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2,996,100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414,819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439,179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54582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1,994,209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1,990,015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298,018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293,276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2940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2,079,395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2,262,194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312,094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346,245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89837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יולי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3,081,009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2,887,935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433,879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19491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אוגוסט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2,491,398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2,352,095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1,268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373,262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363,272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41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ספטמבר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2,104,783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2,241,778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317,139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9217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אוקטובר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1,969,127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1,948,070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292,153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281,977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553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נובמבר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2,286,968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2,609,820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331,886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351,701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4112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דצמבר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2,182,095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2,855,461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304,135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573,607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4518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32,413,543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5,092,892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8633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8D3C055-4601-5DD3-FCAF-D18FD67411E5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3204512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3B347-1E23-62F3-675C-87AA9327550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4ED3B-7079-162D-0980-5D78158F443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E58AA-6007-4913-1F82-93D046B281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E6B263-0242-36C9-729C-AB442540E593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4171377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95ED8-4D1A-907E-D63F-55508111B99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3615F-3DF0-459F-97A3-86002ED9E3E8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88795-AB06-89CD-05F5-27EAEE6127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0E3094-ADB5-FEC6-0F32-980A2285154B}"/>
              </a:ext>
            </a:extLst>
          </p:cNvPr>
          <p:cNvSpPr txBox="1"/>
          <p:nvPr/>
        </p:nvSpPr>
        <p:spPr>
          <a:xfrm>
            <a:off x="11115469" y="25400"/>
            <a:ext cx="502061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3797923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540670-2B03-F6D0-7D7C-CBDFBB4B437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40135-D9CF-462A-25E7-5BBE65485890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15ACA-C18A-0B5A-9F80-C0D2233DB2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2D9A1-2601-EE3F-02CE-534A6DFFD24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91155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2DF46-C771-0ACD-6C94-E5D7FA3FC06B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חברות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C3C3F-F971-EBD4-7F51-2FA1A6356B54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33761-ED99-2191-2EB5-B7CC1CD56C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BC3647-996D-2C5B-A537-69D759BC287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227544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177655-D947-EDA1-34BA-FC095504E149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חברות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262E4-FD20-06BA-EAAA-B2EBB00DA9F6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DC2E19-2563-2975-D138-1753145C9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754066"/>
              </p:ext>
            </p:extLst>
          </p:nvPr>
        </p:nvGraphicFramePr>
        <p:xfrm>
          <a:off x="127000" y="571500"/>
          <a:ext cx="119380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44123752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2128679711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80887039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92509386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82977055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285887558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107328793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13353278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88929954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68713024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172058469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69620517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73157351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7774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915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הפניקס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6,135,825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7,833,099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786,518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1,010,250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462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כלל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8,001,357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7,154,346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4,236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1,388,401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1,569,976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7561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הראל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3,014,006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3,176,224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398,797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426,316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88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איילון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11,121,796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11,198,756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3,290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3,108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1,613,797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1,640,999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5979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247,788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780,042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325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מגדל (המגן) חברה לביטוח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2,059,211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1,660,775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-18.9%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286,840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229,332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433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הכשרה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569,943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378,872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176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קופרנינוה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49,574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-58.4%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7724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דרכים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204,663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197,942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90,450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61402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קש חתמים בינלאומיים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12,875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0325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32,413,543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5,092,892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1775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A07993-E93A-A504-D20C-B1D9DF6BE05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2987142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80335F-7981-0211-FA8E-7B6BE833917D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28487-D904-7D79-4E72-64B1B6B97785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3D66C5-A0C0-D4FC-928D-A72A456A26F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0B73BA-86F4-4D33-E699-87E870E55F3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3137946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5C1A45-388A-0E34-1E4B-27293F661C5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5512C-42E8-C37E-7ED2-309FC03206D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3D38B2-0D01-F91D-C48E-12A2E21F05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9C3C3F-FD09-D11F-DEDD-3C707A3F243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58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F25B3-8075-90C1-4959-7DEBF0F6546E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D186A-1CFE-0F5E-7598-30B275D62741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9A2232-FBBA-414E-A0E0-6139B9412D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8783A5-91B4-F15B-AE08-2810659F1558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287407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A32029-62FE-F82C-0890-6B1785FC7A1B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ענף מרכז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A6D44-4C60-FD70-B4C8-E5553D42651C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E09FE-E742-B312-8B70-BFD1C7390E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8776A-96B2-94ED-325C-F1FB47A00B7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180974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4E9F1E-6A1B-8B12-2F34-3F51AA24A3BE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ענף מרכז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2625A-6F7A-B4B1-0B1D-69587B936BA4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5A2811-76BF-7A7B-A2AC-BB9C9ABA2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163467"/>
              </p:ext>
            </p:extLst>
          </p:nvPr>
        </p:nvGraphicFramePr>
        <p:xfrm>
          <a:off x="127000" y="571500"/>
          <a:ext cx="11938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310819376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715765876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9377676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66014639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21762717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41697232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281126648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71417675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189834817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151559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083454587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652257669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82915528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3553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8733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2,265,304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2,226,046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325,711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757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3,943,434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2,944,183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2,209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1,585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628,813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465,006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0193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טרקטורים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1,483,875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1,186,488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283,537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1767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10,629,400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10,753,035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6,787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7,923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1,416,837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1,482,967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08515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רכב אחר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1,786,439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1,926,688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259,056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53018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חבר מושב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7,089,776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7,383,580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1,078,461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1,109,382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32264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צמ"ה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354,302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55,035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7737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עסק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1,258,658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4,181,317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209.4%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226,477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672,395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26569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נסיעות לחו"ל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107,691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186,088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420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עבודות קבלניות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144,193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15,829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643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790,046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74,238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80,452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03482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ימי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17,991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12,013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73182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2,093,635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319,587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328,691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68456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32,413,543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5,092,892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6564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8BD0C8-2E52-4996-00E4-EFBD276058C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2201365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EF6E9-8021-FBE6-67F8-B68D37B88DE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77B7E-7697-82F0-B993-F0BDC9F9DE1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3CB19-BCE7-8BDE-3AA8-4AC66D3181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2F6E9A-D751-9EC6-FD90-EAD3C2C4B8D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4133866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E5EE5-416A-00CF-46A7-DD3D89EB1DD2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D360DB-2108-C43D-7E37-129C786C166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574E86-D51C-42A6-AB1D-6910D49207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C5DE71-1FD4-9F4E-0B57-1B56F383F4F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1184541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370EC-0B5B-B38B-B63B-91DC73E2D13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4C1EF-6831-0A2D-5341-B2C9F6DBA334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ACFDE-7022-2608-0CED-C0A8A4759C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A1831-10BD-54D2-B756-79C00F92C77B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1149643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48241-C682-2617-0F4F-40CFB20D66D2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טלריות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39995-8CD7-918B-FC5E-6CA518B781E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8BBA2-6DA6-D8E9-EED3-C4EA08AF4D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A8609-4DA5-A329-AAA7-41D8539D5CA5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575112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F3E4D-A2E3-0D74-6858-D3A7306EE2F6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טלריות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2B07A-EF46-A502-4A99-1BF2637739A8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FAACDB-955C-DEF3-087B-5220E27B2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658171"/>
              </p:ext>
            </p:extLst>
          </p:nvPr>
        </p:nvGraphicFramePr>
        <p:xfrm>
          <a:off x="127000" y="571500"/>
          <a:ext cx="1193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386225842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4100131444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474524879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72571070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960395486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5065502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556130087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114352284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79846103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4088225556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14324773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47463458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420965526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828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2133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יאנה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2,809,902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3,085,941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405,136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424,638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9198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2,940,927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3,001,479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444,638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454,871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19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עליזה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4,493,179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4,499,076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636,509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621,608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08637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ליאת רוזנר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2,559,532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2,605,428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391,324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397,569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20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ראדה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3,453,351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3,430,661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510,036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813,245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8818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רוני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2,981,583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3,090,900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1,448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427,317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440,671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6261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2,496,840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2,963,259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349,810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427,545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79667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אירית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3,166,782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3,119,037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1,487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1,575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481,623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490,265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1331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מירה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3,413,019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3,527,866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537,802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553,791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7729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סימה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3,066,297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3,060,684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1,244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1,343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476,249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462,218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8075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שונות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15976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2,389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2,974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565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18589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ריק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5,607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6794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ב.חיים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29.5%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46481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97054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32,413,543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5,092,892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820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C90AFB6-A6BC-8786-8B3B-B4C1DC07A4F7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31817666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AED83F-5B6B-AA43-CF03-C0CFF4604A15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9F581-676A-7CA7-504A-74E964C3DB73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9C284-A5BC-B32F-3147-112252C78D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A76476-11C3-0498-0E11-B53179BFBA4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879060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552B90-8176-590E-6C0A-F5CF12651379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93E31-F260-41E7-B50D-37BE7DA1DA09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D1C2B-1717-F4C8-483A-880D631BCE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16A613-45BE-D0EC-BC44-33F43D7DB050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3532584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DCEDD-7F6F-F6CA-F41D-88D098E9C46C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מסמכים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1C253-BE5D-3690-F73F-6F957AD1670B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18D43-EC1F-AEFA-B0D3-A0B80C1063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D747F7-E231-03FC-5C47-5926D4B8895A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3946977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AE0B26-8FA2-5380-6223-C9EB6EDCE4F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מבוטחים לפי סוכנים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64376-A49E-1F19-FFF8-38FAFFDC8962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37149-1CFC-E0CE-E3D9-1396DFE790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E17E0-B923-36EA-6823-4A8AE2C100F9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4054449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9AFF5D-3B57-DFE3-D0D4-31A84EFF2A1E}"/>
              </a:ext>
            </a:extLst>
          </p:cNvPr>
          <p:cNvSpPr txBox="1"/>
          <p:nvPr/>
        </p:nvSpPr>
        <p:spPr>
          <a:xfrm>
            <a:off x="254000" y="25400"/>
            <a:ext cx="1168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1600" b="1">
                <a:solidFill>
                  <a:srgbClr val="323232"/>
                </a:solidFill>
              </a:rPr>
              <a:t>סוכנים - טבלת נתונים</a:t>
            </a:r>
            <a:endParaRPr lang="en-IL" sz="16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E5D36-DB1E-0D8B-4746-895221D9C3E6}"/>
              </a:ext>
            </a:extLst>
          </p:cNvPr>
          <p:cNvSpPr txBox="1"/>
          <p:nvPr/>
        </p:nvSpPr>
        <p:spPr>
          <a:xfrm>
            <a:off x="508000" y="3556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000">
                <a:solidFill>
                  <a:srgbClr val="787878"/>
                </a:solidFill>
              </a:rPr>
              <a:t>שנתי | בורדרו</a:t>
            </a:r>
            <a:endParaRPr lang="en-IL" sz="1000">
              <a:solidFill>
                <a:srgbClr val="787878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4A59E4-662D-F58F-1438-346242CBD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167146"/>
              </p:ext>
            </p:extLst>
          </p:nvPr>
        </p:nvGraphicFramePr>
        <p:xfrm>
          <a:off x="127000" y="571500"/>
          <a:ext cx="119380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040">
                  <a:extLst>
                    <a:ext uri="{9D8B030D-6E8A-4147-A177-3AD203B41FA5}">
                      <a16:colId xmlns:a16="http://schemas.microsoft.com/office/drawing/2014/main" val="165103791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607251709"/>
                    </a:ext>
                  </a:extLst>
                </a:gridCol>
                <a:gridCol w="1253490">
                  <a:extLst>
                    <a:ext uri="{9D8B030D-6E8A-4147-A177-3AD203B41FA5}">
                      <a16:colId xmlns:a16="http://schemas.microsoft.com/office/drawing/2014/main" val="184806915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64443922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721312075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680339264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78878840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654283193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43204443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370443356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3921113399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880267254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385209007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פרמיות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מסמכים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מבוטחים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עמלות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6441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2024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>
                    <a:solidFill>
                      <a:srgbClr val="006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שינוי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6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3493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24,490,790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25,489,631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3,627,097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4,037,587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2283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אבנר פינקל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415,909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393,659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-13.2%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66,081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62,328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987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ויויאן אוחיון -חדש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1,082,789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1,317,460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142,588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183,128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779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בית יצחק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2,680,755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2,609,215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1,334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1,395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408,340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409,814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202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קוסטה זהבה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51,546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7745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דינה טל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196,605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212,269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29,267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33,577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14.7%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7115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התיכון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574,965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91,169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28867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מאיר נתן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297,660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252,189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-15.3%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47,713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37,752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-20.9%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92048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בני עטרות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311,110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322,654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46,959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48,411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4744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רשפון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692,512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676,559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-2.8%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103,386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98,084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3741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רונן וינוגרד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76,516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12,446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76297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לנדסברג נגה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379,331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365,477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-8.7%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60,319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58,471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5784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מסמכים לבב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20,322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06194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***לא פעילים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94,393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49,509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-47.6%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-12.1%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11,428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7,194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-37.0%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864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מני קדוש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9222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פסח פלדמן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4,063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3,930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-3.3%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660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425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-35.6%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6952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דנה ליסט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6,406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4,484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4399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שרמן סוכנויות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9,167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10,746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17.2%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1,038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1,291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24.4%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2516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ז'קלין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1165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000">
                          <a:latin typeface="Arial" panose="020B0604020202020204" pitchFamily="34" charset="0"/>
                        </a:rPr>
                        <a:t>חן סדרס</a:t>
                      </a:r>
                      <a:endParaRPr lang="en-IL" sz="1000"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594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3,780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536.4%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-50.0%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174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449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latin typeface="Arial" panose="020B0604020202020204" pitchFamily="34" charset="0"/>
                        </a:rPr>
                        <a:t>158.0%</a:t>
                      </a:r>
                    </a:p>
                  </a:txBody>
                  <a:tcPr>
                    <a:solidFill>
                      <a:srgbClr val="B4D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8498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he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סכום הכל</a:t>
                      </a:r>
                      <a:endParaRPr lang="en-IL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31,404,164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32,413,543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3.2%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14,906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15,885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6.6%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4,995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4,958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-0.7%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4,666,078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5,092,892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9.1%</a:t>
                      </a:r>
                    </a:p>
                  </a:txBody>
                  <a:tcPr>
                    <a:solidFill>
                      <a:srgbClr val="003C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6700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8A97E73-7348-61F7-DE8D-2198254EF076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1778943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91AB2-3C7C-DA64-885C-D90543C56921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פרמיות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EC3FE-AE02-07E9-E175-31B422F3DFCA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7C3A2-DDE8-C712-1B5B-A7D0CB0923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A9B64-8FDB-CCA9-EBB6-BAFEDAF362A1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3170219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5339C7-E953-87D9-2738-180D891D18B3}"/>
              </a:ext>
            </a:extLst>
          </p:cNvPr>
          <p:cNvSpPr txBox="1"/>
          <p:nvPr/>
        </p:nvSpPr>
        <p:spPr>
          <a:xfrm>
            <a:off x="254000" y="101600"/>
            <a:ext cx="11684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he-IL" sz="2000" b="1">
                <a:solidFill>
                  <a:srgbClr val="323232"/>
                </a:solidFill>
              </a:rPr>
              <a:t>עמלות לפי סוכנים ללא לבב - 2024 מול 2025</a:t>
            </a:r>
            <a:endParaRPr lang="en-IL" sz="2000" b="1">
              <a:solidFill>
                <a:srgbClr val="32323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F921B-CF30-C89C-3EF2-B34FEC67FAAF}"/>
              </a:ext>
            </a:extLst>
          </p:cNvPr>
          <p:cNvSpPr txBox="1"/>
          <p:nvPr/>
        </p:nvSpPr>
        <p:spPr>
          <a:xfrm>
            <a:off x="508000" y="5334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he-IL" sz="1200">
                <a:solidFill>
                  <a:srgbClr val="787878"/>
                </a:solidFill>
              </a:rPr>
              <a:t>שנתי | בורדרו</a:t>
            </a:r>
            <a:endParaRPr lang="en-IL" sz="1200">
              <a:solidFill>
                <a:srgbClr val="78787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ECB88-FBA1-BDA3-BF57-4C002B3BB13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63600"/>
            <a:ext cx="10668000" cy="568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00BE0C-F99D-F698-AAFE-EEB4DED64752}"/>
              </a:ext>
            </a:extLst>
          </p:cNvPr>
          <p:cNvSpPr txBox="1"/>
          <p:nvPr/>
        </p:nvSpPr>
        <p:spPr>
          <a:xfrm>
            <a:off x="11080203" y="25400"/>
            <a:ext cx="572593" cy="153888"/>
          </a:xfrm>
          <a:prstGeom prst="rect">
            <a:avLst/>
          </a:prstGeom>
          <a:noFill/>
        </p:spPr>
        <p:txBody>
          <a:bodyPr vert="horz" wrap="none" tIns="0" bIns="0" rtlCol="0">
            <a:spAutoFit/>
          </a:bodyPr>
          <a:lstStyle/>
          <a:p>
            <a:pPr algn="ctr"/>
            <a:r>
              <a:rPr lang="en-IL" sz="1000">
                <a:solidFill>
                  <a:srgbClr val="787878"/>
                </a:solidFill>
                <a:latin typeface="Arial" panose="020B0604020202020204" pitchFamily="34" charset="0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2919129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1860</Words>
  <Application>Microsoft Office PowerPoint</Application>
  <PresentationFormat>Custom</PresentationFormat>
  <Paragraphs>1144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2026-05-24T12:52:08Z</dcterms:created>
  <dcterms:modified xsi:type="dcterms:W3CDTF">2026-05-24T12:52:38Z</dcterms:modified>
</cp:coreProperties>
</file>