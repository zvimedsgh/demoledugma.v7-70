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8CE24-373A-0567-F3F2-2AD84040B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EB532-4398-6F87-1926-F5C049089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C3056-64F0-976F-7C2E-87B79D63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57DE9-BB23-4B83-9101-FE2210BABA40}" type="datetimeFigureOut">
              <a:rPr lang="en-IL" smtClean="0"/>
              <a:t>11/05/2026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DA7AC-ABFC-60A9-B3BF-367CB8326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3537D-65A9-4390-4F14-E35C4AD17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C3D-85C0-49B8-8C05-D5D9ABA5DDA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4121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8446C-CF74-730D-A931-8039AC178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B4DED-11C9-275D-D552-637956556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551E1-9E5F-327A-5D3D-7AEB33895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57DE9-BB23-4B83-9101-FE2210BABA40}" type="datetimeFigureOut">
              <a:rPr lang="en-IL" smtClean="0"/>
              <a:t>11/05/2026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2C243-1F7A-00FB-B457-D8E1EFB1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72692-5DDE-0FF4-829E-595910A3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C3D-85C0-49B8-8C05-D5D9ABA5DDA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917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755D-220B-1FAE-F20C-14AD854A6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B965B-0FAE-0B65-9916-33E0A8C04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F4342-8B11-238E-D62E-A719675AB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57DE9-BB23-4B83-9101-FE2210BABA40}" type="datetimeFigureOut">
              <a:rPr lang="en-IL" smtClean="0"/>
              <a:t>11/05/2026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4E3A9-874C-C460-DD04-999CB1C6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46D5A-A48A-1E4D-B0C5-F7711103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C3D-85C0-49B8-8C05-D5D9ABA5DDA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40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91DF4-7ABD-EA90-E11C-8B02585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B57FD-1F11-095E-8FFA-9E6D06B60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74E4D-5133-3E68-A34B-67588B02D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5639C-2F30-716C-1420-5C9F0BF07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57DE9-BB23-4B83-9101-FE2210BABA40}" type="datetimeFigureOut">
              <a:rPr lang="en-IL" smtClean="0"/>
              <a:t>11/05/2026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896E7-C09D-777C-36C6-5FC4E7DED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6E6F2-835A-F658-67C6-4722D95C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C3D-85C0-49B8-8C05-D5D9ABA5DDA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7859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C7692-6DFC-D72E-7E80-ADFEF83D6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CAD1B-8E2E-5B8C-F68A-8BDFE2C3B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3EDC0-4172-5B79-D849-3AC8B1A39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77306D-BA73-40C6-2FC1-DBC0A46BD7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B1B825-7076-42B3-E205-A97796E1D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13D1B5-D4AB-983D-31B3-7029E46F6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57DE9-BB23-4B83-9101-FE2210BABA40}" type="datetimeFigureOut">
              <a:rPr lang="en-IL" smtClean="0"/>
              <a:t>11/05/2026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5462D-2C97-0BBC-6DF9-56ADEBC75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ABF345-5134-60BE-3581-9F731D1B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C3D-85C0-49B8-8C05-D5D9ABA5DDA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57865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38D99-7F5A-8902-0DA9-646DEADC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698D4-5875-4883-889C-B94D7F796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57DE9-BB23-4B83-9101-FE2210BABA40}" type="datetimeFigureOut">
              <a:rPr lang="en-IL" smtClean="0"/>
              <a:t>11/05/2026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94A559-D16D-1FE9-58FF-4C1EC5041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9D034-8F82-FF68-C0A4-B0C6FEE8C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C3D-85C0-49B8-8C05-D5D9ABA5DDA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2020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99577D-4B2D-93B6-849A-A16A2FDF5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57DE9-BB23-4B83-9101-FE2210BABA40}" type="datetimeFigureOut">
              <a:rPr lang="en-IL" smtClean="0"/>
              <a:t>11/05/2026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260DB-1933-85F6-5A96-3D5077F1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2AB0A-5D08-01BF-BEE1-C53C1F80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C3D-85C0-49B8-8C05-D5D9ABA5DDA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73955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BF5B6-9802-5464-CA22-E70D355CE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7D312-0917-2D9D-D6FE-929E8FB99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83551-2CFF-0977-3D91-EA3E4FDBB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C8823-526F-9D76-52F0-2B9E62AC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57DE9-BB23-4B83-9101-FE2210BABA40}" type="datetimeFigureOut">
              <a:rPr lang="en-IL" smtClean="0"/>
              <a:t>11/05/2026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20F3A-612A-2276-3615-5EA25CF17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E3E6D-6028-CBEC-38AC-CFD41D7D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C3D-85C0-49B8-8C05-D5D9ABA5DDA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28131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0821-1CA6-B48D-690F-BB722D3EA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54A681-F72A-2229-4E67-ED72C4EE4A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B9CE4B-4884-3D27-8C57-44C27F5CB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FB5E6-543F-C7F8-337F-B20735CF0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57DE9-BB23-4B83-9101-FE2210BABA40}" type="datetimeFigureOut">
              <a:rPr lang="en-IL" smtClean="0"/>
              <a:t>11/05/2026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F7E24-9925-0151-C4C1-48146B2B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CB840-123F-D3DF-B253-AC63AC7A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C3D-85C0-49B8-8C05-D5D9ABA5DDA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16422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72B2B-19FF-27C4-1C34-2E218FD7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0FAC6-BCF4-B338-2AFF-D38099F28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00AE4-D8C5-FA36-4C9B-39F1F20D5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57DE9-BB23-4B83-9101-FE2210BABA40}" type="datetimeFigureOut">
              <a:rPr lang="en-IL" smtClean="0"/>
              <a:t>11/05/2026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1E7FD-E8B5-F8D5-7740-880CBD279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A2C3C-CF71-B567-49A4-6C24DCED4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C3D-85C0-49B8-8C05-D5D9ABA5DDA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51822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B5B88B-FCEF-0C7F-A826-4AD54E581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80A1B7-4EF2-FA3F-E0B3-A15175D15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A557-95A9-E105-6CEA-766680FB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57DE9-BB23-4B83-9101-FE2210BABA40}" type="datetimeFigureOut">
              <a:rPr lang="en-IL" smtClean="0"/>
              <a:t>11/05/2026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14A84-AE22-89DF-0C1D-8DC0261DA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B0B54-738E-20AF-B24B-BDEC8D0A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5C3D-85C0-49B8-8C05-D5D9ABA5DDA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73993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359074-CC09-4F58-C090-CEA46DF3F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61448-3BF2-409C-5726-80B69DFE0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4CDC7-60D1-B042-90E5-ADA19A921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457DE9-BB23-4B83-9101-FE2210BABA40}" type="datetimeFigureOut">
              <a:rPr lang="en-IL" smtClean="0"/>
              <a:t>11/05/2026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2E5DA-B682-B982-F9AA-B0F45F9FD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CB7D5-9674-D299-B883-656251A93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15C3D-85C0-49B8-8C05-D5D9ABA5DDA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68217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8AEC38-1755-47A5-C48F-29C38CC253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BE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2E158C-EE8A-3F25-94BD-E2422FB65C92}"/>
              </a:ext>
            </a:extLst>
          </p:cNvPr>
          <p:cNvSpPr/>
          <p:nvPr/>
        </p:nvSpPr>
        <p:spPr>
          <a:xfrm>
            <a:off x="635000" y="508000"/>
            <a:ext cx="10922000" cy="584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26C78-9046-8542-0EC8-FF51E9368730}"/>
              </a:ext>
            </a:extLst>
          </p:cNvPr>
          <p:cNvSpPr txBox="1"/>
          <p:nvPr/>
        </p:nvSpPr>
        <p:spPr>
          <a:xfrm>
            <a:off x="1016000" y="1143000"/>
            <a:ext cx="1016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4000" b="1">
                <a:solidFill>
                  <a:srgbClr val="323232"/>
                </a:solidFill>
              </a:rPr>
              <a:t>מצגת הנהלה</a:t>
            </a:r>
            <a:endParaRPr lang="en-IL" sz="4000" b="1">
              <a:solidFill>
                <a:srgbClr val="32323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1280C6-B6FC-D51B-F67A-59E49565EA30}"/>
              </a:ext>
            </a:extLst>
          </p:cNvPr>
          <p:cNvSpPr txBox="1"/>
          <p:nvPr/>
        </p:nvSpPr>
        <p:spPr>
          <a:xfrm>
            <a:off x="1016000" y="2286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200">
                <a:solidFill>
                  <a:srgbClr val="505050"/>
                </a:solidFill>
              </a:rPr>
              <a:t>2019 מול 2020</a:t>
            </a:r>
            <a:endParaRPr lang="en-IL" sz="3200">
              <a:solidFill>
                <a:srgbClr val="505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8272AF-1F5D-401F-C7B7-9E9EB034C12C}"/>
              </a:ext>
            </a:extLst>
          </p:cNvPr>
          <p:cNvSpPr txBox="1"/>
          <p:nvPr/>
        </p:nvSpPr>
        <p:spPr>
          <a:xfrm>
            <a:off x="1016000" y="3175000"/>
            <a:ext cx="1016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>
                <a:solidFill>
                  <a:srgbClr val="787878"/>
                </a:solidFill>
              </a:rPr>
              <a:t>שנתי | בורדרו | בחר/י</a:t>
            </a:r>
            <a:endParaRPr lang="en-IL" sz="2000">
              <a:solidFill>
                <a:srgbClr val="78787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4AA3A-317A-4E7E-699B-FF373DA0DDE0}"/>
              </a:ext>
            </a:extLst>
          </p:cNvPr>
          <p:cNvSpPr txBox="1"/>
          <p:nvPr/>
        </p:nvSpPr>
        <p:spPr>
          <a:xfrm>
            <a:off x="1016000" y="5080000"/>
            <a:ext cx="1016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400" b="1">
                <a:solidFill>
                  <a:srgbClr val="00823C"/>
                </a:solidFill>
              </a:rPr>
              <a:t>לדוגמא סוכנות לביטוח</a:t>
            </a:r>
            <a:endParaRPr lang="en-IL" sz="3400" b="1">
              <a:solidFill>
                <a:srgbClr val="00823C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86253E-9D10-7810-C275-22EF51CFC064}"/>
              </a:ext>
            </a:extLst>
          </p:cNvPr>
          <p:cNvSpPr/>
          <p:nvPr/>
        </p:nvSpPr>
        <p:spPr>
          <a:xfrm>
            <a:off x="635000" y="6413500"/>
            <a:ext cx="10922000" cy="63500"/>
          </a:xfrm>
          <a:prstGeom prst="rect">
            <a:avLst/>
          </a:prstGeom>
          <a:solidFill>
            <a:srgbClr val="C8A0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C1F2A5-2973-16CD-EEAA-112B3B0D53FA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 / 29</a:t>
            </a:r>
          </a:p>
        </p:txBody>
      </p:sp>
    </p:spTree>
    <p:extLst>
      <p:ext uri="{BB962C8B-B14F-4D97-AF65-F5344CB8AC3E}">
        <p14:creationId xmlns:p14="http://schemas.microsoft.com/office/powerpoint/2010/main" val="696451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9E0022-3EE2-FF4C-F3EE-2C55F5C6C9FB}"/>
              </a:ext>
            </a:extLst>
          </p:cNvPr>
          <p:cNvSpPr txBox="1"/>
          <p:nvPr/>
        </p:nvSpPr>
        <p:spPr>
          <a:xfrm>
            <a:off x="254000" y="50800"/>
            <a:ext cx="1168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b="1">
                <a:solidFill>
                  <a:srgbClr val="00468C"/>
                </a:solidFill>
              </a:rPr>
              <a:t>לדוגמא סוכנות לביטוח</a:t>
            </a:r>
            <a:endParaRPr lang="en-IL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044AF-C18D-6639-FA69-6FEACC4BBED0}"/>
              </a:ext>
            </a:extLst>
          </p:cNvPr>
          <p:cNvSpPr txBox="1"/>
          <p:nvPr/>
        </p:nvSpPr>
        <p:spPr>
          <a:xfrm>
            <a:off x="254000" y="381000"/>
            <a:ext cx="1168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סה"כ פרמיות ועמלות - 2019 מול 2020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C0B76E-92B6-4FFB-0963-E95A71BCB6EF}"/>
              </a:ext>
            </a:extLst>
          </p:cNvPr>
          <p:cNvSpPr txBox="1"/>
          <p:nvPr/>
        </p:nvSpPr>
        <p:spPr>
          <a:xfrm>
            <a:off x="508000" y="7366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E27D20-0E08-F184-6EA0-7ED9AC94BDC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117600"/>
            <a:ext cx="10160000" cy="5397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9AEDA1-2689-1222-2511-23D1D07F7CA9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 / 29</a:t>
            </a:r>
          </a:p>
        </p:txBody>
      </p:sp>
    </p:spTree>
    <p:extLst>
      <p:ext uri="{BB962C8B-B14F-4D97-AF65-F5344CB8AC3E}">
        <p14:creationId xmlns:p14="http://schemas.microsoft.com/office/powerpoint/2010/main" val="317514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44BA1E-2786-23DF-CE7D-37268F1CF425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11CFED-55FB-F92E-2A4E-87496870FED3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חודשים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00B3E7-F8E3-29D2-914C-6CCE9C8DECAA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FA8475-EBC5-B373-8D06-94B8A292DF5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81D84F-7583-1A32-550E-33DDB77B6983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3 / 29</a:t>
            </a:r>
          </a:p>
        </p:txBody>
      </p:sp>
    </p:spTree>
    <p:extLst>
      <p:ext uri="{BB962C8B-B14F-4D97-AF65-F5344CB8AC3E}">
        <p14:creationId xmlns:p14="http://schemas.microsoft.com/office/powerpoint/2010/main" val="2646153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7D0B68-3FE9-855A-33B3-A6F9CCDE8A9E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A48AC-3C90-2B94-997E-47DD5D76C3F7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מסמכים לפי חודשים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42231-B5E4-18A3-70BC-456152209590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0B7538-2B45-9F69-799A-9CD8AA3B7DC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D37462-8CB7-27B8-C95E-5D54EE01C4A5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4 / 29</a:t>
            </a:r>
          </a:p>
        </p:txBody>
      </p:sp>
    </p:spTree>
    <p:extLst>
      <p:ext uri="{BB962C8B-B14F-4D97-AF65-F5344CB8AC3E}">
        <p14:creationId xmlns:p14="http://schemas.microsoft.com/office/powerpoint/2010/main" val="255141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F39C7E-C899-BAAC-0626-0FE4B6BC7351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028B11-3F3B-1760-47CD-449B2A922152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פוליסות לפי חודשים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8BE82-D11C-F697-FDCA-C6F6C613E9B0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79D020-763C-00DA-D6A2-039100B8AA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FE078E-06EF-FE2A-2B98-018AFADE53B3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5 / 29</a:t>
            </a:r>
          </a:p>
        </p:txBody>
      </p:sp>
    </p:spTree>
    <p:extLst>
      <p:ext uri="{BB962C8B-B14F-4D97-AF65-F5344CB8AC3E}">
        <p14:creationId xmlns:p14="http://schemas.microsoft.com/office/powerpoint/2010/main" val="326160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C0F408-0370-C295-205F-D2BC71DB14C3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720E3C-7207-CD21-D7F6-B289B2791784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חודשים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81B52-3CC2-2704-B030-4030306B94F0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55F7DF-32FA-C117-F7FA-39B217407C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73E0F7-CB28-134C-6D09-5490E72E652B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6 / 29</a:t>
            </a:r>
          </a:p>
        </p:txBody>
      </p:sp>
    </p:spTree>
    <p:extLst>
      <p:ext uri="{BB962C8B-B14F-4D97-AF65-F5344CB8AC3E}">
        <p14:creationId xmlns:p14="http://schemas.microsoft.com/office/powerpoint/2010/main" val="299020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A82208-8113-05D9-96FF-B4F380537E75}"/>
              </a:ext>
            </a:extLst>
          </p:cNvPr>
          <p:cNvSpPr txBox="1"/>
          <p:nvPr/>
        </p:nvSpPr>
        <p:spPr>
          <a:xfrm>
            <a:off x="254000" y="25400"/>
            <a:ext cx="1168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400" b="1">
                <a:solidFill>
                  <a:srgbClr val="00468C"/>
                </a:solidFill>
              </a:rPr>
              <a:t>לדוגמא סוכנות לביטוח</a:t>
            </a:r>
            <a:endParaRPr lang="en-IL" sz="14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C4F03-A6D7-090C-4EB1-6318007ED949}"/>
              </a:ext>
            </a:extLst>
          </p:cNvPr>
          <p:cNvSpPr txBox="1"/>
          <p:nvPr/>
        </p:nvSpPr>
        <p:spPr>
          <a:xfrm>
            <a:off x="254000" y="279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400" b="1">
                <a:solidFill>
                  <a:srgbClr val="323232"/>
                </a:solidFill>
              </a:rPr>
              <a:t>חודשים - טבלת נתונים</a:t>
            </a:r>
            <a:endParaRPr lang="en-IL" sz="14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E02D9B-5F3D-0C6F-8146-B83B5C21683B}"/>
              </a:ext>
            </a:extLst>
          </p:cNvPr>
          <p:cNvSpPr txBox="1"/>
          <p:nvPr/>
        </p:nvSpPr>
        <p:spPr>
          <a:xfrm>
            <a:off x="508000" y="5334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900">
                <a:solidFill>
                  <a:srgbClr val="787878"/>
                </a:solidFill>
              </a:rPr>
              <a:t>שנתי | בורדרו | בחר/י</a:t>
            </a:r>
            <a:endParaRPr lang="en-IL" sz="900">
              <a:solidFill>
                <a:srgbClr val="787878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D8F588-1639-AA0F-BF88-A76A23CCA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97680"/>
              </p:ext>
            </p:extLst>
          </p:nvPr>
        </p:nvGraphicFramePr>
        <p:xfrm>
          <a:off x="127000" y="787400"/>
          <a:ext cx="1193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369617710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725041944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27346396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361965583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428262934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15468855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92010950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729618925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507757615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53576839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40204596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042022443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22570229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08706868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74299875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543394799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פוליסות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96592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707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468,027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469,037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2,718,446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3,077,823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ינואר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37243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259,558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268,058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755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1,742,712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1,826,008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פברואר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8327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265,116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175,385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1,367,314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1,188,239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מרץ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66054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205,799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189,375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1,385,293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1,254,968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אפריל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3295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174,491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175,904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1,204,094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1,190,284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מאי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15442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193,765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185,117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1,223,417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1,249,281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יוני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09517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233,138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232,889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1,567,399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1,605,909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יולי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75195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217,049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209,150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1,421,542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1,380,135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אוגוסט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21402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179,037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156,906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1,233,679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1,041,302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ספטמבר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89842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-9.1%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163,089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179,395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1,127,659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1,162,774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אוקטובר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57511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183,924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1,236,780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1,194,814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נובמבר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0639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371,312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151,207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1,566,139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1,003,751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דצמבר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12536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13.2%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2,914,305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2,573,422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6,282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6,190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3,024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2,997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9,303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8,704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17,794,474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17,175,288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latin typeface="Arial" panose="020B0604020202020204" pitchFamily="34" charset="0"/>
                        </a:rPr>
                        <a:t>סה"כ</a:t>
                      </a:r>
                      <a:endParaRPr lang="en-IL" sz="10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2780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797346-9F2F-715E-8F8C-9938FEF02D58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7 / 29</a:t>
            </a:r>
          </a:p>
        </p:txBody>
      </p:sp>
    </p:spTree>
    <p:extLst>
      <p:ext uri="{BB962C8B-B14F-4D97-AF65-F5344CB8AC3E}">
        <p14:creationId xmlns:p14="http://schemas.microsoft.com/office/powerpoint/2010/main" val="1984069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960B50-4DEF-601B-19E2-E5F47E469F83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60224F-8788-2565-8B68-EC756D3F3514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חברות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A3C8CC-B85E-FB28-4626-B40B4D2A1078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ACE45A-AD42-644B-856A-1A86CAA9A3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9730E9-D0C8-3145-08D4-7021BE1FEDFF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8 / 29</a:t>
            </a:r>
          </a:p>
        </p:txBody>
      </p:sp>
    </p:spTree>
    <p:extLst>
      <p:ext uri="{BB962C8B-B14F-4D97-AF65-F5344CB8AC3E}">
        <p14:creationId xmlns:p14="http://schemas.microsoft.com/office/powerpoint/2010/main" val="2433924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B2F805-1943-6A58-2052-DEDB344EE749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C1876D-92A7-A8FE-A1F5-BF468B6C9720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מסמכים לפי חברות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4B1026-E4DF-4947-3338-889805872925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F7A831-CAE6-2E06-910C-C3A5254E13A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1E48AD-5405-A1D6-825D-75722EB0ECC0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9 / 29</a:t>
            </a:r>
          </a:p>
        </p:txBody>
      </p:sp>
    </p:spTree>
    <p:extLst>
      <p:ext uri="{BB962C8B-B14F-4D97-AF65-F5344CB8AC3E}">
        <p14:creationId xmlns:p14="http://schemas.microsoft.com/office/powerpoint/2010/main" val="2564667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BB1999-B40A-76F2-455A-C9E8E60185CB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CA2E5A-0A64-6949-46D3-ED50ECE1FA24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פוליסות לפי חברות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829AD-D427-C04A-FBCC-652DBD79BF75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703AD1-7EF4-A7E0-0905-8A8CE1D0CD4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EE52A1-3300-BDD1-E776-A63CD90089C5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10 / 29</a:t>
            </a:r>
          </a:p>
        </p:txBody>
      </p:sp>
    </p:spTree>
    <p:extLst>
      <p:ext uri="{BB962C8B-B14F-4D97-AF65-F5344CB8AC3E}">
        <p14:creationId xmlns:p14="http://schemas.microsoft.com/office/powerpoint/2010/main" val="577269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2A0D2C-EA7F-69EA-3E4E-2B5F653F32A5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4A42FB-5D92-FF41-6503-E13408F7E17D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חברות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D96C1B-4DBB-80DB-A327-B3DE48A175F5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8A5219-8769-6B64-452C-773CF6C096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C45095-8D1C-FFA2-78BC-F4B360CD306B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11 / 29</a:t>
            </a:r>
          </a:p>
        </p:txBody>
      </p:sp>
    </p:spTree>
    <p:extLst>
      <p:ext uri="{BB962C8B-B14F-4D97-AF65-F5344CB8AC3E}">
        <p14:creationId xmlns:p14="http://schemas.microsoft.com/office/powerpoint/2010/main" val="2747670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06C1E2-B43B-1AF4-AAA8-3D7D8A651DFA}"/>
              </a:ext>
            </a:extLst>
          </p:cNvPr>
          <p:cNvSpPr txBox="1"/>
          <p:nvPr/>
        </p:nvSpPr>
        <p:spPr>
          <a:xfrm>
            <a:off x="254000" y="25400"/>
            <a:ext cx="1168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400" b="1">
                <a:solidFill>
                  <a:srgbClr val="00468C"/>
                </a:solidFill>
              </a:rPr>
              <a:t>לדוגמא סוכנות לביטוח</a:t>
            </a:r>
            <a:endParaRPr lang="en-IL" sz="14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83910-C5A2-EEE4-884A-406CAA34B470}"/>
              </a:ext>
            </a:extLst>
          </p:cNvPr>
          <p:cNvSpPr txBox="1"/>
          <p:nvPr/>
        </p:nvSpPr>
        <p:spPr>
          <a:xfrm>
            <a:off x="254000" y="279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400" b="1">
                <a:solidFill>
                  <a:srgbClr val="323232"/>
                </a:solidFill>
              </a:rPr>
              <a:t>חברות - טבלת נתונים</a:t>
            </a:r>
            <a:endParaRPr lang="en-IL" sz="14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F399C-3F48-BA45-E685-0D8FFF2EE16C}"/>
              </a:ext>
            </a:extLst>
          </p:cNvPr>
          <p:cNvSpPr txBox="1"/>
          <p:nvPr/>
        </p:nvSpPr>
        <p:spPr>
          <a:xfrm>
            <a:off x="508000" y="5334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900">
                <a:solidFill>
                  <a:srgbClr val="787878"/>
                </a:solidFill>
              </a:rPr>
              <a:t>שנתי | בורדרו | בחר/י</a:t>
            </a:r>
            <a:endParaRPr lang="en-IL" sz="900">
              <a:solidFill>
                <a:srgbClr val="787878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373892-4BCF-84A9-0482-288898607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502033"/>
              </p:ext>
            </p:extLst>
          </p:nvPr>
        </p:nvGraphicFramePr>
        <p:xfrm>
          <a:off x="127000" y="787400"/>
          <a:ext cx="11938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156838682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557054202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913341357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06281616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274805064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197723058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4095432886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873612873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253835065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9538662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133669647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756504817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324505572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74211126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07805294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882827542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פוליסות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37373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4274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555,090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425,841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4,346,518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3,371,368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הפניקס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35263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946,552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747,706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1,964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1,304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-6.2%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2,520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2,686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3,801,997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4,306,243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כלל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82632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944,043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919,045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6,259,493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6,121,341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איילון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66099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156.0%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47,001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18,360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219.2%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176.6%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152.6%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187.9%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428,520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148,845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הכשרה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1803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130,465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167,268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931,574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1,196,272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מגדל (המגן) חברה לביטוח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6423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225,897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213,870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545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1,722,870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1,603,564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הראל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98682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17,046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31,953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184,950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הכשרה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62727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46,771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49,378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-16.6%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-18.9%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-16.9%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107,093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112,854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דרכים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1908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קש חתמים בינלאומיים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064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54,271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קופרנינוה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8971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13.2%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2,914,305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2,573,422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6,282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6,190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3,024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2,997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9,303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8,704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17,794,474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17,175,288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latin typeface="Arial" panose="020B0604020202020204" pitchFamily="34" charset="0"/>
                        </a:rPr>
                        <a:t>סה"כ</a:t>
                      </a:r>
                      <a:endParaRPr lang="en-IL" sz="10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3433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11E239-8ED9-FADA-8AE5-74D3BAC7ADBB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12 / 29</a:t>
            </a:r>
          </a:p>
        </p:txBody>
      </p:sp>
    </p:spTree>
    <p:extLst>
      <p:ext uri="{BB962C8B-B14F-4D97-AF65-F5344CB8AC3E}">
        <p14:creationId xmlns:p14="http://schemas.microsoft.com/office/powerpoint/2010/main" val="1790370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AC265E-393D-65E9-5DBA-40EFF79B34BC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B1292-566B-921F-BC94-A1055E3F3AF8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ענף מרכז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8E45B-879A-0530-FF09-12AFC9A977DC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19B454-872A-3C9B-FB0E-26EB83A715D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DC4EC7-C037-D222-24F9-82003036499E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13 / 29</a:t>
            </a:r>
          </a:p>
        </p:txBody>
      </p:sp>
    </p:spTree>
    <p:extLst>
      <p:ext uri="{BB962C8B-B14F-4D97-AF65-F5344CB8AC3E}">
        <p14:creationId xmlns:p14="http://schemas.microsoft.com/office/powerpoint/2010/main" val="2041701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037813-4D85-5577-F88B-D0A69ED8CF71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969CB-1B4A-73A9-0C6D-4CD9085C858A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מסמכים לפי ענף מרכז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C89F4-C287-2211-ABF2-7203D5414F27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41F32D-DF9D-9949-ED25-6203C9995A1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2D259E-A7D2-0D2C-86D8-282E449CFE55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14 / 29</a:t>
            </a:r>
          </a:p>
        </p:txBody>
      </p:sp>
    </p:spTree>
    <p:extLst>
      <p:ext uri="{BB962C8B-B14F-4D97-AF65-F5344CB8AC3E}">
        <p14:creationId xmlns:p14="http://schemas.microsoft.com/office/powerpoint/2010/main" val="3189356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35363E-EB22-B330-4CBF-333EE3845694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4CD96-0805-E466-874A-728FDCB3DF63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פוליסות לפי ענף מרכז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3559B-000C-CFA8-28E5-D523B4286D60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7436DE-FB70-6E83-577B-3730C23E163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D71E28-1804-DE31-B976-45D691E8CE3D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15 / 29</a:t>
            </a:r>
          </a:p>
        </p:txBody>
      </p:sp>
    </p:spTree>
    <p:extLst>
      <p:ext uri="{BB962C8B-B14F-4D97-AF65-F5344CB8AC3E}">
        <p14:creationId xmlns:p14="http://schemas.microsoft.com/office/powerpoint/2010/main" val="2195414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18DBB7-339A-4E6F-4855-94130CCE697D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B67A1-059E-EB9C-28BE-518644D818C2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ענף מרכז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1DDDD5-D613-DACF-20D3-E312CE779C9B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7E449C-3CA1-FF5C-3ED3-66F674F25FF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933FA6-4D84-9DF5-0173-DF6E3703BC13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16 / 29</a:t>
            </a:r>
          </a:p>
        </p:txBody>
      </p:sp>
    </p:spTree>
    <p:extLst>
      <p:ext uri="{BB962C8B-B14F-4D97-AF65-F5344CB8AC3E}">
        <p14:creationId xmlns:p14="http://schemas.microsoft.com/office/powerpoint/2010/main" val="2527248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58590B-6339-42D6-A99B-D16DD4EBA352}"/>
              </a:ext>
            </a:extLst>
          </p:cNvPr>
          <p:cNvSpPr txBox="1"/>
          <p:nvPr/>
        </p:nvSpPr>
        <p:spPr>
          <a:xfrm>
            <a:off x="254000" y="25400"/>
            <a:ext cx="1168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400" b="1">
                <a:solidFill>
                  <a:srgbClr val="00468C"/>
                </a:solidFill>
              </a:rPr>
              <a:t>לדוגמא סוכנות לביטוח</a:t>
            </a:r>
            <a:endParaRPr lang="en-IL" sz="14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89587-9D4E-2129-135D-853D5AAA3198}"/>
              </a:ext>
            </a:extLst>
          </p:cNvPr>
          <p:cNvSpPr txBox="1"/>
          <p:nvPr/>
        </p:nvSpPr>
        <p:spPr>
          <a:xfrm>
            <a:off x="254000" y="279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400" b="1">
                <a:solidFill>
                  <a:srgbClr val="323232"/>
                </a:solidFill>
              </a:rPr>
              <a:t>ענף מרכז - טבלת נתונים</a:t>
            </a:r>
            <a:endParaRPr lang="en-IL" sz="14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54F6D-9176-276E-D574-4D8FAB3E5D5C}"/>
              </a:ext>
            </a:extLst>
          </p:cNvPr>
          <p:cNvSpPr txBox="1"/>
          <p:nvPr/>
        </p:nvSpPr>
        <p:spPr>
          <a:xfrm>
            <a:off x="508000" y="5334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900">
                <a:solidFill>
                  <a:srgbClr val="787878"/>
                </a:solidFill>
              </a:rPr>
              <a:t>שנתי | בורדרו | בחר/י</a:t>
            </a:r>
            <a:endParaRPr lang="en-IL" sz="900">
              <a:solidFill>
                <a:srgbClr val="787878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CA2A15-264F-6BB0-6420-63ABB63B7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181160"/>
              </p:ext>
            </p:extLst>
          </p:nvPr>
        </p:nvGraphicFramePr>
        <p:xfrm>
          <a:off x="127000" y="787400"/>
          <a:ext cx="1193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4132389045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604048773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351926495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96274885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986598673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791435794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37586713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990416754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27658178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623228943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799780342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01128409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9737611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83643447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410363573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073556112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פוליסות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44035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2654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173,760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169,516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1,187,340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1,188,410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חבויות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867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357,123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354,243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2,261,810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2,188,221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דירות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70886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772,973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768,563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5,826,309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5,784,619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רכב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4761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180,469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176,376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844,733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799,353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טרקטורים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6376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660,632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640,742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4,437,289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4,240,583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חבר מושב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5693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152,612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131,401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-8.5%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802,477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741,637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בית עסק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594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423,699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153,376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1,056,720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964,109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שונות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96566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151,503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146,468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1,085,696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1,014,499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רכב אחר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40985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20,198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207,575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201,091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אש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25295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20,639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12,539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34.6%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84,524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52,765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נסיעות לחו"ל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5574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סחורה בהעברה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4576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13.2%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2,914,305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2,573,422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6,282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6,190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3,024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2,997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9,303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8,704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17,794,474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17,175,288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latin typeface="Arial" panose="020B0604020202020204" pitchFamily="34" charset="0"/>
                        </a:rPr>
                        <a:t>סה"כ</a:t>
                      </a:r>
                      <a:endParaRPr lang="en-IL" sz="10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3145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20B61E6-54E2-4724-C083-41C131B21AD4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17 / 29</a:t>
            </a:r>
          </a:p>
        </p:txBody>
      </p:sp>
    </p:spTree>
    <p:extLst>
      <p:ext uri="{BB962C8B-B14F-4D97-AF65-F5344CB8AC3E}">
        <p14:creationId xmlns:p14="http://schemas.microsoft.com/office/powerpoint/2010/main" val="1580158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74BF5C-88B5-8193-8350-58F859908260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412382-DDE2-1B02-F6BC-ACAE99674C68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טלריות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E96D27-3206-A78E-0012-25B6F33116AF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1F104E-8EFA-D37F-79C8-0FDC19AD730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F77EAF-1432-C0F5-FECC-78FAA4E68A8C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18 / 29</a:t>
            </a:r>
          </a:p>
        </p:txBody>
      </p:sp>
    </p:spTree>
    <p:extLst>
      <p:ext uri="{BB962C8B-B14F-4D97-AF65-F5344CB8AC3E}">
        <p14:creationId xmlns:p14="http://schemas.microsoft.com/office/powerpoint/2010/main" val="3160779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41545F-C1EA-4E8C-627F-E7470C07907C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F140F7-F06D-0BF5-147F-3CBB85958FE7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מסמכים לפי טלריות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0948F-DE55-2C6E-582D-6CD4C51AA062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3F54E7-7AD7-C167-1A51-6BFF78DF00A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85FFF6-D9F4-24D0-7B99-FE79E7075A7A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19 / 29</a:t>
            </a:r>
          </a:p>
        </p:txBody>
      </p:sp>
    </p:spTree>
    <p:extLst>
      <p:ext uri="{BB962C8B-B14F-4D97-AF65-F5344CB8AC3E}">
        <p14:creationId xmlns:p14="http://schemas.microsoft.com/office/powerpoint/2010/main" val="2719401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E7716A-A2E2-7094-37E8-6092E899CDB2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258C58-2DCB-ACE0-89BB-7B2F1BBD4A1A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פוליסות לפי טלריות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231EA-1FDF-8213-10DB-AF7CD73947CB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061B54-EB58-F09B-9B57-6097DA6CFE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B7D16D-AF74-A957-65A7-7D7CA0B54B97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20 / 29</a:t>
            </a:r>
          </a:p>
        </p:txBody>
      </p:sp>
    </p:spTree>
    <p:extLst>
      <p:ext uri="{BB962C8B-B14F-4D97-AF65-F5344CB8AC3E}">
        <p14:creationId xmlns:p14="http://schemas.microsoft.com/office/powerpoint/2010/main" val="3155398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F5EA48-9F92-09F1-DCDB-CCC4256E8B4E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8F51B-884D-38BE-6952-87098C89F4EC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טלריות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1FDC8-5870-6364-5202-269C7ED92DA7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8274DE-87C5-31D9-5C18-2AE378591B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8DC873-3014-A9A6-E91B-1501BAD0CB9B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21 / 29</a:t>
            </a:r>
          </a:p>
        </p:txBody>
      </p:sp>
    </p:spTree>
    <p:extLst>
      <p:ext uri="{BB962C8B-B14F-4D97-AF65-F5344CB8AC3E}">
        <p14:creationId xmlns:p14="http://schemas.microsoft.com/office/powerpoint/2010/main" val="1985373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FAD9B9-9366-7CAA-058C-19191B82B19B}"/>
              </a:ext>
            </a:extLst>
          </p:cNvPr>
          <p:cNvSpPr txBox="1"/>
          <p:nvPr/>
        </p:nvSpPr>
        <p:spPr>
          <a:xfrm>
            <a:off x="254000" y="25400"/>
            <a:ext cx="1168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400" b="1">
                <a:solidFill>
                  <a:srgbClr val="00468C"/>
                </a:solidFill>
              </a:rPr>
              <a:t>לדוגמא סוכנות לביטוח</a:t>
            </a:r>
            <a:endParaRPr lang="en-IL" sz="14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DD198-630C-732F-A03B-F199662E029A}"/>
              </a:ext>
            </a:extLst>
          </p:cNvPr>
          <p:cNvSpPr txBox="1"/>
          <p:nvPr/>
        </p:nvSpPr>
        <p:spPr>
          <a:xfrm>
            <a:off x="254000" y="279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400" b="1">
                <a:solidFill>
                  <a:srgbClr val="323232"/>
                </a:solidFill>
              </a:rPr>
              <a:t>טלריות - טבלת נתונים</a:t>
            </a:r>
            <a:endParaRPr lang="en-IL" sz="14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9C359-23BD-FC6C-9A55-6F10E1782F9F}"/>
              </a:ext>
            </a:extLst>
          </p:cNvPr>
          <p:cNvSpPr txBox="1"/>
          <p:nvPr/>
        </p:nvSpPr>
        <p:spPr>
          <a:xfrm>
            <a:off x="508000" y="5334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900">
                <a:solidFill>
                  <a:srgbClr val="787878"/>
                </a:solidFill>
              </a:rPr>
              <a:t>שנתי | בורדרו | בחר/י</a:t>
            </a:r>
            <a:endParaRPr lang="en-IL" sz="900">
              <a:solidFill>
                <a:srgbClr val="787878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C1A2DA-E1BB-1652-1C24-C487C7980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133814"/>
              </p:ext>
            </p:extLst>
          </p:nvPr>
        </p:nvGraphicFramePr>
        <p:xfrm>
          <a:off x="127000" y="787400"/>
          <a:ext cx="1193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2193689676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50423244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545689157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382083796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79829293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41420188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43875176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927802993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4483431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039445230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748953803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57176590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657898621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24145341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44557787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272469632"/>
                    </a:ext>
                  </a:extLst>
                </a:gridCol>
              </a:tblGrid>
              <a:tr h="177800"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פוליסות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10319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53909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231,180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217,036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1,721,139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1,546,926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5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68354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272,719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264,625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1,787,020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1,721,440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2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2057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234,653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237,759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1,541,565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1,566,231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9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63522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104.1%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517,149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253,438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1,663,214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1,708,797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1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7481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213,523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204,105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1,419,096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1,342,756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6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40059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326,407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309,920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720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702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2,081,257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2,052,404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7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43459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253,430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276,672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1,685,214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1,791,779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8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20328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302,159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279,082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1,937,193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1,793,398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3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99031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179,733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141,543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1,260,803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1,003,095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10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11404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382,061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388,731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2,688,999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2,646,243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4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8313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14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2947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6,474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15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31012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טלר 11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00866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13.2%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2,914,305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2,573,422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6,282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6,190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3,024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2,997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9,303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8,704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17,794,474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17,175,288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latin typeface="Arial" panose="020B0604020202020204" pitchFamily="34" charset="0"/>
                        </a:rPr>
                        <a:t>סה"כ</a:t>
                      </a:r>
                      <a:endParaRPr lang="en-IL" sz="10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67359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B8AE31A-4D56-AB14-F778-1F31045CCF9B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22 / 29</a:t>
            </a:r>
          </a:p>
        </p:txBody>
      </p:sp>
    </p:spTree>
    <p:extLst>
      <p:ext uri="{BB962C8B-B14F-4D97-AF65-F5344CB8AC3E}">
        <p14:creationId xmlns:p14="http://schemas.microsoft.com/office/powerpoint/2010/main" val="2157502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C9C99D-F734-F90D-8A28-0EAC98E49B7D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09CA4F-CFAA-5CE9-80C3-9AA94DDB4E04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סוכנים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4683D5-B6A2-B190-164A-0DD120ECB739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11CF1D-86BC-A206-3C13-4264237F30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8E7C44-3E75-170E-051A-7EFDBF29FDE5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23 / 29</a:t>
            </a:r>
          </a:p>
        </p:txBody>
      </p:sp>
    </p:spTree>
    <p:extLst>
      <p:ext uri="{BB962C8B-B14F-4D97-AF65-F5344CB8AC3E}">
        <p14:creationId xmlns:p14="http://schemas.microsoft.com/office/powerpoint/2010/main" val="1702988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81B19F-C267-369E-14BF-2CDC2D09DE33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590C54-83E2-34D4-1B69-D39E52760015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מסמכים לפי סוכנים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C6EA72-28E7-FE2E-DD94-D70C530A7B02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00A5C0-9519-7447-9D0B-F59B67D510F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59236A-577F-2797-7834-A73B11F2BEAB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24 / 29</a:t>
            </a:r>
          </a:p>
        </p:txBody>
      </p:sp>
    </p:spTree>
    <p:extLst>
      <p:ext uri="{BB962C8B-B14F-4D97-AF65-F5344CB8AC3E}">
        <p14:creationId xmlns:p14="http://schemas.microsoft.com/office/powerpoint/2010/main" val="3673188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6E45B7-90A5-3A4F-E64F-31EF585E69A7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3EEC7-D941-0DEE-36A0-DBA99C7F5854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פוליסות לפי סוכנים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48E21E-A5A3-E64B-A56C-7A114A5DF38D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799F6B-FB77-0F0C-168F-C8548C11028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2FB87E-DF84-A35D-A9B6-A2756C421AF2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25 / 29</a:t>
            </a:r>
          </a:p>
        </p:txBody>
      </p:sp>
    </p:spTree>
    <p:extLst>
      <p:ext uri="{BB962C8B-B14F-4D97-AF65-F5344CB8AC3E}">
        <p14:creationId xmlns:p14="http://schemas.microsoft.com/office/powerpoint/2010/main" val="4127973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67FA2C-9951-07CF-41BB-DFFDE74DC6B3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EE06B-F632-19D7-7B90-30FA8A693508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סוכנים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E0DC1D-B8B7-A912-D135-0562749E4321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244CC-743A-CBE3-5F12-21220B144A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36A8A2-9305-DEC3-6E88-7732A9BE949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26 / 29</a:t>
            </a:r>
          </a:p>
        </p:txBody>
      </p:sp>
    </p:spTree>
    <p:extLst>
      <p:ext uri="{BB962C8B-B14F-4D97-AF65-F5344CB8AC3E}">
        <p14:creationId xmlns:p14="http://schemas.microsoft.com/office/powerpoint/2010/main" val="2337724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335F95-28DF-964E-DF99-1F6FC3B079D4}"/>
              </a:ext>
            </a:extLst>
          </p:cNvPr>
          <p:cNvSpPr txBox="1"/>
          <p:nvPr/>
        </p:nvSpPr>
        <p:spPr>
          <a:xfrm>
            <a:off x="254000" y="25400"/>
            <a:ext cx="1168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400" b="1">
                <a:solidFill>
                  <a:srgbClr val="00468C"/>
                </a:solidFill>
              </a:rPr>
              <a:t>לדוגמא סוכנות לביטוח</a:t>
            </a:r>
            <a:endParaRPr lang="en-IL" sz="14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0AFF8-EC0D-92E2-EA54-4D06335C9310}"/>
              </a:ext>
            </a:extLst>
          </p:cNvPr>
          <p:cNvSpPr txBox="1"/>
          <p:nvPr/>
        </p:nvSpPr>
        <p:spPr>
          <a:xfrm>
            <a:off x="254000" y="279400"/>
            <a:ext cx="1168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400" b="1">
                <a:solidFill>
                  <a:srgbClr val="323232"/>
                </a:solidFill>
              </a:rPr>
              <a:t>סוכנים - טבלת נתונים</a:t>
            </a:r>
            <a:endParaRPr lang="en-IL" sz="1400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059A35-C67A-3261-C8F8-1AE716798315}"/>
              </a:ext>
            </a:extLst>
          </p:cNvPr>
          <p:cNvSpPr txBox="1"/>
          <p:nvPr/>
        </p:nvSpPr>
        <p:spPr>
          <a:xfrm>
            <a:off x="508000" y="5334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900">
                <a:solidFill>
                  <a:srgbClr val="787878"/>
                </a:solidFill>
              </a:rPr>
              <a:t>שנתי | בורדרו | בחר/י</a:t>
            </a:r>
            <a:endParaRPr lang="en-IL" sz="900">
              <a:solidFill>
                <a:srgbClr val="787878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3492C0-ECE8-FD98-07CC-133D6F289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166452"/>
              </p:ext>
            </p:extLst>
          </p:nvPr>
        </p:nvGraphicFramePr>
        <p:xfrm>
          <a:off x="127000" y="787400"/>
          <a:ext cx="119380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3046466648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12536718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412636484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808967116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1026718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579290988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34030628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188225614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58678625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4743360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996986424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393821194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825564465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714579549"/>
                    </a:ext>
                  </a:extLst>
                </a:gridCol>
                <a:gridCol w="811784">
                  <a:extLst>
                    <a:ext uri="{9D8B030D-6E8A-4147-A177-3AD203B41FA5}">
                      <a16:colId xmlns:a16="http://schemas.microsoft.com/office/drawing/2014/main" val="246620438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869425711"/>
                    </a:ext>
                  </a:extLst>
                </a:gridCol>
              </a:tblGrid>
              <a:tr h="152400"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פוליסות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1315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2020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2019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0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69221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2,168,081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1,850,569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7,127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12,901,767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12,408,793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20453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3,880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3,675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25,952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25,528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13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8511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29,032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25,013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182,576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167,333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2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42097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81,942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81,242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-9.6%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519,874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509,913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6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52034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91,439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643,958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497,645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5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5295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-27.0%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21,768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29,821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-11.9%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-17.3%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151,780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183,487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7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71614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293,372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279,372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1,871,869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1,846,676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3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41715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57,979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61,205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-9.2%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373,828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392,455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8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36156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74,282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490,950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505,078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4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22033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35,854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36,480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-6.9%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221,632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227,638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10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8828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18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456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-18.5%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5,083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6,236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-17.7%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-8.5%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41,626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45,493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16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55762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47,631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45,394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311,697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297,757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12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96393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-20.3%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5,426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6,806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-40.0%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-16.7%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-17.3%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33,227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40,191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11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0488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805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4,957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15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0336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-6.8%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1,056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1,133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5,381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6,744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9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58265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20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71416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6.2%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2,089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1,986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19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60643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3,413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17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43082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-100.0%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9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900">
                          <a:latin typeface="Arial" panose="020B0604020202020204" pitchFamily="34" charset="0"/>
                        </a:rPr>
                        <a:t>סוכן 14</a:t>
                      </a:r>
                      <a:endParaRPr lang="en-IL" sz="9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20073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13.2%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2,914,305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2,573,422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6,282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6,190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0.9%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3,024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2,997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9,303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8,704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3.6%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17,794,474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b="1">
                          <a:latin typeface="Arial" panose="020B0604020202020204" pitchFamily="34" charset="0"/>
                        </a:rPr>
                        <a:t>17,175,288</a:t>
                      </a:r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000" b="1">
                          <a:latin typeface="Arial" panose="020B0604020202020204" pitchFamily="34" charset="0"/>
                        </a:rPr>
                        <a:t>סה"כ</a:t>
                      </a:r>
                      <a:endParaRPr lang="en-IL" sz="1000" b="1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6085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FC4C41B-1789-FEAF-F10E-B416E6F5FC9E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27 / 29</a:t>
            </a:r>
          </a:p>
        </p:txBody>
      </p:sp>
    </p:spTree>
    <p:extLst>
      <p:ext uri="{BB962C8B-B14F-4D97-AF65-F5344CB8AC3E}">
        <p14:creationId xmlns:p14="http://schemas.microsoft.com/office/powerpoint/2010/main" val="902900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1EF92D-70D2-59C1-A070-76A3C8CBB01D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EB4067-1594-2FDB-66DF-1B68A17BED97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פרמיות לפי סוכנים ללא סוכן 1 - 2019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941008-809B-28BD-F927-4B17A1729ACC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DA731B-3C6B-20D1-C129-4EC441D4AA5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662A3C-811F-CFAE-8F16-4BF421531A2E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28 / 29</a:t>
            </a:r>
          </a:p>
        </p:txBody>
      </p:sp>
    </p:spTree>
    <p:extLst>
      <p:ext uri="{BB962C8B-B14F-4D97-AF65-F5344CB8AC3E}">
        <p14:creationId xmlns:p14="http://schemas.microsoft.com/office/powerpoint/2010/main" val="42487076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200E6C-1879-4CB8-3D6A-F54AF9056D0A}"/>
              </a:ext>
            </a:extLst>
          </p:cNvPr>
          <p:cNvSpPr txBox="1"/>
          <p:nvPr/>
        </p:nvSpPr>
        <p:spPr>
          <a:xfrm>
            <a:off x="254000" y="50800"/>
            <a:ext cx="1168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600" b="1">
                <a:solidFill>
                  <a:srgbClr val="00468C"/>
                </a:solidFill>
              </a:rPr>
              <a:t>לדוגמא סוכנות לביטוח</a:t>
            </a:r>
            <a:endParaRPr lang="en-IL" sz="1600" b="1">
              <a:solidFill>
                <a:srgbClr val="00468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789DD9-86DC-4CDD-5923-1E574BF05C7A}"/>
              </a:ext>
            </a:extLst>
          </p:cNvPr>
          <p:cNvSpPr txBox="1"/>
          <p:nvPr/>
        </p:nvSpPr>
        <p:spPr>
          <a:xfrm>
            <a:off x="254000" y="355600"/>
            <a:ext cx="1168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b="1">
                <a:solidFill>
                  <a:srgbClr val="323232"/>
                </a:solidFill>
              </a:rPr>
              <a:t>עמלות לפי סוכנים ללא סוכן 1 - 2019 מול 2020</a:t>
            </a:r>
            <a:endParaRPr lang="en-IL" b="1">
              <a:solidFill>
                <a:srgbClr val="32323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26BB01-F71F-4D71-8728-FAFCFC418A90}"/>
              </a:ext>
            </a:extLst>
          </p:cNvPr>
          <p:cNvSpPr txBox="1"/>
          <p:nvPr/>
        </p:nvSpPr>
        <p:spPr>
          <a:xfrm>
            <a:off x="508000" y="685800"/>
            <a:ext cx="1117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100">
                <a:solidFill>
                  <a:srgbClr val="787878"/>
                </a:solidFill>
              </a:rPr>
              <a:t>שנתי | בורדרו | בחר/י</a:t>
            </a:r>
            <a:endParaRPr lang="en-IL" sz="1100">
              <a:solidFill>
                <a:srgbClr val="787878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3D67A2-404A-E4A0-EEC8-53EB18F521B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016000"/>
            <a:ext cx="10668000" cy="553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F4B8BF-10FE-8546-FCED-52C9493E6C29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29 / 29</a:t>
            </a:r>
          </a:p>
        </p:txBody>
      </p:sp>
    </p:spTree>
    <p:extLst>
      <p:ext uri="{BB962C8B-B14F-4D97-AF65-F5344CB8AC3E}">
        <p14:creationId xmlns:p14="http://schemas.microsoft.com/office/powerpoint/2010/main" val="2528625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2313</Words>
  <Application>Microsoft Office PowerPoint</Application>
  <PresentationFormat>Custom</PresentationFormat>
  <Paragraphs>1353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צבי גורן</dc:creator>
  <cp:lastModifiedBy>צבי גורן</cp:lastModifiedBy>
  <cp:revision>1</cp:revision>
  <dcterms:created xsi:type="dcterms:W3CDTF">2026-05-11T03:58:32Z</dcterms:created>
  <dcterms:modified xsi:type="dcterms:W3CDTF">2026-05-11T03:59:17Z</dcterms:modified>
</cp:coreProperties>
</file>