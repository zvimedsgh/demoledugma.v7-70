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AB6EF-D3B7-BC10-7481-F905677A67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10BB17-38CB-2DE3-86C0-2AEDA98A72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17BB54-526F-F0D1-A19D-A56488398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5CA2E-2F74-434F-9363-E7B289906824}" type="datetimeFigureOut">
              <a:rPr lang="en-IL" smtClean="0"/>
              <a:t>12/05/2026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92453-2DB1-2D24-8669-315D28A2E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CFA9D-5708-0DC7-6615-2B20012D9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5492-EC26-454E-B45B-B36BBC6A17F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23443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2575E-56FC-11A3-431F-7690652BF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966F8-7C0E-B21D-9AB7-AF07A28E8E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95583-2A3E-B109-3344-C53BF5B9B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5CA2E-2F74-434F-9363-E7B289906824}" type="datetimeFigureOut">
              <a:rPr lang="en-IL" smtClean="0"/>
              <a:t>12/05/2026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87B011-6BA5-D180-16C7-7A20BA099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0D2CC0-9EA7-84AD-EC81-90F5AB4E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5492-EC26-454E-B45B-B36BBC6A17F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77391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E0797-A117-D239-9454-3D3A1D8DB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AC57FD-065D-ADCA-9F80-617D1DCBD2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454EA1-C38D-7318-7460-841A8E515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5CA2E-2F74-434F-9363-E7B289906824}" type="datetimeFigureOut">
              <a:rPr lang="en-IL" smtClean="0"/>
              <a:t>12/05/2026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04FE7-FE84-6501-D34F-89CA63306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58A8B-33A8-7B0C-9B91-88036A5C7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5492-EC26-454E-B45B-B36BBC6A17F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40192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9798A-A6F5-8309-74D3-CCF25C013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9C1E8-43E7-5875-9E14-35EF4CF43A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80EC05-F486-C1C2-F059-D14A308117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DE4F27-2C85-677D-6FC1-C8B5971E3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5CA2E-2F74-434F-9363-E7B289906824}" type="datetimeFigureOut">
              <a:rPr lang="en-IL" smtClean="0"/>
              <a:t>12/05/2026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BD387B-849E-BE81-3E0B-37CB800B0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99C30E-D3E3-7BB7-22CB-3E6A1E1DE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5492-EC26-454E-B45B-B36BBC6A17F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07428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D767C-1A47-4CDD-D517-FD6952A42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318DB4-8BA0-BF21-9936-2C1A13704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3D2D8E-27D2-A32B-7E91-59C47E8E44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A22327-57BE-6E0F-0C34-50AAAC80AB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35769F-B994-F9E2-8DD9-FE5111494E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8453AD-6D14-63ED-A0C0-47FFC0B8A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5CA2E-2F74-434F-9363-E7B289906824}" type="datetimeFigureOut">
              <a:rPr lang="en-IL" smtClean="0"/>
              <a:t>12/05/2026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851353-713B-CE09-9AB3-E732D6CDB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063348-8D6D-7F47-486A-1E293530B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5492-EC26-454E-B45B-B36BBC6A17F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42262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6627D-8050-EAC0-E32C-FEB7090AB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0565B2-AA84-C807-EB53-D9E51781E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5CA2E-2F74-434F-9363-E7B289906824}" type="datetimeFigureOut">
              <a:rPr lang="en-IL" smtClean="0"/>
              <a:t>12/05/2026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7BE7DF-10EF-5782-7DB4-018C032BD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1B4799-666F-78E1-DFB9-F7F2F9D21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5492-EC26-454E-B45B-B36BBC6A17F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55122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2F920F-4CBA-D0DD-3F7A-0AD4C987A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5CA2E-2F74-434F-9363-E7B289906824}" type="datetimeFigureOut">
              <a:rPr lang="en-IL" smtClean="0"/>
              <a:t>12/05/2026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7F1A29-84B6-134C-F4A8-27027A29E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89BE38-74D7-1AC0-1560-3B77E9682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5492-EC26-454E-B45B-B36BBC6A17F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93887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6B9C2-FC4F-EEDC-1246-401D71930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81C70-E8F7-54A4-8765-EB3E20CD3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84458-4E9D-C6FF-E73F-71CB258883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E274C4-C8D7-0407-D530-C67BDE099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5CA2E-2F74-434F-9363-E7B289906824}" type="datetimeFigureOut">
              <a:rPr lang="en-IL" smtClean="0"/>
              <a:t>12/05/2026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7B935A-B4BB-C43D-A8E6-80F806531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8A1168-596A-59C9-82C3-23CB8868A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5492-EC26-454E-B45B-B36BBC6A17F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32591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9B8D5-32C2-D2D0-33C5-B8CBC9762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D49486-D89F-0A7B-B0D7-507A13802D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407D5F-EA53-8279-D802-601821730E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D7DB25-49A4-8A7E-8B3E-DA6090978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5CA2E-2F74-434F-9363-E7B289906824}" type="datetimeFigureOut">
              <a:rPr lang="en-IL" smtClean="0"/>
              <a:t>12/05/2026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D0110D-83AC-BD0D-220B-26E6FEB65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D0311-B13A-9A00-C6CA-DCF07B111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5492-EC26-454E-B45B-B36BBC6A17F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17462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23CF8-9B57-0E9A-A455-68EA977FE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FC337-83AC-4DC4-6FD3-8A9EF7C88B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7FDB92-F38E-15DA-6EEA-AD1EFC6A6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5CA2E-2F74-434F-9363-E7B289906824}" type="datetimeFigureOut">
              <a:rPr lang="en-IL" smtClean="0"/>
              <a:t>12/05/2026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0338E-9020-D771-31B3-2689192FE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F8F34-BDA2-A878-8DE1-D6DE397BB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5492-EC26-454E-B45B-B36BBC6A17F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54106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711B1D-B2DC-5BA4-6A20-52081D360F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1AD897-FDAB-8ACB-17BF-F3D92D4CBF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80501-D758-D75E-5348-CE5DBADA3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5CA2E-2F74-434F-9363-E7B289906824}" type="datetimeFigureOut">
              <a:rPr lang="en-IL" smtClean="0"/>
              <a:t>12/05/2026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B13E2-79F9-EFCE-B63E-76EF86AEA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62330-F0AC-BED6-D96B-156E83B63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5492-EC26-454E-B45B-B36BBC6A17F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5803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C6C470-9DC8-313A-053E-836C80146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AE3AC0-8C00-D7FB-A99E-31986D407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1B6BB-F20F-808E-499C-4762FAD9FD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25CA2E-2F74-434F-9363-E7B289906824}" type="datetimeFigureOut">
              <a:rPr lang="en-IL" smtClean="0"/>
              <a:t>12/05/2026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E1CE23-FEB4-66F1-F5D5-A095809372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E8A12-ADA0-0065-AA76-0A408394BB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EF5492-EC26-454E-B45B-B36BBC6A17F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37830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DFA0455-B114-DCE3-2139-B9A5DB5F8EF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BE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F25D35-8715-1599-967E-615DBD6EE952}"/>
              </a:ext>
            </a:extLst>
          </p:cNvPr>
          <p:cNvSpPr/>
          <p:nvPr/>
        </p:nvSpPr>
        <p:spPr>
          <a:xfrm>
            <a:off x="635000" y="508000"/>
            <a:ext cx="10922000" cy="5842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9C7030-4877-21BE-DC41-67DEAC11F252}"/>
              </a:ext>
            </a:extLst>
          </p:cNvPr>
          <p:cNvSpPr txBox="1"/>
          <p:nvPr/>
        </p:nvSpPr>
        <p:spPr>
          <a:xfrm>
            <a:off x="1016000" y="1143000"/>
            <a:ext cx="10160000" cy="7078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4000" b="1">
                <a:solidFill>
                  <a:srgbClr val="323232"/>
                </a:solidFill>
              </a:rPr>
              <a:t>מצגת הנהלה</a:t>
            </a:r>
            <a:endParaRPr lang="en-IL" sz="4000" b="1">
              <a:solidFill>
                <a:srgbClr val="32323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0DE05E-6915-A9AB-7333-7409F51C8BFD}"/>
              </a:ext>
            </a:extLst>
          </p:cNvPr>
          <p:cNvSpPr txBox="1"/>
          <p:nvPr/>
        </p:nvSpPr>
        <p:spPr>
          <a:xfrm>
            <a:off x="1016000" y="2286000"/>
            <a:ext cx="10160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3200">
                <a:solidFill>
                  <a:srgbClr val="505050"/>
                </a:solidFill>
              </a:rPr>
              <a:t>2024 מול 2025</a:t>
            </a:r>
            <a:endParaRPr lang="en-IL" sz="3200">
              <a:solidFill>
                <a:srgbClr val="50505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B17660-5703-4596-9081-A27758BFFC87}"/>
              </a:ext>
            </a:extLst>
          </p:cNvPr>
          <p:cNvSpPr txBox="1"/>
          <p:nvPr/>
        </p:nvSpPr>
        <p:spPr>
          <a:xfrm>
            <a:off x="1016000" y="3175000"/>
            <a:ext cx="10160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>
                <a:solidFill>
                  <a:srgbClr val="787878"/>
                </a:solidFill>
              </a:rPr>
              <a:t>שנתי | בורדרו</a:t>
            </a:r>
            <a:endParaRPr lang="en-IL" sz="2000">
              <a:solidFill>
                <a:srgbClr val="787878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47D722-0188-5BFC-210B-0E09DFD16B20}"/>
              </a:ext>
            </a:extLst>
          </p:cNvPr>
          <p:cNvSpPr txBox="1"/>
          <p:nvPr/>
        </p:nvSpPr>
        <p:spPr>
          <a:xfrm>
            <a:off x="1016000" y="5080000"/>
            <a:ext cx="10160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3400" b="1">
                <a:solidFill>
                  <a:srgbClr val="00823C"/>
                </a:solidFill>
              </a:rPr>
              <a:t>לבב סוכנות לביטוח</a:t>
            </a:r>
            <a:endParaRPr lang="en-IL" sz="3400" b="1">
              <a:solidFill>
                <a:srgbClr val="00823C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9DD202-8505-37DB-445A-F96996F07D25}"/>
              </a:ext>
            </a:extLst>
          </p:cNvPr>
          <p:cNvSpPr/>
          <p:nvPr/>
        </p:nvSpPr>
        <p:spPr>
          <a:xfrm>
            <a:off x="635000" y="6413500"/>
            <a:ext cx="10922000" cy="63500"/>
          </a:xfrm>
          <a:prstGeom prst="rect">
            <a:avLst/>
          </a:prstGeom>
          <a:solidFill>
            <a:srgbClr val="C8A0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2A2FBA-88E1-0A4E-C26D-0125115DDCC4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 / 19</a:t>
            </a:r>
          </a:p>
        </p:txBody>
      </p:sp>
    </p:spTree>
    <p:extLst>
      <p:ext uri="{BB962C8B-B14F-4D97-AF65-F5344CB8AC3E}">
        <p14:creationId xmlns:p14="http://schemas.microsoft.com/office/powerpoint/2010/main" val="1038893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4EAABB-2BB2-4043-AFE1-E3AF7344D47C}"/>
              </a:ext>
            </a:extLst>
          </p:cNvPr>
          <p:cNvSpPr txBox="1"/>
          <p:nvPr/>
        </p:nvSpPr>
        <p:spPr>
          <a:xfrm>
            <a:off x="254000" y="127000"/>
            <a:ext cx="11684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400" b="1">
                <a:solidFill>
                  <a:srgbClr val="323232"/>
                </a:solidFill>
              </a:rPr>
              <a:t>סה"כ פרמיות ועמלות - 2024 מול 2025</a:t>
            </a:r>
            <a:endParaRPr lang="en-IL" sz="2400" b="1">
              <a:solidFill>
                <a:srgbClr val="32323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ED58AA-258B-98FB-13F2-A1AE926C430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0" y="889000"/>
            <a:ext cx="10160000" cy="558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F66CCB-0372-02B9-F69D-5B22479493C4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 / 19</a:t>
            </a:r>
          </a:p>
        </p:txBody>
      </p:sp>
    </p:spTree>
    <p:extLst>
      <p:ext uri="{BB962C8B-B14F-4D97-AF65-F5344CB8AC3E}">
        <p14:creationId xmlns:p14="http://schemas.microsoft.com/office/powerpoint/2010/main" val="496114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335D40-DE43-391C-B689-E7FD207AA985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פרמיות לפי חודשים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C4B528-7262-D019-CF2E-570500F17467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60EB33-3944-17B6-C0A4-466D123B41C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DD3B17-E463-7AD7-EE57-DDC7F53F7194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3 / 19</a:t>
            </a:r>
          </a:p>
        </p:txBody>
      </p:sp>
    </p:spTree>
    <p:extLst>
      <p:ext uri="{BB962C8B-B14F-4D97-AF65-F5344CB8AC3E}">
        <p14:creationId xmlns:p14="http://schemas.microsoft.com/office/powerpoint/2010/main" val="4024952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6B089D-874E-8E15-ABAE-A9CA6A548201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עמלות לפי חודשים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E598E8-43F3-E39E-F5DE-6A40E47E7E52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3D77BD-3D3E-CBF3-3900-796257DD662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D33E9E-946B-6FE6-ECE3-9EAE3314137D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4 / 19</a:t>
            </a:r>
          </a:p>
        </p:txBody>
      </p:sp>
    </p:spTree>
    <p:extLst>
      <p:ext uri="{BB962C8B-B14F-4D97-AF65-F5344CB8AC3E}">
        <p14:creationId xmlns:p14="http://schemas.microsoft.com/office/powerpoint/2010/main" val="2495979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8B7EA7-A0C1-EDC9-11F1-717CB7782CD7}"/>
              </a:ext>
            </a:extLst>
          </p:cNvPr>
          <p:cNvSpPr txBox="1"/>
          <p:nvPr/>
        </p:nvSpPr>
        <p:spPr>
          <a:xfrm>
            <a:off x="254000" y="25400"/>
            <a:ext cx="11684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1600" b="1">
                <a:solidFill>
                  <a:srgbClr val="323232"/>
                </a:solidFill>
              </a:rPr>
              <a:t>חודשים - טבלת נתונים</a:t>
            </a:r>
            <a:endParaRPr lang="en-IL" sz="16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B06D9B-F1CF-B1B3-29CC-5729220DE2C5}"/>
              </a:ext>
            </a:extLst>
          </p:cNvPr>
          <p:cNvSpPr txBox="1"/>
          <p:nvPr/>
        </p:nvSpPr>
        <p:spPr>
          <a:xfrm>
            <a:off x="508000" y="3556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000">
                <a:solidFill>
                  <a:srgbClr val="787878"/>
                </a:solidFill>
              </a:rPr>
              <a:t>שנתי | בורדרו</a:t>
            </a:r>
            <a:endParaRPr lang="en-IL" sz="1000">
              <a:solidFill>
                <a:srgbClr val="787878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2A623D7-500F-42E9-3940-2B1BBEB279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6537577"/>
              </p:ext>
            </p:extLst>
          </p:nvPr>
        </p:nvGraphicFramePr>
        <p:xfrm>
          <a:off x="127000" y="571500"/>
          <a:ext cx="11938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5040">
                  <a:extLst>
                    <a:ext uri="{9D8B030D-6E8A-4147-A177-3AD203B41FA5}">
                      <a16:colId xmlns:a16="http://schemas.microsoft.com/office/drawing/2014/main" val="2719616109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2375654010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3958382545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4200055156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579593255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3792343953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296482514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3316096219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182172449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701861151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3837050513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2089486789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84305924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פרמיות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מסמכים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מבוטחים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עמלות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62405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621323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ינואר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5,414,314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4,918,170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1,754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1,494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1,147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821,876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799,619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421124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פברואר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2,918,894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2,905,861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-0.4%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1,278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1,306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881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875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-0.7%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441,793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460,629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59650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מרץ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2,077,023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2,427,666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16.9%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1,124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312,833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420,342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1681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אפריל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2,805,844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2,991,723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1,198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1,242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774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792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414,851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438,133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904799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מאי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1,995,180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1,986,553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1,061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298,089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292,498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35168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יוני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2,079,396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2,261,146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1,051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1,270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20.8%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752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871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15.8%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312,095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345,976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367841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יולי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3,081,190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2,886,215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-6.3%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446,268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433,446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885600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אוגוסט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2,491,380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2,348,305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-5.7%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1,268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1,319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851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885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373,273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362,402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97917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ספטמבר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2,105,257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2,237,274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317,237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323,263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746687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אוקטובר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1,969,202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1,941,199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1,097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1,320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20.3%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725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799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292,171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281,162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673741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נובמבר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2,287,744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2,605,929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331,966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350,952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37111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דצמבר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2,182,135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2,826,781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29.5%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1,112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1,406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26.4%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705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927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31.5%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304,142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571,106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87.8%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47128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latin typeface="Arial" panose="020B0604020202020204" pitchFamily="34" charset="0"/>
                        </a:rPr>
                        <a:t>סכום הכל</a:t>
                      </a:r>
                      <a:endParaRPr lang="en-IL" sz="1100" b="1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31,407,557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32,336,821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3.0%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14,907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15,880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6.5%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4,995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4,958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-0.7%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4,666,594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5,079,529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8.8%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33391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CC570B5-CEED-A900-B3FE-35F18E0B32C8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5 / 19</a:t>
            </a:r>
          </a:p>
        </p:txBody>
      </p:sp>
    </p:spTree>
    <p:extLst>
      <p:ext uri="{BB962C8B-B14F-4D97-AF65-F5344CB8AC3E}">
        <p14:creationId xmlns:p14="http://schemas.microsoft.com/office/powerpoint/2010/main" val="1948446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446942-A12D-2693-BB21-42926D81CF61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פרמיות לפי חברות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A542BC-9137-10D6-524A-220720273492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3B847F-4195-7117-E1D3-16EE371FF86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AE1F0D-841D-B528-0751-18E86F21C826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6 / 19</a:t>
            </a:r>
          </a:p>
        </p:txBody>
      </p:sp>
    </p:spTree>
    <p:extLst>
      <p:ext uri="{BB962C8B-B14F-4D97-AF65-F5344CB8AC3E}">
        <p14:creationId xmlns:p14="http://schemas.microsoft.com/office/powerpoint/2010/main" val="3548284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70CA9C-96EA-607E-4F45-47834C988523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עמלות לפי חברות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A941EC-5BC4-6A74-75C4-F1475DB12B12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2FF1EB-797E-E19E-3653-8A995F2FFEC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534D59-9A44-F3C6-D941-32F0DC706863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7 / 19</a:t>
            </a:r>
          </a:p>
        </p:txBody>
      </p:sp>
    </p:spTree>
    <p:extLst>
      <p:ext uri="{BB962C8B-B14F-4D97-AF65-F5344CB8AC3E}">
        <p14:creationId xmlns:p14="http://schemas.microsoft.com/office/powerpoint/2010/main" val="31867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C9FB8A-9896-F126-3784-519A8EF1ACFF}"/>
              </a:ext>
            </a:extLst>
          </p:cNvPr>
          <p:cNvSpPr txBox="1"/>
          <p:nvPr/>
        </p:nvSpPr>
        <p:spPr>
          <a:xfrm>
            <a:off x="254000" y="25400"/>
            <a:ext cx="11684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1600" b="1">
                <a:solidFill>
                  <a:srgbClr val="323232"/>
                </a:solidFill>
              </a:rPr>
              <a:t>חברות - טבלת נתונים</a:t>
            </a:r>
            <a:endParaRPr lang="en-IL" sz="16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67C806-C022-C641-18BD-BA2B8CF16F05}"/>
              </a:ext>
            </a:extLst>
          </p:cNvPr>
          <p:cNvSpPr txBox="1"/>
          <p:nvPr/>
        </p:nvSpPr>
        <p:spPr>
          <a:xfrm>
            <a:off x="508000" y="3556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000">
                <a:solidFill>
                  <a:srgbClr val="787878"/>
                </a:solidFill>
              </a:rPr>
              <a:t>שנתי | בורדרו</a:t>
            </a:r>
            <a:endParaRPr lang="en-IL" sz="1000">
              <a:solidFill>
                <a:srgbClr val="787878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B1DBBCB-AE17-F250-FEFA-294876D276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85817"/>
              </p:ext>
            </p:extLst>
          </p:nvPr>
        </p:nvGraphicFramePr>
        <p:xfrm>
          <a:off x="127000" y="571500"/>
          <a:ext cx="11938000" cy="264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5040">
                  <a:extLst>
                    <a:ext uri="{9D8B030D-6E8A-4147-A177-3AD203B41FA5}">
                      <a16:colId xmlns:a16="http://schemas.microsoft.com/office/drawing/2014/main" val="1772924465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422654963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3690828222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3647225710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3189948713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75768781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2840351770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669972540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3865473327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3681644417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4281673043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483262746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1903153188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פרמיות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מסמכים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מבוטחים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עמלות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42421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947143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הפניקס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6,137,743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7,767,391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26.6%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3,598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5,103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1,403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1,680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19.7%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786,901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999,967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706636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כלל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8,002,280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7,146,816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4,659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4,236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2,174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1,982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-8.8%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1,388,565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1,568,875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13.0%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523482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הראל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3,013,813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3,174,892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1,597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1,609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398,755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424,447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703643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איילון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11,121,796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11,198,756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3,290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3,108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-5.5%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1,849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1,770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-4.3%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1,613,797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1,640,999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243923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הכשרה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247,788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780,042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214.8%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228.2%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186.9%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30,594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88,365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188.8%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42850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מגדל (המגן) חברה לביטוח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2,059,439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1,658,624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-19.5%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821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666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-18.9%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486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380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-21.8%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286,851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229,222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-20.1%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201484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הכשרה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569,943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378,872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70,681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38,185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-46.0%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39187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קופרנינוה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50,092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20,611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-58.9%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33.3%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33.3%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885696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דרכים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204,663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197,942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90,450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87,851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09860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קש חתמים בינלאומיים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12,875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1300.0%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1,618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222453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latin typeface="Arial" panose="020B0604020202020204" pitchFamily="34" charset="0"/>
                        </a:rPr>
                        <a:t>סכום הכל</a:t>
                      </a:r>
                      <a:endParaRPr lang="en-IL" sz="1100" b="1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31,407,557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32,336,821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3.0%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14,907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15,880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6.5%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4,995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4,958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-0.7%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4,666,594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5,079,529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8.8%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34050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6872A37-0304-B27A-3B9F-E4476221F2DA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8 / 19</a:t>
            </a:r>
          </a:p>
        </p:txBody>
      </p:sp>
    </p:spTree>
    <p:extLst>
      <p:ext uri="{BB962C8B-B14F-4D97-AF65-F5344CB8AC3E}">
        <p14:creationId xmlns:p14="http://schemas.microsoft.com/office/powerpoint/2010/main" val="1683603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9A9D3D-02E6-9B2D-DD78-DF5779B953EA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פרמיות לפי ענף מרכז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EB943-E13D-9F10-9866-7BD1F4CA8C72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1CDAA3-B894-C825-7C83-B31224D6778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6FEE44-68D0-7ED3-73DD-08D68B3668FD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9 / 19</a:t>
            </a:r>
          </a:p>
        </p:txBody>
      </p:sp>
    </p:spTree>
    <p:extLst>
      <p:ext uri="{BB962C8B-B14F-4D97-AF65-F5344CB8AC3E}">
        <p14:creationId xmlns:p14="http://schemas.microsoft.com/office/powerpoint/2010/main" val="1634443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18C761-DFEB-CD50-AAEC-57AAB6B4BB31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עמלות לפי ענף מרכז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12810C-BF38-C8C5-17FB-B5839C6C522C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FE971C-445E-096B-E1D0-C35C7AB083C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3468C9-093D-D853-B586-7B8D8DA86A2E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10 / 19</a:t>
            </a:r>
          </a:p>
        </p:txBody>
      </p:sp>
    </p:spTree>
    <p:extLst>
      <p:ext uri="{BB962C8B-B14F-4D97-AF65-F5344CB8AC3E}">
        <p14:creationId xmlns:p14="http://schemas.microsoft.com/office/powerpoint/2010/main" val="1211034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0B248E-AFA8-C099-EA9F-BD67A56D3194}"/>
              </a:ext>
            </a:extLst>
          </p:cNvPr>
          <p:cNvSpPr txBox="1"/>
          <p:nvPr/>
        </p:nvSpPr>
        <p:spPr>
          <a:xfrm>
            <a:off x="254000" y="25400"/>
            <a:ext cx="11684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1600" b="1">
                <a:solidFill>
                  <a:srgbClr val="323232"/>
                </a:solidFill>
              </a:rPr>
              <a:t>ענף מרכז - טבלת נתונים</a:t>
            </a:r>
            <a:endParaRPr lang="en-IL" sz="16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67DB9A-084B-C513-B0E1-9859F25F971C}"/>
              </a:ext>
            </a:extLst>
          </p:cNvPr>
          <p:cNvSpPr txBox="1"/>
          <p:nvPr/>
        </p:nvSpPr>
        <p:spPr>
          <a:xfrm>
            <a:off x="508000" y="3556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000">
                <a:solidFill>
                  <a:srgbClr val="787878"/>
                </a:solidFill>
              </a:rPr>
              <a:t>שנתי | בורדרו</a:t>
            </a:r>
            <a:endParaRPr lang="en-IL" sz="1000">
              <a:solidFill>
                <a:srgbClr val="787878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4A09D83-3DC1-2BFD-9367-D5F72BEBF8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9520252"/>
              </p:ext>
            </p:extLst>
          </p:nvPr>
        </p:nvGraphicFramePr>
        <p:xfrm>
          <a:off x="127000" y="571500"/>
          <a:ext cx="11938000" cy="284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5040">
                  <a:extLst>
                    <a:ext uri="{9D8B030D-6E8A-4147-A177-3AD203B41FA5}">
                      <a16:colId xmlns:a16="http://schemas.microsoft.com/office/drawing/2014/main" val="1617049195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1602990099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3390630629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866273898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1398477585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727803815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1431164402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4046055814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1409082716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3935166793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1421023619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1953218627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412837538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פרמיות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מסמכים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מבוטחים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עמלות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675263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7316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חבויות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2,266,981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2,309,786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-15.9%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325,853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336,147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864768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דירות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3,943,434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4,084,388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2,380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2,389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1,585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1,575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-0.6%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628,813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640,117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959387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טרקטורים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1,484,188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1,532,012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333,220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337,431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448495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רכב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10,629,400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10,567,532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-0.6%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6,787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7,513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2,331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2,373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1,416,837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1,400,826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596587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רכב אחר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1,786,439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1,926,688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1,177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259,056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271,234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445462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חבר מושב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7,089,776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7,383,580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1,305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1,333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1,023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1,009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1,078,461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1,109,382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279462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בית עסק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1,258,658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1,316,631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226,477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250,034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059787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שונות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2,093,669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2,269,344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539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735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36.4%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321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354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297,693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615,851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106.9%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876413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נסיעות לחו"ל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109,061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156,814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25,945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38,056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961763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אש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745,952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790,046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24.3%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74,238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80,452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973476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סחורה בהעברה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466667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latin typeface="Arial" panose="020B0604020202020204" pitchFamily="34" charset="0"/>
                        </a:rPr>
                        <a:t>סכום הכל</a:t>
                      </a:r>
                      <a:endParaRPr lang="en-IL" sz="1100" b="1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31,407,557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32,336,821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3.0%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14,907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15,880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6.5%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4,995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4,958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-0.7%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4,666,594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5,079,529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8.8%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85315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092F3EE-FC52-6F15-3806-38AD02CD05D7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11 / 19</a:t>
            </a:r>
          </a:p>
        </p:txBody>
      </p:sp>
    </p:spTree>
    <p:extLst>
      <p:ext uri="{BB962C8B-B14F-4D97-AF65-F5344CB8AC3E}">
        <p14:creationId xmlns:p14="http://schemas.microsoft.com/office/powerpoint/2010/main" val="20551691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DC4FE6-A6CE-8102-23B5-B2D5F30C0A09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פרמיות לפי טלריות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858991-9DD4-1B33-9CA5-49955733C1DE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435A63-10A0-4FF7-FC59-3EEE7852374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6B66B2-EF43-3316-BD16-BE40267176CD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12 / 19</a:t>
            </a:r>
          </a:p>
        </p:txBody>
      </p:sp>
    </p:spTree>
    <p:extLst>
      <p:ext uri="{BB962C8B-B14F-4D97-AF65-F5344CB8AC3E}">
        <p14:creationId xmlns:p14="http://schemas.microsoft.com/office/powerpoint/2010/main" val="3883551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E90046-E2AC-930E-FD69-B4E18C5847C1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עמלות לפי טלריות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728B70-1196-9812-7A42-7CC61352E3E7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5060FF-9DC3-BF75-D6B2-69115B5021D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E0A089-9120-54CC-E560-41573932FCA4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13 / 19</a:t>
            </a:r>
          </a:p>
        </p:txBody>
      </p:sp>
    </p:spTree>
    <p:extLst>
      <p:ext uri="{BB962C8B-B14F-4D97-AF65-F5344CB8AC3E}">
        <p14:creationId xmlns:p14="http://schemas.microsoft.com/office/powerpoint/2010/main" val="27572899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ED4C70-6BF6-A8D9-1993-6ECF45ECE632}"/>
              </a:ext>
            </a:extLst>
          </p:cNvPr>
          <p:cNvSpPr txBox="1"/>
          <p:nvPr/>
        </p:nvSpPr>
        <p:spPr>
          <a:xfrm>
            <a:off x="254000" y="25400"/>
            <a:ext cx="11684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1600" b="1">
                <a:solidFill>
                  <a:srgbClr val="323232"/>
                </a:solidFill>
              </a:rPr>
              <a:t>טלריות - טבלת נתונים</a:t>
            </a:r>
            <a:endParaRPr lang="en-IL" sz="16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5595F4-EBE1-5FD9-E6A0-D9A25DCBC922}"/>
              </a:ext>
            </a:extLst>
          </p:cNvPr>
          <p:cNvSpPr txBox="1"/>
          <p:nvPr/>
        </p:nvSpPr>
        <p:spPr>
          <a:xfrm>
            <a:off x="508000" y="3556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000">
                <a:solidFill>
                  <a:srgbClr val="787878"/>
                </a:solidFill>
              </a:rPr>
              <a:t>שנתי | בורדרו</a:t>
            </a:r>
            <a:endParaRPr lang="en-IL" sz="1000">
              <a:solidFill>
                <a:srgbClr val="787878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E96B028-4220-C636-6C9A-83E43E21A5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4813936"/>
              </p:ext>
            </p:extLst>
          </p:nvPr>
        </p:nvGraphicFramePr>
        <p:xfrm>
          <a:off x="127000" y="571500"/>
          <a:ext cx="11938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5040">
                  <a:extLst>
                    <a:ext uri="{9D8B030D-6E8A-4147-A177-3AD203B41FA5}">
                      <a16:colId xmlns:a16="http://schemas.microsoft.com/office/drawing/2014/main" val="935383944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2682588193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1677524149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1530646211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711669438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1714074077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2058237271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1120040310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1985961321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390273698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4161008897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199357221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32571135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פרמיות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מסמכים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מבוטחים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עמלות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90015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772308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יאנה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2,810,061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3,055,006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1,476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405,175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421,689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9648549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טל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2,941,079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2,996,834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1,663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1,770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527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511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444,671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453,857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405894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עליזה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4,494,147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4,489,073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1,620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1,662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636,629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620,286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836516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ליאת רוזנר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2,559,535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2,602,895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1,431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1,374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-4.0%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550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558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391,325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397,242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5222107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ראדה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3,453,598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3,425,163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1,890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2,078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510,078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811,944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59.2%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4143343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רוני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2,981,751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3,087,844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1,344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1,448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456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457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427,341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440,069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621696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ויויאן אוחיון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2,497,182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2,954,570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16.8%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349,878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424,347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265872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אירית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3,167,590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3,115,349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1,487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1,575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640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611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-4.5%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481,691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489,361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164613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מירה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3,413,161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3,526,259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1,760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1,793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537,830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553,464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4383127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סימה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3,066,414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3,058,127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-0.3%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1,244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1,343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418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417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-0.2%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476,272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461,676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7199829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שונות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20,380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17,111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5,073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4,270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808187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****לא פעילים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2,417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2,718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12.5%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572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669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16.9%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780810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ריק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5,607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633097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ב.חיים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242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265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13.6%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80908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מסמכים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23165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latin typeface="Arial" panose="020B0604020202020204" pitchFamily="34" charset="0"/>
                        </a:rPr>
                        <a:t>סכום הכל</a:t>
                      </a:r>
                      <a:endParaRPr lang="en-IL" sz="1100" b="1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31,407,557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32,336,821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3.0%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14,907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15,880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6.5%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4,995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4,958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-0.7%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4,666,594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5,079,529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8.8%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588788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0A823FD-B95E-5B69-D384-05CE145CC7A5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14 / 19</a:t>
            </a:r>
          </a:p>
        </p:txBody>
      </p:sp>
    </p:spTree>
    <p:extLst>
      <p:ext uri="{BB962C8B-B14F-4D97-AF65-F5344CB8AC3E}">
        <p14:creationId xmlns:p14="http://schemas.microsoft.com/office/powerpoint/2010/main" val="27261793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28BABD-41BD-5250-3EEF-472B3AA9D014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פרמיות לפי סוכנים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EFB3F0-5D85-BF91-628D-0E473DE0BB50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71E3D3-D19D-3AA8-B71E-78DD9498980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3C1449-0B53-6183-C43F-6C0CAEDE0040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15 / 19</a:t>
            </a:r>
          </a:p>
        </p:txBody>
      </p:sp>
    </p:spTree>
    <p:extLst>
      <p:ext uri="{BB962C8B-B14F-4D97-AF65-F5344CB8AC3E}">
        <p14:creationId xmlns:p14="http://schemas.microsoft.com/office/powerpoint/2010/main" val="40265609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CB2E11-13F5-F731-F8DE-2012B1F59D6F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עמלות לפי סוכנים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2353BD-680C-54D0-4C0A-F6BDBD76F3B1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BB8C79-679E-DA38-99FD-1FA524BB8C1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75A3F5-BBF6-80F9-880A-ACEBA0368896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16 / 19</a:t>
            </a:r>
          </a:p>
        </p:txBody>
      </p:sp>
    </p:spTree>
    <p:extLst>
      <p:ext uri="{BB962C8B-B14F-4D97-AF65-F5344CB8AC3E}">
        <p14:creationId xmlns:p14="http://schemas.microsoft.com/office/powerpoint/2010/main" val="4474049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4E48B6-3593-2553-9DC6-A6724AF217C9}"/>
              </a:ext>
            </a:extLst>
          </p:cNvPr>
          <p:cNvSpPr txBox="1"/>
          <p:nvPr/>
        </p:nvSpPr>
        <p:spPr>
          <a:xfrm>
            <a:off x="254000" y="25400"/>
            <a:ext cx="11684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1600" b="1">
                <a:solidFill>
                  <a:srgbClr val="323232"/>
                </a:solidFill>
              </a:rPr>
              <a:t>סוכנים - טבלת נתונים</a:t>
            </a:r>
            <a:endParaRPr lang="en-IL" sz="16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1EAFF1-05DA-4F98-24D7-138B186FDE03}"/>
              </a:ext>
            </a:extLst>
          </p:cNvPr>
          <p:cNvSpPr txBox="1"/>
          <p:nvPr/>
        </p:nvSpPr>
        <p:spPr>
          <a:xfrm>
            <a:off x="508000" y="3556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000">
                <a:solidFill>
                  <a:srgbClr val="787878"/>
                </a:solidFill>
              </a:rPr>
              <a:t>שנתי | בורדרו</a:t>
            </a:r>
            <a:endParaRPr lang="en-IL" sz="1000">
              <a:solidFill>
                <a:srgbClr val="787878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69ED536-8B97-220B-671B-0F0A9ACAFB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213557"/>
              </p:ext>
            </p:extLst>
          </p:nvPr>
        </p:nvGraphicFramePr>
        <p:xfrm>
          <a:off x="127000" y="571500"/>
          <a:ext cx="11938000" cy="350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5040">
                  <a:extLst>
                    <a:ext uri="{9D8B030D-6E8A-4147-A177-3AD203B41FA5}">
                      <a16:colId xmlns:a16="http://schemas.microsoft.com/office/drawing/2014/main" val="3378136393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758670547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792850834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1198278710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4269928806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3360071690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997075949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934479827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3611207792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742521849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4257118890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2909085419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1946400572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פרמיות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מסמכים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מבוטחים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עמלות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867874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336059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לבב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24,493,022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25,423,833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11,503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12,314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3,619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3,610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3,627,462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4,026,894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33228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אבנר פינקל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415,930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393,659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-5.4%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174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151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-13.2%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66,086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62,328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-5.7%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71326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ויויאן אוחיון -חדש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1,082,827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1,314,743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142,595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182,469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137561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בית יצחק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2,681,558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2,605,722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1,334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1,395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549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528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408,407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408,960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362925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קוסטה זהבה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53,177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51,546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8,090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8,015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872748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דינה טל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196,605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212,269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29,267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33,577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14.7%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922459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התיכון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574,965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572,544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91,777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91,162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91334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מאיר נתן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297,679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251,847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-15.4%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205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179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-12.7%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114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-7.0%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47,716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37,688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-21.0%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18958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בני עטרות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311,110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322,654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46,959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48,411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037550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רשפון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692,513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676,529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271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262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103,387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98,077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-5.1%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66214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רונן וינוגרד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76,516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44,046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-42.4%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12,446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7,286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-41.5%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03800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לנדסברג נגה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379,338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365,118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242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221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-8.7%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60,321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58,381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286820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מסמכים לבב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20,380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17,111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5,073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4,270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54532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***לא פעילים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94,407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48,764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-48.3%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-12.1%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11,431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7,008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-38.7%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75022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מני קדוש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13,335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9,847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2,070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1,504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181341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פסח פלדמן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4,063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3,930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660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425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-35.6%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68562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דנה ליסט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6,406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4,484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1,064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685116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שרמן סוכנויות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9,167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10,746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17.2%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1,038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1,291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24.4%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855727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ז'קלין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3,964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-7.9%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12291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חן סדרס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594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3,780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536.4%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-50.0%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174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449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158.0%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41674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latin typeface="Arial" panose="020B0604020202020204" pitchFamily="34" charset="0"/>
                        </a:rPr>
                        <a:t>סכום הכל</a:t>
                      </a:r>
                      <a:endParaRPr lang="en-IL" sz="1100" b="1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31,407,557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32,336,821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3.0%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14,907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15,880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6.5%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4,995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4,958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-0.7%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4,666,594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5,079,529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8.8%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69595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4A3A48E-D5F8-2E71-5D88-ABD3E6F3BD97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17 / 19</a:t>
            </a:r>
          </a:p>
        </p:txBody>
      </p:sp>
    </p:spTree>
    <p:extLst>
      <p:ext uri="{BB962C8B-B14F-4D97-AF65-F5344CB8AC3E}">
        <p14:creationId xmlns:p14="http://schemas.microsoft.com/office/powerpoint/2010/main" val="40355776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0DE10C-32F0-9AD6-BDB7-47A08FC8914F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פרמיות לפי סוכנים ללא לבב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C4D014-3FA5-CF68-E44B-504A1F020223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A7F829-E995-FBAB-EE8D-FFA0AD69F02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72781F-4129-B55D-B6AA-25A66C969E1A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18 / 19</a:t>
            </a:r>
          </a:p>
        </p:txBody>
      </p:sp>
    </p:spTree>
    <p:extLst>
      <p:ext uri="{BB962C8B-B14F-4D97-AF65-F5344CB8AC3E}">
        <p14:creationId xmlns:p14="http://schemas.microsoft.com/office/powerpoint/2010/main" val="7322270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AEBE57-B8E8-95DC-FA85-03F800FAB98D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עמלות לפי סוכנים ללא לבב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7BFE22-9C68-F450-F085-5BF27985DB47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71A9FD-1A5E-5283-002E-C55EB3BFF40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064CFD0-079F-9E8A-D721-D7111FF43581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19 / 19</a:t>
            </a:r>
          </a:p>
        </p:txBody>
      </p:sp>
    </p:spTree>
    <p:extLst>
      <p:ext uri="{BB962C8B-B14F-4D97-AF65-F5344CB8AC3E}">
        <p14:creationId xmlns:p14="http://schemas.microsoft.com/office/powerpoint/2010/main" val="3988887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1703</Words>
  <Application>Microsoft Office PowerPoint</Application>
  <PresentationFormat>Custom</PresentationFormat>
  <Paragraphs>1087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צבי גורן</dc:creator>
  <cp:lastModifiedBy>צבי גורן</cp:lastModifiedBy>
  <cp:revision>1</cp:revision>
  <dcterms:created xsi:type="dcterms:W3CDTF">2026-05-12T02:23:53Z</dcterms:created>
  <dcterms:modified xsi:type="dcterms:W3CDTF">2026-05-12T02:24:22Z</dcterms:modified>
</cp:coreProperties>
</file>