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88163" cy="10018713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-9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8978-4160-6B2E-3741-18E39CF3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54249-74C2-5E0C-0DE2-68FAF1C90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07AEA-4658-F883-0A0F-ADBBAD8E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38397-ABBB-4F08-BF5B-634CB4282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AAAE1-2523-F5CD-6E27-657A13833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9609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AA42-69FA-6D40-47A7-817F8C1A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3029F-D4B2-2A6B-0B2D-B2E1FE7D4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3DE41-FC3C-050C-8BE4-62673D26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CD504-68A4-B683-6F72-2675D65A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B777A-61FE-6C5C-5F96-7310BE06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028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B06F-DFFF-6D72-9492-6C1ADD61C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7700F-3B3D-496F-8537-A37F3B5B2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A6487-61C9-8101-80C2-2B639DAF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4313F-10B2-ACE9-AE46-1E01F2168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E518-234F-D034-B077-7CC71120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949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2E8C-647E-32F1-3734-8D65994B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23F3D-59F0-CE30-6E81-DE31B656D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CDDEA-BA33-1FA5-ACC8-3B4BB7F03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C49A2-352F-30AC-72A9-3D1A66A1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D55B5-44A9-37D5-932F-496F493A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F28A9-CDFE-BC2E-30B2-0CF3827C7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9307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094F-9DC2-7D44-EC55-803B70CD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C60FC-1178-09D2-B97C-B5A7C3A02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185D7-0463-C1AE-FEAB-FBE4F5C46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ECFB8-6592-C29E-DF81-C0BF33F21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D00FC7-A6F2-DD54-0B8F-6F20E7B6A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557049-3722-FD0B-FE94-56008310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845D4-FD22-959C-E127-E58DE5E9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B4996-B3DC-5C92-76D0-66973030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22314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56BBB-BED5-152C-7DAA-157006D22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E7909-583A-2A2B-BA14-B1B1BC5F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ACAE5-6413-C15B-BADE-1377D7A8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85CC3-B0E7-BB6C-E102-5AE675DE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968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AF6E5B-250E-C15F-FBA6-0C10086D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1171AD-7134-53DB-8A73-FE132D91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595CF-C778-7651-8746-9DA9A28C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5206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17F7-63FF-EB60-921E-EDECBC7D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90F2C-3739-87A2-AAB9-C9BC7EBB1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92480-34EC-B828-8D90-E2D9C6B2F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6DA56-E9DD-E7D7-EFFD-F4A08DAC5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B0914-1E56-AF54-5E67-A46E1B4E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AF9BB-3BB0-86ED-0698-054A835E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528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0403-0AA6-0E3E-FB98-98BE88B10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35F5CC-CD9D-7ED7-EBA0-6822DBD0F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5BC87-1B51-C714-C3C0-8985ABB12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7A2B1-7F30-AEC2-A647-41254AE3A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42CD4-1908-8688-3BAF-FF1CC37D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CC7A8-9BBA-1F7B-A1EE-29B43C056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101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1DDE-A2D8-77AE-7734-0DE55DFA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15F16-5759-1BAB-114C-6492DCB8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6ADB9-7C75-36A0-746C-3DD3A40E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35193-D44F-8FDA-BAC0-8B2149D7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B2A2C-F7B2-0EE8-F7CF-4229F5C9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61553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1C172B-225F-7288-9BB1-B920CED49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5BAEC-37AF-DDF0-D2EA-2F2762A71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2C104-E291-29B7-6F3F-2B94C820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3D16C-86D5-F969-C090-029CC3CD9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C8D9C-8A94-EFB2-C690-72295E23B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8719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E0ACC-9C21-C7D9-A1B2-5170C381A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CCEE4-A68A-8C87-E084-22E2B4B0A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09CC5-19F8-279C-602D-B4E8E61E0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6FE22-0007-469C-9EFB-C0476A534428}" type="datetimeFigureOut">
              <a:rPr lang="en-IL" smtClean="0"/>
              <a:t>23/04/2026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E473F-44B0-CDFE-D793-C292530D5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84DD5-86FD-DE9E-FF5E-210C44273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BB573-8D02-49C1-B852-B295220A598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742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7E458B-9222-ADAB-1E24-8359FB7C12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BE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093684-9286-FB1F-D35F-70C6ACE2EAF5}"/>
              </a:ext>
            </a:extLst>
          </p:cNvPr>
          <p:cNvSpPr/>
          <p:nvPr/>
        </p:nvSpPr>
        <p:spPr>
          <a:xfrm>
            <a:off x="635000" y="508000"/>
            <a:ext cx="10922000" cy="584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0178B-8760-EC43-FA56-938FEAE5B910}"/>
              </a:ext>
            </a:extLst>
          </p:cNvPr>
          <p:cNvSpPr txBox="1"/>
          <p:nvPr/>
        </p:nvSpPr>
        <p:spPr>
          <a:xfrm>
            <a:off x="1016000" y="11430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4000" b="1">
                <a:solidFill>
                  <a:srgbClr val="323232"/>
                </a:solidFill>
              </a:rPr>
              <a:t>מצגת הנהלה</a:t>
            </a:r>
            <a:endParaRPr lang="en-IL" sz="4000" b="1">
              <a:solidFill>
                <a:srgbClr val="32323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391DC-8F42-FC7A-AD0C-38DBE06A6A63}"/>
              </a:ext>
            </a:extLst>
          </p:cNvPr>
          <p:cNvSpPr txBox="1"/>
          <p:nvPr/>
        </p:nvSpPr>
        <p:spPr>
          <a:xfrm>
            <a:off x="1016000" y="2540000"/>
            <a:ext cx="10160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200">
                <a:solidFill>
                  <a:srgbClr val="505050"/>
                </a:solidFill>
              </a:rPr>
              <a:t>2021 מול 2022</a:t>
            </a:r>
          </a:p>
          <a:p>
            <a:pPr algn="ctr"/>
            <a:r>
              <a:rPr lang="he-IL" sz="3200">
                <a:solidFill>
                  <a:srgbClr val="505050"/>
                </a:solidFill>
              </a:rPr>
              <a:t>(שנתי)</a:t>
            </a:r>
            <a:endParaRPr lang="en-IL" sz="3200">
              <a:solidFill>
                <a:srgbClr val="505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569EB-10CE-01E0-2F91-F0BF35793C6A}"/>
              </a:ext>
            </a:extLst>
          </p:cNvPr>
          <p:cNvSpPr txBox="1"/>
          <p:nvPr/>
        </p:nvSpPr>
        <p:spPr>
          <a:xfrm>
            <a:off x="1016000" y="50800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400" b="1">
                <a:solidFill>
                  <a:srgbClr val="00823C"/>
                </a:solidFill>
              </a:rPr>
              <a:t>לבב סוכנות לביטוח</a:t>
            </a:r>
            <a:endParaRPr lang="en-IL" sz="3400" b="1">
              <a:solidFill>
                <a:srgbClr val="00823C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23CF0F-AB0C-3BB0-4F47-E4F87DDFA0F2}"/>
              </a:ext>
            </a:extLst>
          </p:cNvPr>
          <p:cNvSpPr/>
          <p:nvPr/>
        </p:nvSpPr>
        <p:spPr>
          <a:xfrm>
            <a:off x="635000" y="6413500"/>
            <a:ext cx="10922000" cy="63500"/>
          </a:xfrm>
          <a:prstGeom prst="rect">
            <a:avLst/>
          </a:prstGeom>
          <a:solidFill>
            <a:srgbClr val="C8A0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0C7B9-32F1-43A8-0414-2851FE33422A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427472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E30FD9-B623-0A2D-10AF-555FC023C725}"/>
              </a:ext>
            </a:extLst>
          </p:cNvPr>
          <p:cNvSpPr txBox="1"/>
          <p:nvPr/>
        </p:nvSpPr>
        <p:spPr>
          <a:xfrm>
            <a:off x="254000" y="127000"/>
            <a:ext cx="1168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400" b="1">
                <a:solidFill>
                  <a:srgbClr val="323232"/>
                </a:solidFill>
              </a:rPr>
              <a:t>סה"כ פרמיות ועמלות - 2021 מול 2022</a:t>
            </a:r>
            <a:endParaRPr lang="en-IL" sz="24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55C03-5C9B-31E4-674F-20D2CE5A1D3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10160000" cy="558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E6794A-FF0F-F1EB-0F8C-139C2705B939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335429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DBAB4F-473C-A5E2-E731-6C8128E90CC1}"/>
              </a:ext>
            </a:extLst>
          </p:cNvPr>
          <p:cNvSpPr txBox="1"/>
          <p:nvPr/>
        </p:nvSpPr>
        <p:spPr>
          <a:xfrm>
            <a:off x="254000" y="127000"/>
            <a:ext cx="1168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200" b="1">
                <a:solidFill>
                  <a:srgbClr val="323232"/>
                </a:solidFill>
              </a:rPr>
              <a:t>פרמיות לפי חודשים - 2021 מול 2022</a:t>
            </a:r>
            <a:endParaRPr lang="en-IL" sz="22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996E83-9B59-653C-098D-27D95E280D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5500"/>
            <a:ext cx="10668000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F79BF-5F3E-3DC5-A158-993CCF1C64B7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973342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68933E-DF61-000C-E9B0-84A9D10ED505}"/>
              </a:ext>
            </a:extLst>
          </p:cNvPr>
          <p:cNvSpPr txBox="1"/>
          <p:nvPr/>
        </p:nvSpPr>
        <p:spPr>
          <a:xfrm>
            <a:off x="254000" y="127000"/>
            <a:ext cx="1168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200" b="1">
                <a:solidFill>
                  <a:srgbClr val="323232"/>
                </a:solidFill>
              </a:rPr>
              <a:t>עמלות לפי חודשים - 2021 מול 2022</a:t>
            </a:r>
            <a:endParaRPr lang="en-IL" sz="22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24987-44C8-660D-1638-AC8EDFF0E3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5500"/>
            <a:ext cx="10668000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B39472-1B26-07E7-9AB0-F8314F041FF3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720370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003589-074E-F177-1D10-3095E7A6CE86}"/>
              </a:ext>
            </a:extLst>
          </p:cNvPr>
          <p:cNvSpPr txBox="1"/>
          <p:nvPr/>
        </p:nvSpPr>
        <p:spPr>
          <a:xfrm>
            <a:off x="254000" y="635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חודשים - טבלת נתונים</a:t>
            </a:r>
            <a:endParaRPr lang="en-IL" b="1">
              <a:solidFill>
                <a:srgbClr val="32323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8A0C88-ADAE-0D70-AE1D-AAFC2898C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21621"/>
              </p:ext>
            </p:extLst>
          </p:nvPr>
        </p:nvGraphicFramePr>
        <p:xfrm>
          <a:off x="127000" y="571500"/>
          <a:ext cx="11938000" cy="69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3894620294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532082543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47420441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56406671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57855925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31252836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83258234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9148197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5532623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80122266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46389990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46120244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61074206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00328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19607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ינואר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4,803,757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4,987,599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860,559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792,206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37689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פברואר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2,452,861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2,532,275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1,583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1,218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383,688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406,470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96853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מרץ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1,753,511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1,694,647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258,406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254,487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6486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אפריל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2,167,106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2,014,674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1,253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-15.8%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331,825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318,389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65012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מאי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1,528,229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1,558,635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235,924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244,283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45692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יוני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1,835,407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1,867,678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-17.6%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274,875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301,613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72193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יולי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2,776,766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2,651,441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421,528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402,710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45391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אוגוסט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1,957,508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2,366,059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1,224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294,653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344,141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16.8%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16328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ספטמבר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1,687,259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1,764,922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249,251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265,334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86187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אוקטובר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1,593,541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1,627,277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1,091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-13.5%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255,330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262,588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25788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נובמבר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2,087,975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2,393,537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309,786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353,235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5855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דצמבר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1,709,523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1,722,729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1,064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-8.9%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266,353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273,337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903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4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26,353,443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27,181,473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17,003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14,358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-15.6%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4,899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4,925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0.5%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4,142,178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4,218,792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1902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386D47D-3D17-BFD6-E282-6789BFD78967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95123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B43FB5-7785-D754-B7DF-9F25610BCA75}"/>
              </a:ext>
            </a:extLst>
          </p:cNvPr>
          <p:cNvSpPr txBox="1"/>
          <p:nvPr/>
        </p:nvSpPr>
        <p:spPr>
          <a:xfrm>
            <a:off x="254000" y="127000"/>
            <a:ext cx="1168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200" b="1">
                <a:solidFill>
                  <a:srgbClr val="323232"/>
                </a:solidFill>
              </a:rPr>
              <a:t>פרמיות לפי חברות - 2021 מול 2022</a:t>
            </a:r>
            <a:endParaRPr lang="en-IL" sz="22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077B14-AEF3-F8DE-347E-01137399A4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5500"/>
            <a:ext cx="10668000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2F69AC-011F-A7AB-05C7-8CD097CE48A9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54412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D204D6-51E2-A840-44B8-76FAF2EB84E2}"/>
              </a:ext>
            </a:extLst>
          </p:cNvPr>
          <p:cNvSpPr txBox="1"/>
          <p:nvPr/>
        </p:nvSpPr>
        <p:spPr>
          <a:xfrm>
            <a:off x="254000" y="127000"/>
            <a:ext cx="1168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200" b="1">
                <a:solidFill>
                  <a:srgbClr val="323232"/>
                </a:solidFill>
              </a:rPr>
              <a:t>עמלות לפי חברות - 2021 מול 2022</a:t>
            </a:r>
            <a:endParaRPr lang="en-IL" sz="22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BC4068-CB18-A0B0-00E3-BFC8FE3BAF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5500"/>
            <a:ext cx="10668000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0C5F12-B442-C9C1-D879-5F949DD7C228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002103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1C628A-F595-5AF0-C175-7D5CBDAF63B9}"/>
              </a:ext>
            </a:extLst>
          </p:cNvPr>
          <p:cNvSpPr txBox="1"/>
          <p:nvPr/>
        </p:nvSpPr>
        <p:spPr>
          <a:xfrm>
            <a:off x="254000" y="635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חברות - טבלת נתונים</a:t>
            </a:r>
            <a:endParaRPr lang="en-IL" b="1">
              <a:solidFill>
                <a:srgbClr val="32323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35A9E9-B768-5B14-BEB1-35E938F47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221204"/>
              </p:ext>
            </p:extLst>
          </p:nvPr>
        </p:nvGraphicFramePr>
        <p:xfrm>
          <a:off x="127000" y="571500"/>
          <a:ext cx="11938000" cy="770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52719249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4203106366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03677525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04294863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82915321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322665207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51745216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60313900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86959475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53275321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65220339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90488137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29355373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71752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97358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כלל חברה לביטוח בע"מ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7,932,213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7,866,752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1,520,122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1,409,481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77097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איילון חברה לביטוח בע"מ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9,498,366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10,021,400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3,258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3,181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1,783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1,806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1,399,545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1,483,998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03378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הפניקס חברה לביטוח בע"מ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4,257,431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4,686,177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508,362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630,995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5332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הראל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2,146,930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2,446,040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13.9%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15.0%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299,408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347,751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13123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מגדל (המגן) חברה לביטוח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2,267,037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1,986,318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318,430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286,934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76922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קש חתמים בינלאומיים בע"מ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5,979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-66.7%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-50.0%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8735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דרכים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245,486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155,936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-36.5%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-38.8%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-40.5%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95,971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59,633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-37.9%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203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אליהו חברה לביטוח בע"מ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3902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קופרנינוה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18,850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4664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4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26,353,443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27,181,473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17,003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14,358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-15.6%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4,899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4,925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0.5%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4,142,178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4,218,792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5904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6E89B13-9FE8-F543-857D-066F31B39962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778744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4A3BD4-FF35-A9DF-760F-2EB3B24B89C7}"/>
              </a:ext>
            </a:extLst>
          </p:cNvPr>
          <p:cNvSpPr txBox="1"/>
          <p:nvPr/>
        </p:nvSpPr>
        <p:spPr>
          <a:xfrm>
            <a:off x="254000" y="127000"/>
            <a:ext cx="1168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200" b="1">
                <a:solidFill>
                  <a:srgbClr val="323232"/>
                </a:solidFill>
              </a:rPr>
              <a:t>פרמיות לפי ענף מרכז - 2021 מול 2022</a:t>
            </a:r>
            <a:endParaRPr lang="en-IL" sz="22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4CE162-F8EE-E030-E47F-83F8F64178D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5500"/>
            <a:ext cx="10668000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E11BCC-8A6C-5C30-0144-8612F308CF98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305857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17CCD6-C87D-BC25-12E6-FDB3BB560AC7}"/>
              </a:ext>
            </a:extLst>
          </p:cNvPr>
          <p:cNvSpPr txBox="1"/>
          <p:nvPr/>
        </p:nvSpPr>
        <p:spPr>
          <a:xfrm>
            <a:off x="254000" y="127000"/>
            <a:ext cx="1168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200" b="1">
                <a:solidFill>
                  <a:srgbClr val="323232"/>
                </a:solidFill>
              </a:rPr>
              <a:t>עמלות לפי ענף מרכז - 2021 מול 2022</a:t>
            </a:r>
            <a:endParaRPr lang="en-IL" sz="22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3E5A43-260B-574E-887C-5914FC6051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5500"/>
            <a:ext cx="10668000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D2735F-838E-AE81-E456-1A702334FEE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3393720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5FCE64-249B-5940-BD9A-6CCD9DB75E8C}"/>
              </a:ext>
            </a:extLst>
          </p:cNvPr>
          <p:cNvSpPr txBox="1"/>
          <p:nvPr/>
        </p:nvSpPr>
        <p:spPr>
          <a:xfrm>
            <a:off x="254000" y="635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ענף מרכז - טבלת נתונים</a:t>
            </a:r>
            <a:endParaRPr lang="en-IL" b="1">
              <a:solidFill>
                <a:srgbClr val="32323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E19028-9C87-4E00-38F4-E11C175ED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189595"/>
              </p:ext>
            </p:extLst>
          </p:nvPr>
        </p:nvGraphicFramePr>
        <p:xfrm>
          <a:off x="127000" y="571500"/>
          <a:ext cx="11938000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079363968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004298776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27572769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36729949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26650620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828703345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4081452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17467939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93772634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170955008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684166729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60250970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22808083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6145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16954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בית עסק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1,222,829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1,130,528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238,333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223,234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34041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חבויות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1,781,181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2,342,749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1,077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-28.8%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295,310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310,639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0576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רכב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7,524,077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8,329,337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1,085,161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1,193,259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47502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חבר מושב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6,449,893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6,645,203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1,509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1,086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983,974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1,015,088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95027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1,772,039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1,821,303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408,304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318,853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48723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אש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705,058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629,668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81,510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71,071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14854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דירות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2,891,235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3,240,101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501,131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548,941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877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רכב אחר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1,362,963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1,418,376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1,035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203,368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205,909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47913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טרקטורים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1,242,689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1,344,311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284,324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304,563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3814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נסיעות לחו"ל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31,687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92,351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191.4%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162.7%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113.9%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7,387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21,551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191.7%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93789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חדש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84914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חובה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1,369,792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186,083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-86.4%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3,240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-89.9%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1,884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-84.9%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53,376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5,532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-89.6%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664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4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26,353,443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27,181,473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17,003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14,358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-15.6%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4,899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4,925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0.5%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4,142,178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4,218,792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1546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6DD41B-9D62-4998-EB01-BFCFC5991B7F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2887451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F672A7-43B4-0544-D86E-7BCC89CBBCCC}"/>
              </a:ext>
            </a:extLst>
          </p:cNvPr>
          <p:cNvSpPr txBox="1"/>
          <p:nvPr/>
        </p:nvSpPr>
        <p:spPr>
          <a:xfrm>
            <a:off x="254000" y="127000"/>
            <a:ext cx="1168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200" b="1">
                <a:solidFill>
                  <a:srgbClr val="323232"/>
                </a:solidFill>
              </a:rPr>
              <a:t>פרמיות לפי טלריות - 2021 מול 2022</a:t>
            </a:r>
            <a:endParaRPr lang="en-IL" sz="22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6E778-2B9D-6701-85EE-09CAF5E1DF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5500"/>
            <a:ext cx="10668000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74035D-5B4F-B3E8-7416-32FE8108280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030752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D1D28B-F98A-4D8D-4F47-1B8B7CE0D559}"/>
              </a:ext>
            </a:extLst>
          </p:cNvPr>
          <p:cNvSpPr txBox="1"/>
          <p:nvPr/>
        </p:nvSpPr>
        <p:spPr>
          <a:xfrm>
            <a:off x="254000" y="127000"/>
            <a:ext cx="1168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200" b="1">
                <a:solidFill>
                  <a:srgbClr val="323232"/>
                </a:solidFill>
              </a:rPr>
              <a:t>עמלות לפי טלריות - 2021 מול 2022</a:t>
            </a:r>
            <a:endParaRPr lang="en-IL" sz="22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EA93B0-2050-4E1E-4656-629347CF03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5500"/>
            <a:ext cx="10668000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9BA998-FD80-5450-0825-24DA5172D4B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34365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C1E108-1650-B746-6BE2-29806D660EF3}"/>
              </a:ext>
            </a:extLst>
          </p:cNvPr>
          <p:cNvSpPr txBox="1"/>
          <p:nvPr/>
        </p:nvSpPr>
        <p:spPr>
          <a:xfrm>
            <a:off x="254000" y="635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טלריות - טבלת נתונים</a:t>
            </a:r>
            <a:endParaRPr lang="en-IL" b="1">
              <a:solidFill>
                <a:srgbClr val="32323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088DCB-6606-A409-43E5-2537A2051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80883"/>
              </p:ext>
            </p:extLst>
          </p:nvPr>
        </p:nvGraphicFramePr>
        <p:xfrm>
          <a:off x="127000" y="571499"/>
          <a:ext cx="11938000" cy="91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2498782843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74552815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14995456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67966539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7281746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4549685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04309633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85309548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97144490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494406418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529563237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19660309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879804709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19591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62535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יאנה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2,087,605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2,611,087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327,004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376,221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67681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אילנה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3,587,950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3,546,531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2,480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2,047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-17.5%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673,558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569,871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274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מירה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3,364,414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3,296,209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517,242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533,073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91574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ליאת רוזנר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2,244,498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2,412,031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1,641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-12.0%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344,217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379,581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2576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****לא פעילים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20,809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161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עליזה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4,434,616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4,372,051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2,268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1,779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651,547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661,529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9675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טל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2,552,091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2,649,634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399,468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422,437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07246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רוני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2,502,670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2,538,780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1,651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1,261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354,652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365,904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32752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אירית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2,514,443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2,620,947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386,102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414,137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8909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סימה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3,045,501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3,087,337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1,754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-22.4%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485,081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487,844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61953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21,861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172.2%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153.6%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96241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ב.חיים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4,196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54653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ריק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98585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מסמכים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28094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ביטוח חיים - זמני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89461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4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26,353,443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27,181,473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17,003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14,358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-15.6%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4,899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4,925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0.5%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4,142,178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4,218,792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0995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081475-2839-2075-9C28-ACC3CEFFE80A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4120341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69C47A-4261-95A7-B0DA-145CE4A841EB}"/>
              </a:ext>
            </a:extLst>
          </p:cNvPr>
          <p:cNvSpPr txBox="1"/>
          <p:nvPr/>
        </p:nvSpPr>
        <p:spPr>
          <a:xfrm>
            <a:off x="254000" y="127000"/>
            <a:ext cx="1168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200" b="1">
                <a:solidFill>
                  <a:srgbClr val="323232"/>
                </a:solidFill>
              </a:rPr>
              <a:t>פרמיות לפי סוכנים - 2021 מול 2022</a:t>
            </a:r>
            <a:endParaRPr lang="en-IL" sz="22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58298-0710-402A-E6C4-F8600B6E446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5500"/>
            <a:ext cx="10668000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C459AC-5CF9-F911-4A63-10F6F902B0D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628890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385268-CA0E-82C5-7DDD-1CB5FAABC823}"/>
              </a:ext>
            </a:extLst>
          </p:cNvPr>
          <p:cNvSpPr txBox="1"/>
          <p:nvPr/>
        </p:nvSpPr>
        <p:spPr>
          <a:xfrm>
            <a:off x="254000" y="127000"/>
            <a:ext cx="1168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200" b="1">
                <a:solidFill>
                  <a:srgbClr val="323232"/>
                </a:solidFill>
              </a:rPr>
              <a:t>עמלות לפי סוכנים - 2021 מול 2022</a:t>
            </a:r>
            <a:endParaRPr lang="en-IL" sz="22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A20716-05C5-5ED2-541C-741E00D698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25500"/>
            <a:ext cx="10668000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18EE81-6E9E-E509-2EC4-433FD7E9351D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3982089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7ED719-249D-6BB2-8F19-32B05F46B839}"/>
              </a:ext>
            </a:extLst>
          </p:cNvPr>
          <p:cNvSpPr txBox="1"/>
          <p:nvPr/>
        </p:nvSpPr>
        <p:spPr>
          <a:xfrm>
            <a:off x="254000" y="635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סוכנים - טבלת נתונים</a:t>
            </a:r>
            <a:endParaRPr lang="en-IL" b="1">
              <a:solidFill>
                <a:srgbClr val="32323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E2CD33-A5B4-3684-E33A-7DACF7BE3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992080"/>
              </p:ext>
            </p:extLst>
          </p:nvPr>
        </p:nvGraphicFramePr>
        <p:xfrm>
          <a:off x="127000" y="571499"/>
          <a:ext cx="11938000" cy="102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2203739253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772377610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428755814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12709795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07587919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806873957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88329985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65426485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147174575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818385248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87360949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69297776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39836032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16327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4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39139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לבב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21,316,470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22,078,482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13,375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3,359,393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3,407,392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2107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התיכון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626,088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601,714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-3.9%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-14.5%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99,717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99,119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34646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לנדסברג נגה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346,813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364,649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53,376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59,157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45283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בני עטרות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273,877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278,836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-8.1%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40,801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41,849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14256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בית יצחק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2,212,070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2,271,518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340,045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358,778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49236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דינה טל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68,244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94,322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38.2%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11,753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15,232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29.6%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7606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רונן וינוגרד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126,786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60,059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-52.6%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22,921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11,271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-50.8%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58226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רשפון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711,254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661,417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104,941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99,451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-5.2%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81394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מאיר נתן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271,754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292,200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43,471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48,622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17985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אבנר פינקל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352,287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362,646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-31.4%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58,669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58,891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85399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מני קדוש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9,523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22,977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141.3%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209.5%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8717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מסמכים לבב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10,061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21,861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117.3%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166.7%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-25.0%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2,022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5,034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149.0%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5014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***לא פעילים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13,083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783.4%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-58.2%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-23.5%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959.9%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68377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ז'קלין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3,158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831.6%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276.4%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6183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קוסטה זהבה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11,071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40,297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264.0%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5,893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316.2%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931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דנה ליסט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9,712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8,354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-14.0%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1,339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1,291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1456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שרמן סוכנויות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2,794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6758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>
                          <a:latin typeface="Arial" panose="020B0604020202020204" pitchFamily="34" charset="0"/>
                        </a:rPr>
                        <a:t>פסח פלדמן</a:t>
                      </a:r>
                      <a:endParaRPr lang="en-IL" sz="14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3,067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3,106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-33.3%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452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3606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he-IL" sz="14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4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26,353,443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27,181,473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17,003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14,358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-15.6%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4,899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4,925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0.5%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4,142,178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4,218,792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400" b="1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95111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D4D81CF-2F92-33CA-45BE-E349D1AC92B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2515327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1604</Words>
  <Application>Microsoft Office PowerPoint</Application>
  <PresentationFormat>Custom</PresentationFormat>
  <Paragraphs>1040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cp:lastPrinted>2026-04-23T16:06:16Z</cp:lastPrinted>
  <dcterms:created xsi:type="dcterms:W3CDTF">2026-04-23T16:05:41Z</dcterms:created>
  <dcterms:modified xsi:type="dcterms:W3CDTF">2026-04-23T16:07:32Z</dcterms:modified>
</cp:coreProperties>
</file>