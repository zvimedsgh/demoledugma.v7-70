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1604F-B57E-F04B-EBDD-562AEC4649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2EFCAF-8A27-FC35-6035-DBF19132B0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926C4-5C02-BE8D-9A02-7A65AD376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BBFD-FDBF-47BE-973F-39FA41E44965}" type="datetimeFigureOut">
              <a:rPr lang="en-IL" smtClean="0"/>
              <a:t>13/05/2026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D1717-8252-D27C-BAF2-A5D38B458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07AD9-3327-268E-115C-1E365E65D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3EAA7-A360-461F-A6F0-4509C338817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0161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A4203-1F8D-CFAD-2C02-E2C2173D8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2CD74-21CD-3D0E-11D0-31326B885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61DCE-EEFB-CC20-4BEC-CE36676C9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BBFD-FDBF-47BE-973F-39FA41E44965}" type="datetimeFigureOut">
              <a:rPr lang="en-IL" smtClean="0"/>
              <a:t>13/05/2026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C513B-8386-074B-53D0-B1485754C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0EF13-9EAF-FC2A-8E76-493FB35A0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3EAA7-A360-461F-A6F0-4509C338817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14923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A9D98-14B8-2681-C97F-D1AF82F82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FA9A57-7217-9F72-80BA-7166771F7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A530D-309A-0C71-EDD3-2B0885397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BBFD-FDBF-47BE-973F-39FA41E44965}" type="datetimeFigureOut">
              <a:rPr lang="en-IL" smtClean="0"/>
              <a:t>13/05/2026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933B6-B0BD-D991-5D2B-9AC7DD39B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E44E0-8467-EAE6-9917-EA49677F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3EAA7-A360-461F-A6F0-4509C338817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71267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50B50-4F29-B30B-016D-C9C9D673B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403F6-2694-7915-C1C5-64D645C9BD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C36E0-F221-80FC-F6C1-6B22BC4A84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3F7AAF-DFBE-9EFC-8941-6C1C9C5FD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BBFD-FDBF-47BE-973F-39FA41E44965}" type="datetimeFigureOut">
              <a:rPr lang="en-IL" smtClean="0"/>
              <a:t>13/05/2026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F3397-3DED-342A-1F58-798237817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31620B-9999-D929-5C23-84AA94E3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3EAA7-A360-461F-A6F0-4509C338817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24231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6DC10-F210-2ED4-0E71-B723EE3F4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5AF03A-4E15-3EA9-4E46-862FD11E8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DA42B3-D4C4-1CEA-4DB0-4D6AED8EC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B9C76E-10F5-7E8D-E983-1117E9C1DD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6343ED-CB67-2B6A-3A02-B07EA292B7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AE451-24FF-11EF-F05D-FBD9ADC40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BBFD-FDBF-47BE-973F-39FA41E44965}" type="datetimeFigureOut">
              <a:rPr lang="en-IL" smtClean="0"/>
              <a:t>13/05/2026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7C9340-5553-40E1-5F66-FBF0B66A1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DC1A9F-295E-AD39-774A-9A1DFFE14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3EAA7-A360-461F-A6F0-4509C338817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9085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01E6-C81B-6712-4DB5-A41365C8F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326676-5FBE-1571-33A9-C34A56120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BBFD-FDBF-47BE-973F-39FA41E44965}" type="datetimeFigureOut">
              <a:rPr lang="en-IL" smtClean="0"/>
              <a:t>13/05/2026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77C439-60AB-39E8-C1C2-5422A02E9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5EC004-91F0-76F5-3C4C-D127DC596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3EAA7-A360-461F-A6F0-4509C338817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177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DD5EE8-5018-C540-512C-0800A9220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BBFD-FDBF-47BE-973F-39FA41E44965}" type="datetimeFigureOut">
              <a:rPr lang="en-IL" smtClean="0"/>
              <a:t>13/05/2026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26376E-E7C4-422C-27F3-7FBFF8185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59FA4-3EA4-1B75-7758-3270581E9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3EAA7-A360-461F-A6F0-4509C338817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98786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1B91E-1F0B-213B-FDB5-A28C1FF14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AC03B-9B46-CE3D-4BD0-79AD85A70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5B7C4-407C-86C5-1683-CCB2D09B4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4FD8E-BA82-D362-C38E-FB05B07ED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BBFD-FDBF-47BE-973F-39FA41E44965}" type="datetimeFigureOut">
              <a:rPr lang="en-IL" smtClean="0"/>
              <a:t>13/05/2026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C9EF34-7807-2C9E-1DAD-F0A6343F1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504A1B-C7F4-9B80-6688-4669B470C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3EAA7-A360-461F-A6F0-4509C338817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41374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FD2FC-9DF0-1965-6CED-FD11C027F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B6B11-1D62-E55D-7A4A-7C7AF2CAAA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A73DCD-EE8A-55E4-B5D7-E952D07B11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0D9932-6B00-9D2D-4FFD-11C20EC1E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BBFD-FDBF-47BE-973F-39FA41E44965}" type="datetimeFigureOut">
              <a:rPr lang="en-IL" smtClean="0"/>
              <a:t>13/05/2026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C7CA93-CA9E-D7F9-D6B6-7B158E44E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33270-3446-0F5F-A51D-2B998876F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3EAA7-A360-461F-A6F0-4509C338817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45851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EB91C-A596-01DD-5F72-E2F7EB505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9F0B73-E60C-8DE1-5D30-F7BE20F42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7D7D0-99DC-FD51-5E4F-8633034AB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BBFD-FDBF-47BE-973F-39FA41E44965}" type="datetimeFigureOut">
              <a:rPr lang="en-IL" smtClean="0"/>
              <a:t>13/05/2026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7A666-E8BE-2886-43EE-459BA9EA4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A7DF0-4D52-344C-D85A-67704C4B2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3EAA7-A360-461F-A6F0-4509C338817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54967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52A5D3-F7C5-3001-2D5D-D8C74D98B5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C50890-2ABE-088D-85B7-AAAC7D00CD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25B5C-3088-AA45-BF62-C3D56735D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BBFD-FDBF-47BE-973F-39FA41E44965}" type="datetimeFigureOut">
              <a:rPr lang="en-IL" smtClean="0"/>
              <a:t>13/05/2026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CC109-0A1B-52C3-61F2-205449D7A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A001D-1EEA-9C60-A510-1EA18D9E9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3EAA7-A360-461F-A6F0-4509C338817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83693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4E54C2-8B82-DCCC-F10F-CE4B95D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BE488-DE5A-5849-2E50-F268937BF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15CFC-F508-89B1-8C42-37BBDD2CF3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D1BBFD-FDBF-47BE-973F-39FA41E44965}" type="datetimeFigureOut">
              <a:rPr lang="en-IL" smtClean="0"/>
              <a:t>13/05/2026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20697-A754-97DA-7E3D-2EBD60AF42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EDC83-53B3-E550-6131-D4019C8F4E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23EAA7-A360-461F-A6F0-4509C338817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1908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FB9F2D-04DF-D07B-B343-5F0604A4A3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BE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1E3CFE-3949-D8DF-14DF-CD1F8F96D184}"/>
              </a:ext>
            </a:extLst>
          </p:cNvPr>
          <p:cNvSpPr/>
          <p:nvPr/>
        </p:nvSpPr>
        <p:spPr>
          <a:xfrm>
            <a:off x="635000" y="508000"/>
            <a:ext cx="10922000" cy="5842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F70ECD-82F0-664B-521D-68C6AEFE67F1}"/>
              </a:ext>
            </a:extLst>
          </p:cNvPr>
          <p:cNvSpPr txBox="1"/>
          <p:nvPr/>
        </p:nvSpPr>
        <p:spPr>
          <a:xfrm>
            <a:off x="1016000" y="1143000"/>
            <a:ext cx="10160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4000" b="1">
                <a:solidFill>
                  <a:srgbClr val="323232"/>
                </a:solidFill>
              </a:rPr>
              <a:t>מצגת הנהלה</a:t>
            </a:r>
            <a:endParaRPr lang="en-IL" sz="4000" b="1">
              <a:solidFill>
                <a:srgbClr val="32323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0B5A4B-E513-35D7-9805-0D4FE5B205DC}"/>
              </a:ext>
            </a:extLst>
          </p:cNvPr>
          <p:cNvSpPr txBox="1"/>
          <p:nvPr/>
        </p:nvSpPr>
        <p:spPr>
          <a:xfrm>
            <a:off x="1016000" y="2286000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3200">
                <a:solidFill>
                  <a:srgbClr val="505050"/>
                </a:solidFill>
              </a:rPr>
              <a:t>2024 מול 2025</a:t>
            </a:r>
            <a:endParaRPr lang="en-IL" sz="3200">
              <a:solidFill>
                <a:srgbClr val="505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840681-42F6-EA07-C4C4-E1EAA7BA1D04}"/>
              </a:ext>
            </a:extLst>
          </p:cNvPr>
          <p:cNvSpPr txBox="1"/>
          <p:nvPr/>
        </p:nvSpPr>
        <p:spPr>
          <a:xfrm>
            <a:off x="1016000" y="3175000"/>
            <a:ext cx="10160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>
                <a:solidFill>
                  <a:srgbClr val="787878"/>
                </a:solidFill>
              </a:rPr>
              <a:t>שנתי | בורדרו</a:t>
            </a:r>
            <a:endParaRPr lang="en-IL" sz="2000">
              <a:solidFill>
                <a:srgbClr val="787878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E8F21E-B1A7-D7A0-5872-BB4D9620F652}"/>
              </a:ext>
            </a:extLst>
          </p:cNvPr>
          <p:cNvSpPr txBox="1"/>
          <p:nvPr/>
        </p:nvSpPr>
        <p:spPr>
          <a:xfrm>
            <a:off x="1016000" y="5080000"/>
            <a:ext cx="10160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3400" b="1">
                <a:solidFill>
                  <a:srgbClr val="00823C"/>
                </a:solidFill>
              </a:rPr>
              <a:t>לבב סוכנות לביטוח</a:t>
            </a:r>
            <a:endParaRPr lang="en-IL" sz="3400" b="1">
              <a:solidFill>
                <a:srgbClr val="00823C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7E4095-86A1-3DFC-770B-F0522BC5DA3B}"/>
              </a:ext>
            </a:extLst>
          </p:cNvPr>
          <p:cNvSpPr/>
          <p:nvPr/>
        </p:nvSpPr>
        <p:spPr>
          <a:xfrm>
            <a:off x="635000" y="6413500"/>
            <a:ext cx="10922000" cy="63500"/>
          </a:xfrm>
          <a:prstGeom prst="rect">
            <a:avLst/>
          </a:prstGeom>
          <a:solidFill>
            <a:srgbClr val="C8A0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CA4D94-FC2E-D37E-F6DF-E4DB200DB118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 / 29</a:t>
            </a:r>
          </a:p>
        </p:txBody>
      </p:sp>
    </p:spTree>
    <p:extLst>
      <p:ext uri="{BB962C8B-B14F-4D97-AF65-F5344CB8AC3E}">
        <p14:creationId xmlns:p14="http://schemas.microsoft.com/office/powerpoint/2010/main" val="4199835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2DB5F9-9FC9-0D4F-FC3B-3A4F3B3CE9F7}"/>
              </a:ext>
            </a:extLst>
          </p:cNvPr>
          <p:cNvSpPr txBox="1"/>
          <p:nvPr/>
        </p:nvSpPr>
        <p:spPr>
          <a:xfrm>
            <a:off x="254000" y="127000"/>
            <a:ext cx="11684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400" b="1">
                <a:solidFill>
                  <a:srgbClr val="323232"/>
                </a:solidFill>
              </a:rPr>
              <a:t>סה"כ פרמיות ועמלות - 2024 מול 2025</a:t>
            </a:r>
            <a:endParaRPr lang="en-IL" sz="24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C4700B-B23B-5FA1-7388-17BD12742D4E}"/>
              </a:ext>
            </a:extLst>
          </p:cNvPr>
          <p:cNvSpPr txBox="1"/>
          <p:nvPr/>
        </p:nvSpPr>
        <p:spPr>
          <a:xfrm>
            <a:off x="508000" y="660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9AF69E-A26B-A1EA-D798-55D5E6657F1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990600"/>
            <a:ext cx="10160000" cy="5486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BB3CC2-FF32-C93A-9F39-382A9F44A726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 / 29</a:t>
            </a:r>
          </a:p>
        </p:txBody>
      </p:sp>
    </p:spTree>
    <p:extLst>
      <p:ext uri="{BB962C8B-B14F-4D97-AF65-F5344CB8AC3E}">
        <p14:creationId xmlns:p14="http://schemas.microsoft.com/office/powerpoint/2010/main" val="1413049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2D4376-84D3-0897-0530-3D13D16007D6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חודשים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9A1F20-C7F4-DA99-669B-3B1D0B7A493C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3A56EB-9231-C0B8-76E4-EC59FEE193B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5F5F22-B25D-E011-1AD1-1CA4743E341E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3 / 29</a:t>
            </a:r>
          </a:p>
        </p:txBody>
      </p:sp>
    </p:spTree>
    <p:extLst>
      <p:ext uri="{BB962C8B-B14F-4D97-AF65-F5344CB8AC3E}">
        <p14:creationId xmlns:p14="http://schemas.microsoft.com/office/powerpoint/2010/main" val="2196546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6017F6-CCA9-2C91-DB96-B9DAF8BC672A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חודשים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330CA2-F3E5-A1FF-37AC-EE4A62CDD5D2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86288C-E2A2-865E-4A6C-D705D333794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83C767-38E9-F53C-75C8-85AAC22D215A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4 / 29</a:t>
            </a:r>
          </a:p>
        </p:txBody>
      </p:sp>
    </p:spTree>
    <p:extLst>
      <p:ext uri="{BB962C8B-B14F-4D97-AF65-F5344CB8AC3E}">
        <p14:creationId xmlns:p14="http://schemas.microsoft.com/office/powerpoint/2010/main" val="3544914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41BDCF-6220-570D-3DA5-3DD2E2363A94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מסמכים לפי חודשים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E36EE0-78F1-5463-FEF3-C34B5D688351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536973-F33C-C133-1853-B8374C6EA55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048EDF-6F67-6044-0652-8966593AA8D8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5 / 29</a:t>
            </a:r>
          </a:p>
        </p:txBody>
      </p:sp>
    </p:spTree>
    <p:extLst>
      <p:ext uri="{BB962C8B-B14F-4D97-AF65-F5344CB8AC3E}">
        <p14:creationId xmlns:p14="http://schemas.microsoft.com/office/powerpoint/2010/main" val="1865478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AE3A9C-7AF8-4F73-EEB3-1AE065300509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מבוטחים לפי חודשים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4E86F-147B-5AAE-B834-B531F11D8DE7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C9C940-ECE3-CABB-B5BA-1BEE4289850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C807C7-2790-2EF3-FCD5-4872AEB238FB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6 / 29</a:t>
            </a:r>
          </a:p>
        </p:txBody>
      </p:sp>
    </p:spTree>
    <p:extLst>
      <p:ext uri="{BB962C8B-B14F-4D97-AF65-F5344CB8AC3E}">
        <p14:creationId xmlns:p14="http://schemas.microsoft.com/office/powerpoint/2010/main" val="2381882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F1AA38-CB4B-2D5A-FA7A-F3840F972E4C}"/>
              </a:ext>
            </a:extLst>
          </p:cNvPr>
          <p:cNvSpPr txBox="1"/>
          <p:nvPr/>
        </p:nvSpPr>
        <p:spPr>
          <a:xfrm>
            <a:off x="254000" y="25400"/>
            <a:ext cx="1168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600" b="1">
                <a:solidFill>
                  <a:srgbClr val="323232"/>
                </a:solidFill>
              </a:rPr>
              <a:t>חודשים - טבלת נתונים</a:t>
            </a:r>
            <a:endParaRPr lang="en-IL" sz="16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C3AA7C-F065-6A98-B1A9-A9FA53460B9F}"/>
              </a:ext>
            </a:extLst>
          </p:cNvPr>
          <p:cNvSpPr txBox="1"/>
          <p:nvPr/>
        </p:nvSpPr>
        <p:spPr>
          <a:xfrm>
            <a:off x="508000" y="3556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000">
                <a:solidFill>
                  <a:srgbClr val="787878"/>
                </a:solidFill>
              </a:rPr>
              <a:t>שנתי | בורדרו</a:t>
            </a:r>
            <a:endParaRPr lang="en-IL" sz="1000">
              <a:solidFill>
                <a:srgbClr val="787878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6E7FA2C-01F8-F9F7-1D36-655D441CCA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387272"/>
              </p:ext>
            </p:extLst>
          </p:nvPr>
        </p:nvGraphicFramePr>
        <p:xfrm>
          <a:off x="127000" y="571500"/>
          <a:ext cx="1193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259475429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1321496111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298408106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160919313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305977186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663331178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1902791133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886290605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058557392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1496060496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631639513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3906259985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01479714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41466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13467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ינואר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5,414,115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4,918,165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821,840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799,618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30859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פברואר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2,918,679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2,905,849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1,278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881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441,742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460,625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82638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מרץ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2,076,749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2,427,657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312,768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420,340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64397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אפריל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2,805,638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2,991,717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1,198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792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414,819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438,131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15672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מאי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1,994,209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1,986,548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298,018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292,497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42146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יוני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2,079,395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2,261,144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312,094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345,976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6622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יולי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3,081,009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2,886,211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446,223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433,445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58527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אוגוסט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2,491,398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2,348,297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1,268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1,319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885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373,262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362,400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3024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ספטמבר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2,104,783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2,237,263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317,139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323,261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77708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אוקטובר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1,969,127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1,944,276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1,321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725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292,153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281,455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81720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נובמבר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2,286,968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2,605,461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331,886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350,916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04591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דצמבר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2,182,095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2,852,829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30.7%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1,409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26.7%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705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927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31.5%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304,135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573,242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88.5%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36108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31,404,164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32,365,418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3.1%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14,906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15,885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6.6%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4,995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4,958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4,666,078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5,081,906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8.9%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67196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7D55AE5-0554-C713-D85F-0D6D97EDFA37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7 / 29</a:t>
            </a:r>
          </a:p>
        </p:txBody>
      </p:sp>
    </p:spTree>
    <p:extLst>
      <p:ext uri="{BB962C8B-B14F-4D97-AF65-F5344CB8AC3E}">
        <p14:creationId xmlns:p14="http://schemas.microsoft.com/office/powerpoint/2010/main" val="1118995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81C21B-4FB8-EEB8-39A8-F98CCC91D88E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חברות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3CBD5A-502E-935F-3AC7-1C588CA8CE12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DFF72E-6B6D-3464-8A18-2C5C1509EDE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E28802-CFB6-950F-2DFC-D6150C99674F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8 / 29</a:t>
            </a:r>
          </a:p>
        </p:txBody>
      </p:sp>
    </p:spTree>
    <p:extLst>
      <p:ext uri="{BB962C8B-B14F-4D97-AF65-F5344CB8AC3E}">
        <p14:creationId xmlns:p14="http://schemas.microsoft.com/office/powerpoint/2010/main" val="1642825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5C231E-2AC3-ABCF-1AF7-7EA0D22E6321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חברות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63BBEA-074F-4591-5A87-541F70658986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4156B0-6E4C-0B7B-1366-48092E4C616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0FDDFE-7F2A-626E-C8D2-D9A16FDA226F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9 / 29</a:t>
            </a:r>
          </a:p>
        </p:txBody>
      </p:sp>
    </p:spTree>
    <p:extLst>
      <p:ext uri="{BB962C8B-B14F-4D97-AF65-F5344CB8AC3E}">
        <p14:creationId xmlns:p14="http://schemas.microsoft.com/office/powerpoint/2010/main" val="3774225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C428D4-6768-CDAA-138F-C7E0833A9746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מסמכים לפי חברות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C8CBF7-B76F-A1BD-A7C0-EF134D142377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9982B6-032D-08EA-AC23-48D6E68FEC9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EA881A-F618-391A-C8C6-A23CA90802A8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10 / 29</a:t>
            </a:r>
          </a:p>
        </p:txBody>
      </p:sp>
    </p:spTree>
    <p:extLst>
      <p:ext uri="{BB962C8B-B14F-4D97-AF65-F5344CB8AC3E}">
        <p14:creationId xmlns:p14="http://schemas.microsoft.com/office/powerpoint/2010/main" val="774756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6F608F-DCDC-F737-C678-25BCB8E16FC5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מבוטחים לפי חברות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5AD5DC-5EE1-F5AC-6922-AFBA84AD8E64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DA4F4E-696F-1027-B834-D3F457221CA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77613B-BF9E-F80B-D108-D5FCA04AF491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11 / 29</a:t>
            </a:r>
          </a:p>
        </p:txBody>
      </p:sp>
    </p:spTree>
    <p:extLst>
      <p:ext uri="{BB962C8B-B14F-4D97-AF65-F5344CB8AC3E}">
        <p14:creationId xmlns:p14="http://schemas.microsoft.com/office/powerpoint/2010/main" val="3953712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77A512-0BA1-BBCA-6DE8-95ADEA36B2A6}"/>
              </a:ext>
            </a:extLst>
          </p:cNvPr>
          <p:cNvSpPr txBox="1"/>
          <p:nvPr/>
        </p:nvSpPr>
        <p:spPr>
          <a:xfrm>
            <a:off x="254000" y="25400"/>
            <a:ext cx="1168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600" b="1">
                <a:solidFill>
                  <a:srgbClr val="323232"/>
                </a:solidFill>
              </a:rPr>
              <a:t>חברות - טבלת נתונים</a:t>
            </a:r>
            <a:endParaRPr lang="en-IL" sz="16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259355-AEAC-AC99-AD63-C152D27AA196}"/>
              </a:ext>
            </a:extLst>
          </p:cNvPr>
          <p:cNvSpPr txBox="1"/>
          <p:nvPr/>
        </p:nvSpPr>
        <p:spPr>
          <a:xfrm>
            <a:off x="508000" y="3556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000">
                <a:solidFill>
                  <a:srgbClr val="787878"/>
                </a:solidFill>
              </a:rPr>
              <a:t>שנתי | בורדרו</a:t>
            </a:r>
            <a:endParaRPr lang="en-IL" sz="1000">
              <a:solidFill>
                <a:srgbClr val="787878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8155940-E97F-7B47-9936-6EA04DB578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867177"/>
              </p:ext>
            </p:extLst>
          </p:nvPr>
        </p:nvGraphicFramePr>
        <p:xfrm>
          <a:off x="127000" y="571500"/>
          <a:ext cx="11938000" cy="264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966142481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2489443239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1088873268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972925341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701460143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4240665642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483964657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158888983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874112222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925391252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798511297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112460935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575599016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22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93236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הפניקס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6,135,825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7,796,008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3,598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5,108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786,518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1,002,350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05798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כלל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8,001,357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7,146,803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4,659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4,236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2,174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1,982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-8.8%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1,388,401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1,568,873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13.0%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77004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הראל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3,014,006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3,174,890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398,797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424,444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68513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איילון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11,121,796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11,198,756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3,290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3,108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1,849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1,613,797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1,640,999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219249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הכשרה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247,788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780,042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214.8%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228.2%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30,594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88,365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99551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מגדל (המגן) חברה לביטוח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2,059,211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1,658,618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-19.5%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821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666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-18.9%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486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-21.8%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286,840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229,222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-20.1%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22309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הכשרה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569,943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378,872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70,681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38,185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05936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קופרנינוה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49,574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20,611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-58.4%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40366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דרכים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204,663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197,942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90,450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87,851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19048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קש חתמים בינלאומיים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12,875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1,618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65001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31,404,164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32,365,418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3.1%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14,906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15,885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6.6%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4,995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4,958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4,666,078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5,081,906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8.9%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7930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A0DBDBF-B523-21AF-8BB5-96CC1BDF7828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12 / 29</a:t>
            </a:r>
          </a:p>
        </p:txBody>
      </p:sp>
    </p:spTree>
    <p:extLst>
      <p:ext uri="{BB962C8B-B14F-4D97-AF65-F5344CB8AC3E}">
        <p14:creationId xmlns:p14="http://schemas.microsoft.com/office/powerpoint/2010/main" val="3364984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0125BE-E924-4805-FA01-8A523FDD4802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ענף מרכז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D55886-4563-1957-E5A5-41BB935A860F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D83450-A542-8710-5E72-B88ED64BA59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C8ABDC-4F51-D38D-70E1-ED805BD7EDC1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13 / 29</a:t>
            </a:r>
          </a:p>
        </p:txBody>
      </p:sp>
    </p:spTree>
    <p:extLst>
      <p:ext uri="{BB962C8B-B14F-4D97-AF65-F5344CB8AC3E}">
        <p14:creationId xmlns:p14="http://schemas.microsoft.com/office/powerpoint/2010/main" val="1813477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727959-6CB2-5ECC-1CDB-9A7D1361D319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ענף מרכז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A508F9-F2E1-63ED-E1A6-805C14D6466B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1B9BCC-1344-6102-DBE5-D2FCC2575E8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60986A-5EDE-04C2-E4D6-784BDA5A219B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14 / 29</a:t>
            </a:r>
          </a:p>
        </p:txBody>
      </p:sp>
    </p:spTree>
    <p:extLst>
      <p:ext uri="{BB962C8B-B14F-4D97-AF65-F5344CB8AC3E}">
        <p14:creationId xmlns:p14="http://schemas.microsoft.com/office/powerpoint/2010/main" val="745567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E09589-89E7-3982-9496-A1B81FAAE8F7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מסמכים לפי ענף מרכז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C45DA2-A827-555C-62B0-C7E6F1ECC30D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B3502B-6685-DA9C-AF65-59BA741F2EE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6476C9-7C20-5EE9-86F7-5ED0FA61B868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15 / 29</a:t>
            </a:r>
          </a:p>
        </p:txBody>
      </p:sp>
    </p:spTree>
    <p:extLst>
      <p:ext uri="{BB962C8B-B14F-4D97-AF65-F5344CB8AC3E}">
        <p14:creationId xmlns:p14="http://schemas.microsoft.com/office/powerpoint/2010/main" val="556510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D132BD-93F9-D0C7-59D6-157CC609E08D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מבוטחים לפי ענף מרכז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8E26EA-D828-65D6-F646-8D2AB277076C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7A6686-53A7-7C76-7ED7-99DDE0D9EAB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BEB8E3-9898-9F13-9DAC-6E45C29537CD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16 / 29</a:t>
            </a:r>
          </a:p>
        </p:txBody>
      </p:sp>
    </p:spTree>
    <p:extLst>
      <p:ext uri="{BB962C8B-B14F-4D97-AF65-F5344CB8AC3E}">
        <p14:creationId xmlns:p14="http://schemas.microsoft.com/office/powerpoint/2010/main" val="4277442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B2B722-316A-4DE1-1F76-DF2F46C493BF}"/>
              </a:ext>
            </a:extLst>
          </p:cNvPr>
          <p:cNvSpPr txBox="1"/>
          <p:nvPr/>
        </p:nvSpPr>
        <p:spPr>
          <a:xfrm>
            <a:off x="254000" y="25400"/>
            <a:ext cx="1168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600" b="1">
                <a:solidFill>
                  <a:srgbClr val="323232"/>
                </a:solidFill>
              </a:rPr>
              <a:t>ענף מרכז - טבלת נתונים</a:t>
            </a:r>
            <a:endParaRPr lang="en-IL" sz="16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77708-D99C-99E2-8B0F-4B615429E2C8}"/>
              </a:ext>
            </a:extLst>
          </p:cNvPr>
          <p:cNvSpPr txBox="1"/>
          <p:nvPr/>
        </p:nvSpPr>
        <p:spPr>
          <a:xfrm>
            <a:off x="508000" y="3556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000">
                <a:solidFill>
                  <a:srgbClr val="787878"/>
                </a:solidFill>
              </a:rPr>
              <a:t>שנתי | בורדרו</a:t>
            </a:r>
            <a:endParaRPr lang="en-IL" sz="1000">
              <a:solidFill>
                <a:srgbClr val="787878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8E8B39-D51A-78F9-98B5-E74DD2B578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976550"/>
              </p:ext>
            </p:extLst>
          </p:nvPr>
        </p:nvGraphicFramePr>
        <p:xfrm>
          <a:off x="127000" y="571500"/>
          <a:ext cx="11938000" cy="28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1191167021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2568687565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3787699245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363849617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532907507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43319009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676999218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586243275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140993787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866233527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1244237830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4026851131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181535926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32457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80690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חבויות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2,265,304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2,211,042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-63.9%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325,711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269,335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2644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דירות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3,943,434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2,944,183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-25.3%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2,380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2,209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-7.2%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1,585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1,455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-8.2%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628,813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465,006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-26.1%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1878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טרקטורים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1,483,875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1,186,488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333,141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283,537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34149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רכב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10,629,400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10,753,035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6,787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7,923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16.7%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2,331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2,384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1,416,837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1,482,967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04966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רכב אחר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1,786,439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1,926,688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259,056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271,234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82807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חבר מושב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7,089,776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7,383,580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1,305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1,333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1,023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1,009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1,078,461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1,109,382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84233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צמ"ה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354,302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55,035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06546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בית עסק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1,258,658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4,179,204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232.0%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231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954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313.0%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529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209.4%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226,477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672,294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196.8%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532508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נסיעות לחו"ל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107,691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156,760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25,620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38,042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82658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עבודות קבלניות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144,193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15,829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89897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אש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745,952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790,046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74,238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80,452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34927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ימי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16,657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10,141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09354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שונות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2,093,635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319,240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-84.8%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-68.8%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-72.3%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297,724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328,653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57169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31,404,164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32,365,418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3.1%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14,906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15,885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6.6%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4,995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4,958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4,666,078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5,081,906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8.9%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9601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D6BC386-0E6F-571E-1DB7-D474EB0C0AAE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17 / 29</a:t>
            </a:r>
          </a:p>
        </p:txBody>
      </p:sp>
    </p:spTree>
    <p:extLst>
      <p:ext uri="{BB962C8B-B14F-4D97-AF65-F5344CB8AC3E}">
        <p14:creationId xmlns:p14="http://schemas.microsoft.com/office/powerpoint/2010/main" val="1331891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04DE77-4EEF-95BF-6401-111084F49373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טלריות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639B5D-AD73-29C5-2E18-C00FEAA3AE61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7A3007-BAB5-537D-113B-DB262CC85EE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B76868-5AF6-A0D7-492D-E0F01F2073EF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18 / 29</a:t>
            </a:r>
          </a:p>
        </p:txBody>
      </p:sp>
    </p:spTree>
    <p:extLst>
      <p:ext uri="{BB962C8B-B14F-4D97-AF65-F5344CB8AC3E}">
        <p14:creationId xmlns:p14="http://schemas.microsoft.com/office/powerpoint/2010/main" val="1003982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5EE2A6-EA17-932F-21F2-D49AA46348AF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טלריות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2C0E60-DB5C-E995-2CD4-92DC53AA0A53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BF8DB0-E988-CEC0-E15D-076C21431B8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3C3223-BE8C-39A2-A37A-3DE16F15A842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19 / 29</a:t>
            </a:r>
          </a:p>
        </p:txBody>
      </p:sp>
    </p:spTree>
    <p:extLst>
      <p:ext uri="{BB962C8B-B14F-4D97-AF65-F5344CB8AC3E}">
        <p14:creationId xmlns:p14="http://schemas.microsoft.com/office/powerpoint/2010/main" val="1714214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83F5A0-BDCD-D750-7269-D36238B64551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מסמכים לפי טלריות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C28B53-BDAC-4470-9802-F390AABA71EE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C35B90-FAF8-6339-FB4E-613D6F8B91C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2E525F-6776-8720-1BBC-D47A008201A4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20 / 29</a:t>
            </a:r>
          </a:p>
        </p:txBody>
      </p:sp>
    </p:spTree>
    <p:extLst>
      <p:ext uri="{BB962C8B-B14F-4D97-AF65-F5344CB8AC3E}">
        <p14:creationId xmlns:p14="http://schemas.microsoft.com/office/powerpoint/2010/main" val="3282987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EBAE6C-F606-5EAD-64EF-0E73557ACF50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מבוטחים לפי טלריות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7B235-F1A8-C22D-40F2-EC2D7F82BAC4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B4F344-9320-1A49-C982-B7466EBDED1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AFB61A-D2B5-089A-D737-49A32EB6FFC1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21 / 29</a:t>
            </a:r>
          </a:p>
        </p:txBody>
      </p:sp>
    </p:spTree>
    <p:extLst>
      <p:ext uri="{BB962C8B-B14F-4D97-AF65-F5344CB8AC3E}">
        <p14:creationId xmlns:p14="http://schemas.microsoft.com/office/powerpoint/2010/main" val="9233402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5B1632-3278-1E3A-9036-4BD2A5EEE5DC}"/>
              </a:ext>
            </a:extLst>
          </p:cNvPr>
          <p:cNvSpPr txBox="1"/>
          <p:nvPr/>
        </p:nvSpPr>
        <p:spPr>
          <a:xfrm>
            <a:off x="254000" y="25400"/>
            <a:ext cx="1168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600" b="1">
                <a:solidFill>
                  <a:srgbClr val="323232"/>
                </a:solidFill>
              </a:rPr>
              <a:t>טלריות - טבלת נתונים</a:t>
            </a:r>
            <a:endParaRPr lang="en-IL" sz="16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6B6705-923A-C5B1-EDBF-F7004A954376}"/>
              </a:ext>
            </a:extLst>
          </p:cNvPr>
          <p:cNvSpPr txBox="1"/>
          <p:nvPr/>
        </p:nvSpPr>
        <p:spPr>
          <a:xfrm>
            <a:off x="508000" y="3556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000">
                <a:solidFill>
                  <a:srgbClr val="787878"/>
                </a:solidFill>
              </a:rPr>
              <a:t>שנתי | בורדרו</a:t>
            </a:r>
            <a:endParaRPr lang="en-IL" sz="1000">
              <a:solidFill>
                <a:srgbClr val="787878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A143B7-25CD-36DE-68A5-A4C9F88FD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129712"/>
              </p:ext>
            </p:extLst>
          </p:nvPr>
        </p:nvGraphicFramePr>
        <p:xfrm>
          <a:off x="127000" y="571500"/>
          <a:ext cx="1193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914411600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3905286101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2850142723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1483838712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4194790988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695162177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1193971506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516634115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143116668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920000121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4096926511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3318778255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174393877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4211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65408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יאנה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2,809,902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3,083,690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405,136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424,085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4482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טל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2,940,927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2,996,826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1,663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527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511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444,638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453,856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52763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עליזה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4,493,179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4,489,051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636,509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620,283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6122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ליאת רוזנר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2,559,532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2,602,892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1,431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550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391,324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397,241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88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ראדה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3,453,351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3,425,153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510,036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811,942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40893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רוני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2,981,583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3,087,837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1,344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1,448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456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457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427,317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440,068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102511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ויויאן אוחיון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2,496,840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2,954,555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349,810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424,341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689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אירית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3,166,782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3,115,342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640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611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481,623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489,359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796763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מירה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3,413,019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3,526,256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537,802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553,463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77151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סימה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3,066,297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3,058,122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1,244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1,343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476,249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461,675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54359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שונות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20,124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17,105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5,009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4,269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94638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****לא פעילים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2,389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2,718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13.7%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565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669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8512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ריק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5,607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21468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ב.חיים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265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4754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מסמכים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37962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31,404,164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32,365,418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3.1%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14,906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15,885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6.6%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4,995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4,958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4,666,078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5,081,906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8.9%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927509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11D9B3C-DD7A-69D4-C839-0908FF1B63B2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22 / 29</a:t>
            </a:r>
          </a:p>
        </p:txBody>
      </p:sp>
    </p:spTree>
    <p:extLst>
      <p:ext uri="{BB962C8B-B14F-4D97-AF65-F5344CB8AC3E}">
        <p14:creationId xmlns:p14="http://schemas.microsoft.com/office/powerpoint/2010/main" val="14619581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1B6837-FEDF-8306-7E71-99DBAB9C0C83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סוכנים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9D5E07-9F02-331F-1938-E52C403DCD99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0D2AB3-84AC-789D-9FDE-6A96A95B238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3E4176-2CF3-60DC-0E9B-FDE217890893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23 / 29</a:t>
            </a:r>
          </a:p>
        </p:txBody>
      </p:sp>
    </p:spTree>
    <p:extLst>
      <p:ext uri="{BB962C8B-B14F-4D97-AF65-F5344CB8AC3E}">
        <p14:creationId xmlns:p14="http://schemas.microsoft.com/office/powerpoint/2010/main" val="39035855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E921E0-EDF6-EF63-AAA2-F0CFBC76EF0C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סוכנים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680C3F-5755-EE9B-A67E-3C79465E2BF2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02E9EE-4405-7CDB-A4F1-AB0A8B420D6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1F5FF7-A317-B66F-8F3A-7A5E8466A29B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24 / 29</a:t>
            </a:r>
          </a:p>
        </p:txBody>
      </p:sp>
    </p:spTree>
    <p:extLst>
      <p:ext uri="{BB962C8B-B14F-4D97-AF65-F5344CB8AC3E}">
        <p14:creationId xmlns:p14="http://schemas.microsoft.com/office/powerpoint/2010/main" val="17426222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3C01D7-F9BF-E2BE-4873-AD4504C4192E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מסמכים לפי סוכנים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0BD568-9E12-DE71-7114-65E35DD24FEF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DC3AA6-B04F-00B2-E0FF-C6E888AF95C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D46607-6CF5-5B8B-FCA4-A17DB0722C6B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25 / 29</a:t>
            </a:r>
          </a:p>
        </p:txBody>
      </p:sp>
    </p:spTree>
    <p:extLst>
      <p:ext uri="{BB962C8B-B14F-4D97-AF65-F5344CB8AC3E}">
        <p14:creationId xmlns:p14="http://schemas.microsoft.com/office/powerpoint/2010/main" val="38131498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C073F3-5732-835E-CB0C-46FB22497B95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מבוטחים לפי סוכנים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261DC2-ECFA-D791-8299-119421099553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43DE36-2C8F-C28C-B105-3E11EBC35AC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2804AA-7E88-5B5F-35E8-E4A6C824F716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26 / 29</a:t>
            </a:r>
          </a:p>
        </p:txBody>
      </p:sp>
    </p:spTree>
    <p:extLst>
      <p:ext uri="{BB962C8B-B14F-4D97-AF65-F5344CB8AC3E}">
        <p14:creationId xmlns:p14="http://schemas.microsoft.com/office/powerpoint/2010/main" val="8566889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F6AE69-4066-F9BF-83AF-78294E04ED8E}"/>
              </a:ext>
            </a:extLst>
          </p:cNvPr>
          <p:cNvSpPr txBox="1"/>
          <p:nvPr/>
        </p:nvSpPr>
        <p:spPr>
          <a:xfrm>
            <a:off x="254000" y="25400"/>
            <a:ext cx="1168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600" b="1">
                <a:solidFill>
                  <a:srgbClr val="323232"/>
                </a:solidFill>
              </a:rPr>
              <a:t>סוכנים - טבלת נתונים</a:t>
            </a:r>
            <a:endParaRPr lang="en-IL" sz="16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775514-564F-9465-FE01-49BAB3630AEA}"/>
              </a:ext>
            </a:extLst>
          </p:cNvPr>
          <p:cNvSpPr txBox="1"/>
          <p:nvPr/>
        </p:nvSpPr>
        <p:spPr>
          <a:xfrm>
            <a:off x="508000" y="3556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000">
                <a:solidFill>
                  <a:srgbClr val="787878"/>
                </a:solidFill>
              </a:rPr>
              <a:t>שנתי | בורדרו</a:t>
            </a:r>
            <a:endParaRPr lang="en-IL" sz="1000">
              <a:solidFill>
                <a:srgbClr val="787878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B21244-AC65-F76E-0D7B-DDA7D78265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152938"/>
              </p:ext>
            </p:extLst>
          </p:nvPr>
        </p:nvGraphicFramePr>
        <p:xfrm>
          <a:off x="127000" y="571500"/>
          <a:ext cx="119380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1967859651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3307377882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4164096137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880357291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896353618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651950898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972620918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970737901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808334100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1238083545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831156687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354566039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934564167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09835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5208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לבב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24,490,790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25,452,450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11,502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12,319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3,610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3,627,097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4,029,276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987028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אבנר פינקל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415,909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393,659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-13.2%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66,081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62,328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92455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ויויאן אוחיון -חדש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1,082,789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1,314,738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142,588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182,467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58409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בית יצחק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2,680,755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2,605,716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1,334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1,395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549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528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408,340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408,958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4989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קוסטה זהבה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53,177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51,546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8,090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8,015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88831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דינה טל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196,605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212,269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29,267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33,577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72311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התיכון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574,965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572,544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91,777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91,162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27224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מאיר נתן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297,660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251,846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-15.4%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-12.7%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-7.0%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47,713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37,688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-21.0%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70911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בני עטרות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311,110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322,654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46,959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48,411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77831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רשפון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692,512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676,529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262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103,386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98,077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03651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רונן וינוגרד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76,516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44,046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12,446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74263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לנדסברג נגה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379,331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365,117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221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-8.7%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60,319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58,381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64869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מסמכים לבב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20,124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17,105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5,009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4,269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07044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***לא פעילים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94,393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48,763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-48.3%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-12.1%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11,428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7,007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-38.7%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4502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מני קדוש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13,335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9,847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17097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פסח פלדמן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4,063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3,930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660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-35.6%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26076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דנה ליסט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6,406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4,484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59476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שרמן סוכנויות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9,167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10,746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1,038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1,291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85849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ז'קלין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84521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חן סדרס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594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3,780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536.4%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158.0%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53053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31,404,164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32,365,418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3.1%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14,906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15,885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6.6%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4,995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4,958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4,666,078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5,081,906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8.9%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07694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13F7377-10B6-4A42-80F1-175063142AF9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27 / 29</a:t>
            </a:r>
          </a:p>
        </p:txBody>
      </p:sp>
    </p:spTree>
    <p:extLst>
      <p:ext uri="{BB962C8B-B14F-4D97-AF65-F5344CB8AC3E}">
        <p14:creationId xmlns:p14="http://schemas.microsoft.com/office/powerpoint/2010/main" val="23444199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0DEBF8-BE02-6DA0-ECDB-A93079E6E45C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סוכנים ללא לבב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1BEBBB-8F72-3CC9-FD27-8628288B3CE8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57A319-15A6-358A-899C-9F785C1311C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AD6FA8-9604-3843-BC15-FD150479EE8B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28 / 29</a:t>
            </a:r>
          </a:p>
        </p:txBody>
      </p:sp>
    </p:spTree>
    <p:extLst>
      <p:ext uri="{BB962C8B-B14F-4D97-AF65-F5344CB8AC3E}">
        <p14:creationId xmlns:p14="http://schemas.microsoft.com/office/powerpoint/2010/main" val="21207888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68B641-E4C5-D236-421A-F1B6133FB1E4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סוכנים ללא לבב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A98546-DBBC-5A88-A120-4BFCFE6283C5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7B87E4-A26A-30F1-580C-C63FD9E6E90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1F1D37-A99B-6C76-1037-07C78A4BB677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29 / 29</a:t>
            </a:r>
          </a:p>
        </p:txBody>
      </p:sp>
    </p:spTree>
    <p:extLst>
      <p:ext uri="{BB962C8B-B14F-4D97-AF65-F5344CB8AC3E}">
        <p14:creationId xmlns:p14="http://schemas.microsoft.com/office/powerpoint/2010/main" val="2054667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1865</Words>
  <Application>Microsoft Office PowerPoint</Application>
  <PresentationFormat>Custom</PresentationFormat>
  <Paragraphs>1144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צבי גורן</dc:creator>
  <cp:lastModifiedBy>צבי גורן</cp:lastModifiedBy>
  <cp:revision>1</cp:revision>
  <dcterms:created xsi:type="dcterms:W3CDTF">2026-05-13T14:40:52Z</dcterms:created>
  <dcterms:modified xsi:type="dcterms:W3CDTF">2026-05-13T14:41:44Z</dcterms:modified>
</cp:coreProperties>
</file>