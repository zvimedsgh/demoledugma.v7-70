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13" autoAdjust="0"/>
    <p:restoredTop sz="94660"/>
  </p:normalViewPr>
  <p:slideViewPr>
    <p:cSldViewPr snapToGrid="0">
      <p:cViewPr varScale="1">
        <p:scale>
          <a:sx n="63" d="100"/>
          <a:sy n="63" d="100"/>
        </p:scale>
        <p:origin x="27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ehudith\Desktop\&#1504;&#1514;&#1493;&#1504;&#1497;&#1501;%20&#1500;&#1492;&#1513;&#1493;&#1493;&#1488;&#1492;%202022%20&#1502;&#1493;&#1500;%202023%20&#1505;&#1490;&#1493;&#1512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ehudith\Desktop\&#1504;&#1514;&#1493;&#1504;&#1497;&#1501;%20&#1500;&#1492;&#1513;&#1493;&#1493;&#1488;&#1492;%202022%20&#1502;&#1493;&#1500;%202023%20&#1505;&#1490;&#1493;&#1512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ehudith\Desktop\&#1504;&#1514;&#1493;&#1504;&#1497;&#1501;%20&#1500;&#1492;&#1513;&#1493;&#1493;&#1488;&#1492;%202022%20&#1502;&#1493;&#1500;%202023%20&#1505;&#1490;&#1493;&#1512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ehudith\Desktop\&#1504;&#1514;&#1493;&#1504;&#1497;&#1501;%20&#1500;&#1492;&#1513;&#1493;&#1493;&#1488;&#1492;%202022%20&#1502;&#1493;&#1500;%202023%20&#1505;&#1490;&#1493;&#1512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ehudith\Desktop\&#1504;&#1514;&#1493;&#1504;&#1497;&#1501;%20&#1500;&#1492;&#1513;&#1493;&#1493;&#1488;&#1492;%202022%20&#1502;&#1493;&#1500;%202023%20&#1505;&#1490;&#1493;&#1512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ehudith\Desktop\&#1504;&#1514;&#1493;&#1504;&#1497;&#1501;%20&#1500;&#1492;&#1513;&#1493;&#1493;&#1488;&#1492;%202022%20&#1502;&#1493;&#1500;%202023%20&#1505;&#1490;&#1493;&#1512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ehudith\Desktop\&#1504;&#1514;&#1493;&#1504;&#1497;&#1501;%20&#1500;&#1492;&#1513;&#1493;&#1493;&#1488;&#1492;%202022%20&#1502;&#1493;&#1500;%202023%20&#1505;&#1490;&#1493;&#1512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ehudith\Desktop\&#1504;&#1514;&#1493;&#1504;&#1497;&#1501;%20&#1500;&#1492;&#1513;&#1493;&#1493;&#1488;&#1492;%202022%20&#1502;&#1493;&#1500;%202023%20&#1505;&#1490;&#1493;&#1512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e-IL"/>
              <a:t>סה"כ פרמיות ועמלות</a:t>
            </a:r>
          </a:p>
          <a:p>
            <a:pPr>
              <a:defRPr/>
            </a:pPr>
            <a:r>
              <a:rPr lang="he-IL"/>
              <a:t>2022 מול 2023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plotArea>
      <c:layout>
        <c:manualLayout>
          <c:layoutTarget val="inner"/>
          <c:xMode val="edge"/>
          <c:yMode val="edge"/>
          <c:x val="4.3195571489584396E-2"/>
          <c:y val="0.22395918330718115"/>
          <c:w val="0.76784965050739584"/>
          <c:h val="0.532096006971264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חברות!$K$5:$K$6</c:f>
              <c:strCache>
                <c:ptCount val="2"/>
                <c:pt idx="0">
                  <c:v>עמלות</c:v>
                </c:pt>
                <c:pt idx="1">
                  <c:v>2022</c:v>
                </c:pt>
              </c:strCache>
            </c:strRef>
          </c:tx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חברות!$J$17</c:f>
              <c:strCache>
                <c:ptCount val="1"/>
                <c:pt idx="0">
                  <c:v>סכום כולל</c:v>
                </c:pt>
              </c:strCache>
              <c:extLst/>
            </c:strRef>
          </c:cat>
          <c:val>
            <c:numRef>
              <c:f>חברות!$K$17</c:f>
              <c:numCache>
                <c:formatCode>_ * #,##0_ ;_ * \-#,##0_ ;_ * "-"??_ ;_ @_ </c:formatCode>
                <c:ptCount val="1"/>
                <c:pt idx="0">
                  <c:v>8507446.9399999939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2565-418B-8801-BFC144F03BB7}"/>
            </c:ext>
          </c:extLst>
        </c:ser>
        <c:ser>
          <c:idx val="1"/>
          <c:order val="1"/>
          <c:tx>
            <c:strRef>
              <c:f>חברות!$L$5:$L$6</c:f>
              <c:strCache>
                <c:ptCount val="2"/>
                <c:pt idx="0">
                  <c:v>עמלות</c:v>
                </c:pt>
                <c:pt idx="1">
                  <c:v>2023</c:v>
                </c:pt>
              </c:strCache>
            </c:strRef>
          </c:tx>
          <c:spPr>
            <a:pattFill prst="narHorz">
              <a:fgClr>
                <a:schemeClr val="accent2"/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2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חברות!$J$17</c:f>
              <c:strCache>
                <c:ptCount val="1"/>
                <c:pt idx="0">
                  <c:v>סכום כולל</c:v>
                </c:pt>
              </c:strCache>
              <c:extLst/>
            </c:strRef>
          </c:cat>
          <c:val>
            <c:numRef>
              <c:f>חברות!$L$17</c:f>
              <c:numCache>
                <c:formatCode>_ * #,##0_ ;_ * \-#,##0_ ;_ * "-"??_ ;_ @_ </c:formatCode>
                <c:ptCount val="1"/>
                <c:pt idx="0">
                  <c:v>9277575.1400000006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2565-418B-8801-BFC144F03BB7}"/>
            </c:ext>
          </c:extLst>
        </c:ser>
        <c:ser>
          <c:idx val="3"/>
          <c:order val="3"/>
          <c:tx>
            <c:strRef>
              <c:f>חברות!$N$5:$N$6</c:f>
              <c:strCache>
                <c:ptCount val="2"/>
                <c:pt idx="0">
                  <c:v>פרמיות</c:v>
                </c:pt>
                <c:pt idx="1">
                  <c:v>2022</c:v>
                </c:pt>
              </c:strCache>
            </c:strRef>
          </c:tx>
          <c:spPr>
            <a:pattFill prst="narHorz">
              <a:fgClr>
                <a:schemeClr val="accent4"/>
              </a:fgClr>
              <a:bgClr>
                <a:schemeClr val="accent4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4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חברות!$J$17</c:f>
              <c:strCache>
                <c:ptCount val="1"/>
                <c:pt idx="0">
                  <c:v>סכום כולל</c:v>
                </c:pt>
              </c:strCache>
              <c:extLst/>
            </c:strRef>
          </c:cat>
          <c:val>
            <c:numRef>
              <c:f>חברות!$N$17</c:f>
              <c:numCache>
                <c:formatCode>_ * #,##0_ ;_ * \-#,##0_ ;_ * "-"??_ ;_ @_ </c:formatCode>
                <c:ptCount val="1"/>
                <c:pt idx="0">
                  <c:v>54672390.060000002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2565-418B-8801-BFC144F03BB7}"/>
            </c:ext>
          </c:extLst>
        </c:ser>
        <c:ser>
          <c:idx val="4"/>
          <c:order val="4"/>
          <c:tx>
            <c:strRef>
              <c:f>חברות!$O$5:$O$6</c:f>
              <c:strCache>
                <c:ptCount val="2"/>
                <c:pt idx="0">
                  <c:v>פרמיות</c:v>
                </c:pt>
                <c:pt idx="1">
                  <c:v>2023</c:v>
                </c:pt>
              </c:strCache>
            </c:strRef>
          </c:tx>
          <c:spPr>
            <a:pattFill prst="narHorz">
              <a:fgClr>
                <a:schemeClr val="accent5"/>
              </a:fgClr>
              <a:bgClr>
                <a:schemeClr val="accent5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5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חברות!$J$17</c:f>
              <c:strCache>
                <c:ptCount val="1"/>
                <c:pt idx="0">
                  <c:v>סכום כולל</c:v>
                </c:pt>
              </c:strCache>
              <c:extLst/>
            </c:strRef>
          </c:cat>
          <c:val>
            <c:numRef>
              <c:f>חברות!$O$17</c:f>
              <c:numCache>
                <c:formatCode>_ * #,##0_ ;_ * \-#,##0_ ;_ * "-"??_ ;_ @_ </c:formatCode>
                <c:ptCount val="1"/>
                <c:pt idx="0">
                  <c:v>60608529.390000001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3-2565-418B-8801-BFC144F03B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4"/>
        <c:overlap val="-22"/>
        <c:axId val="1043666024"/>
        <c:axId val="104365882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חברות!$M$5:$M$6</c15:sqref>
                        </c15:formulaRef>
                      </c:ext>
                    </c:extLst>
                    <c:strCache>
                      <c:ptCount val="2"/>
                      <c:pt idx="0">
                        <c:v>עמלות</c:v>
                      </c:pt>
                      <c:pt idx="1">
                        <c:v>שינוי</c:v>
                      </c:pt>
                    </c:strCache>
                  </c:strRef>
                </c:tx>
                <c:spPr>
                  <a:pattFill prst="narHorz">
                    <a:fgClr>
                      <a:schemeClr val="accent3"/>
                    </a:fgClr>
                    <a:bgClr>
                      <a:schemeClr val="accent3">
                        <a:lumMod val="20000"/>
                        <a:lumOff val="80000"/>
                      </a:schemeClr>
                    </a:bgClr>
                  </a:pattFill>
                  <a:ln>
                    <a:noFill/>
                  </a:ln>
                  <a:effectLst>
                    <a:innerShdw blurRad="114300">
                      <a:schemeClr val="accent3"/>
                    </a:innerShdw>
                  </a:effectLst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חברות!$J$17</c15:sqref>
                        </c15:formulaRef>
                      </c:ext>
                    </c:extLst>
                    <c:strCache>
                      <c:ptCount val="1"/>
                      <c:pt idx="0">
                        <c:v>סכום כולל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חברות!$M$17</c15:sqref>
                        </c15:formulaRef>
                      </c:ext>
                    </c:extLst>
                    <c:numCache>
                      <c:formatCode>0%</c:formatCode>
                      <c:ptCount val="1"/>
                      <c:pt idx="0">
                        <c:v>1.0905240086046317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4-2565-418B-8801-BFC144F03BB7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חברות!$P$5:$P$6</c15:sqref>
                        </c15:formulaRef>
                      </c:ext>
                    </c:extLst>
                    <c:strCache>
                      <c:ptCount val="2"/>
                      <c:pt idx="0">
                        <c:v>פרמיות</c:v>
                      </c:pt>
                      <c:pt idx="1">
                        <c:v>שינוי</c:v>
                      </c:pt>
                    </c:strCache>
                  </c:strRef>
                </c:tx>
                <c:spPr>
                  <a:pattFill prst="narHorz">
                    <a:fgClr>
                      <a:schemeClr val="accent6"/>
                    </a:fgClr>
                    <a:bgClr>
                      <a:schemeClr val="accent6">
                        <a:lumMod val="20000"/>
                        <a:lumOff val="80000"/>
                      </a:schemeClr>
                    </a:bgClr>
                  </a:pattFill>
                  <a:ln>
                    <a:noFill/>
                  </a:ln>
                  <a:effectLst>
                    <a:innerShdw blurRad="114300">
                      <a:schemeClr val="accent6"/>
                    </a:innerShdw>
                  </a:effectLst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חברות!$J$17</c15:sqref>
                        </c15:formulaRef>
                      </c:ext>
                    </c:extLst>
                    <c:strCache>
                      <c:ptCount val="1"/>
                      <c:pt idx="0">
                        <c:v>סכום כולל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חברות!$P$17</c15:sqref>
                        </c15:formulaRef>
                      </c:ext>
                    </c:extLst>
                    <c:numCache>
                      <c:formatCode>0%</c:formatCode>
                      <c:ptCount val="1"/>
                      <c:pt idx="0">
                        <c:v>1.1085765470191702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2565-418B-8801-BFC144F03BB7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חברות!$Q$5:$Q$6</c15:sqref>
                        </c15:formulaRef>
                      </c:ext>
                    </c:extLst>
                    <c:strCache>
                      <c:ptCount val="2"/>
                      <c:pt idx="0">
                        <c:v>כמות מסמכים בתוקף</c:v>
                      </c:pt>
                      <c:pt idx="1">
                        <c:v>2022</c:v>
                      </c:pt>
                    </c:strCache>
                  </c:strRef>
                </c:tx>
                <c:spPr>
                  <a:pattFill prst="narHorz">
                    <a:fgClr>
                      <a:schemeClr val="accent1">
                        <a:lumMod val="60000"/>
                      </a:schemeClr>
                    </a:fgClr>
                    <a:bgClr>
                      <a:schemeClr val="accent1">
                        <a:lumMod val="60000"/>
                        <a:lumMod val="20000"/>
                        <a:lumOff val="80000"/>
                      </a:schemeClr>
                    </a:bgClr>
                  </a:pattFill>
                  <a:ln>
                    <a:noFill/>
                  </a:ln>
                  <a:effectLst>
                    <a:innerShdw blurRad="114300">
                      <a:schemeClr val="accent1">
                        <a:lumMod val="60000"/>
                      </a:schemeClr>
                    </a:innerShdw>
                  </a:effectLst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חברות!$J$17</c15:sqref>
                        </c15:formulaRef>
                      </c:ext>
                    </c:extLst>
                    <c:strCache>
                      <c:ptCount val="1"/>
                      <c:pt idx="0">
                        <c:v>סכום כולל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חברות!$Q$17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1"/>
                      <c:pt idx="0">
                        <c:v>29088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2565-418B-8801-BFC144F03BB7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חברות!$R$5:$R$6</c15:sqref>
                        </c15:formulaRef>
                      </c:ext>
                    </c:extLst>
                    <c:strCache>
                      <c:ptCount val="2"/>
                      <c:pt idx="0">
                        <c:v>כמות מסמכים בתוקף</c:v>
                      </c:pt>
                      <c:pt idx="1">
                        <c:v>2023</c:v>
                      </c:pt>
                    </c:strCache>
                  </c:strRef>
                </c:tx>
                <c:spPr>
                  <a:pattFill prst="narHorz">
                    <a:fgClr>
                      <a:schemeClr val="accent2">
                        <a:lumMod val="60000"/>
                      </a:schemeClr>
                    </a:fgClr>
                    <a:bgClr>
                      <a:schemeClr val="accent2">
                        <a:lumMod val="60000"/>
                        <a:lumMod val="20000"/>
                        <a:lumOff val="80000"/>
                      </a:schemeClr>
                    </a:bgClr>
                  </a:pattFill>
                  <a:ln>
                    <a:noFill/>
                  </a:ln>
                  <a:effectLst>
                    <a:innerShdw blurRad="114300">
                      <a:schemeClr val="accent2">
                        <a:lumMod val="60000"/>
                      </a:schemeClr>
                    </a:innerShdw>
                  </a:effectLst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חברות!$J$17</c15:sqref>
                        </c15:formulaRef>
                      </c:ext>
                    </c:extLst>
                    <c:strCache>
                      <c:ptCount val="1"/>
                      <c:pt idx="0">
                        <c:v>סכום כולל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חברות!$R$17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1"/>
                      <c:pt idx="0">
                        <c:v>34352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2565-418B-8801-BFC144F03BB7}"/>
                  </c:ext>
                </c:extLst>
              </c15:ser>
            </c15:filteredBarSeries>
            <c15:filteredB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חברות!$S$5:$S$6</c15:sqref>
                        </c15:formulaRef>
                      </c:ext>
                    </c:extLst>
                    <c:strCache>
                      <c:ptCount val="2"/>
                      <c:pt idx="0">
                        <c:v>כמות מסמכים בתוקף</c:v>
                      </c:pt>
                      <c:pt idx="1">
                        <c:v>2023</c:v>
                      </c:pt>
                    </c:strCache>
                  </c:strRef>
                </c:tx>
                <c:spPr>
                  <a:pattFill prst="narHorz">
                    <a:fgClr>
                      <a:schemeClr val="accent3">
                        <a:lumMod val="60000"/>
                      </a:schemeClr>
                    </a:fgClr>
                    <a:bgClr>
                      <a:schemeClr val="accent3">
                        <a:lumMod val="60000"/>
                        <a:lumMod val="20000"/>
                        <a:lumOff val="80000"/>
                      </a:schemeClr>
                    </a:bgClr>
                  </a:pattFill>
                  <a:ln>
                    <a:noFill/>
                  </a:ln>
                  <a:effectLst>
                    <a:innerShdw blurRad="114300">
                      <a:schemeClr val="accent3">
                        <a:lumMod val="60000"/>
                      </a:schemeClr>
                    </a:innerShdw>
                  </a:effectLst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חברות!$J$17</c15:sqref>
                        </c15:formulaRef>
                      </c:ext>
                    </c:extLst>
                    <c:strCache>
                      <c:ptCount val="1"/>
                      <c:pt idx="0">
                        <c:v>סכום כולל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חברות!$S$17</c15:sqref>
                        </c15:formulaRef>
                      </c:ext>
                    </c:extLst>
                    <c:numCache>
                      <c:formatCode>General</c:formatCode>
                      <c:ptCount val="1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2565-418B-8801-BFC144F03BB7}"/>
                  </c:ext>
                </c:extLst>
              </c15:ser>
            </c15:filteredBarSeries>
          </c:ext>
        </c:extLst>
      </c:barChart>
      <c:catAx>
        <c:axId val="1043666024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043658824"/>
        <c:crosses val="autoZero"/>
        <c:auto val="1"/>
        <c:lblAlgn val="ctr"/>
        <c:lblOffset val="100"/>
        <c:noMultiLvlLbl val="0"/>
      </c:catAx>
      <c:valAx>
        <c:axId val="1043658824"/>
        <c:scaling>
          <c:orientation val="minMax"/>
        </c:scaling>
        <c:delete val="0"/>
        <c:axPos val="r"/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043666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e-IL"/>
              <a:t>עמלות לפי חודשים</a:t>
            </a:r>
          </a:p>
          <a:p>
            <a:pPr>
              <a:defRPr/>
            </a:pPr>
            <a:r>
              <a:rPr lang="he-IL"/>
              <a:t>2022 מול 2023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חודשים!$K$5:$K$6</c:f>
              <c:strCache>
                <c:ptCount val="2"/>
                <c:pt idx="0">
                  <c:v>עמלות</c:v>
                </c:pt>
                <c:pt idx="1">
                  <c:v>2022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cat>
            <c:strRef>
              <c:f>חודשים!$J$7:$J$18</c:f>
              <c:strCache>
                <c:ptCount val="12"/>
                <c:pt idx="0">
                  <c:v> ינו </c:v>
                </c:pt>
                <c:pt idx="1">
                  <c:v> פבר </c:v>
                </c:pt>
                <c:pt idx="2">
                  <c:v> מרץ </c:v>
                </c:pt>
                <c:pt idx="3">
                  <c:v> אפר </c:v>
                </c:pt>
                <c:pt idx="4">
                  <c:v> מאי </c:v>
                </c:pt>
                <c:pt idx="5">
                  <c:v> יונ </c:v>
                </c:pt>
                <c:pt idx="6">
                  <c:v>יול</c:v>
                </c:pt>
                <c:pt idx="7">
                  <c:v>אוג</c:v>
                </c:pt>
                <c:pt idx="8">
                  <c:v>ספט</c:v>
                </c:pt>
                <c:pt idx="9">
                  <c:v>אוק</c:v>
                </c:pt>
                <c:pt idx="10">
                  <c:v>נוב</c:v>
                </c:pt>
                <c:pt idx="11">
                  <c:v>דצמ</c:v>
                </c:pt>
              </c:strCache>
              <c:extLst/>
            </c:strRef>
          </c:cat>
          <c:val>
            <c:numRef>
              <c:f>חודשים!$K$7:$K$18</c:f>
              <c:numCache>
                <c:formatCode>_ * #,##0_ ;_ * \-#,##0_ ;_ * "-"??_ ;_ @_ </c:formatCode>
                <c:ptCount val="12"/>
                <c:pt idx="0">
                  <c:v>782125.125</c:v>
                </c:pt>
                <c:pt idx="1">
                  <c:v>406441.9</c:v>
                </c:pt>
                <c:pt idx="2">
                  <c:v>253978.22500000001</c:v>
                </c:pt>
                <c:pt idx="3">
                  <c:v>341583.7</c:v>
                </c:pt>
                <c:pt idx="4">
                  <c:v>244135.82499999998</c:v>
                </c:pt>
                <c:pt idx="5">
                  <c:v>302382.125</c:v>
                </c:pt>
                <c:pt idx="6">
                  <c:v>412484.25</c:v>
                </c:pt>
                <c:pt idx="7">
                  <c:v>350870.52999999997</c:v>
                </c:pt>
                <c:pt idx="8">
                  <c:v>268978.435</c:v>
                </c:pt>
                <c:pt idx="9">
                  <c:v>266613.68</c:v>
                </c:pt>
                <c:pt idx="10">
                  <c:v>349132.81</c:v>
                </c:pt>
                <c:pt idx="11">
                  <c:v>274996.86499999999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5C19-4AB9-9EF0-308E78BB9EA2}"/>
            </c:ext>
          </c:extLst>
        </c:ser>
        <c:ser>
          <c:idx val="1"/>
          <c:order val="1"/>
          <c:tx>
            <c:strRef>
              <c:f>חודשים!$L$5:$L$6</c:f>
              <c:strCache>
                <c:ptCount val="2"/>
                <c:pt idx="0">
                  <c:v>עמלות</c:v>
                </c:pt>
                <c:pt idx="1">
                  <c:v>2023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cat>
            <c:strRef>
              <c:f>חודשים!$J$7:$J$18</c:f>
              <c:strCache>
                <c:ptCount val="12"/>
                <c:pt idx="0">
                  <c:v> ינו </c:v>
                </c:pt>
                <c:pt idx="1">
                  <c:v> פבר </c:v>
                </c:pt>
                <c:pt idx="2">
                  <c:v> מרץ </c:v>
                </c:pt>
                <c:pt idx="3">
                  <c:v> אפר </c:v>
                </c:pt>
                <c:pt idx="4">
                  <c:v> מאי </c:v>
                </c:pt>
                <c:pt idx="5">
                  <c:v> יונ </c:v>
                </c:pt>
                <c:pt idx="6">
                  <c:v>יול</c:v>
                </c:pt>
                <c:pt idx="7">
                  <c:v>אוג</c:v>
                </c:pt>
                <c:pt idx="8">
                  <c:v>ספט</c:v>
                </c:pt>
                <c:pt idx="9">
                  <c:v>אוק</c:v>
                </c:pt>
                <c:pt idx="10">
                  <c:v>נוב</c:v>
                </c:pt>
                <c:pt idx="11">
                  <c:v>דצמ</c:v>
                </c:pt>
              </c:strCache>
              <c:extLst/>
            </c:strRef>
          </c:cat>
          <c:val>
            <c:numRef>
              <c:f>חודשים!$L$7:$L$18</c:f>
              <c:numCache>
                <c:formatCode>_ * #,##0_ ;_ * \-#,##0_ ;_ * "-"??_ ;_ @_ </c:formatCode>
                <c:ptCount val="12"/>
                <c:pt idx="0">
                  <c:v>906877.00000000012</c:v>
                </c:pt>
                <c:pt idx="1">
                  <c:v>410773.04499999993</c:v>
                </c:pt>
                <c:pt idx="2">
                  <c:v>296959.83500000008</c:v>
                </c:pt>
                <c:pt idx="3">
                  <c:v>379617.26500000013</c:v>
                </c:pt>
                <c:pt idx="4">
                  <c:v>280585.89000000013</c:v>
                </c:pt>
                <c:pt idx="5">
                  <c:v>323923.13500000018</c:v>
                </c:pt>
                <c:pt idx="6">
                  <c:v>441607.2350000001</c:v>
                </c:pt>
                <c:pt idx="7">
                  <c:v>373796.47000000003</c:v>
                </c:pt>
                <c:pt idx="8">
                  <c:v>293989.625</c:v>
                </c:pt>
                <c:pt idx="9">
                  <c:v>280914.83499999996</c:v>
                </c:pt>
                <c:pt idx="10">
                  <c:v>376268.69000000024</c:v>
                </c:pt>
                <c:pt idx="11">
                  <c:v>283845.5450000001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5C19-4AB9-9EF0-308E78BB9EA2}"/>
            </c:ext>
          </c:extLst>
        </c:ser>
        <c:ser>
          <c:idx val="2"/>
          <c:order val="2"/>
          <c:tx>
            <c:strRef>
              <c:f>חודשים!$M$5:$M$6</c:f>
              <c:strCache>
                <c:ptCount val="2"/>
                <c:pt idx="0">
                  <c:v>עמלות</c:v>
                </c:pt>
                <c:pt idx="1">
                  <c:v>שינוי</c:v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cat>
            <c:strRef>
              <c:f>חודשים!$J$7:$J$18</c:f>
              <c:strCache>
                <c:ptCount val="12"/>
                <c:pt idx="0">
                  <c:v> ינו </c:v>
                </c:pt>
                <c:pt idx="1">
                  <c:v> פבר </c:v>
                </c:pt>
                <c:pt idx="2">
                  <c:v> מרץ </c:v>
                </c:pt>
                <c:pt idx="3">
                  <c:v> אפר </c:v>
                </c:pt>
                <c:pt idx="4">
                  <c:v> מאי </c:v>
                </c:pt>
                <c:pt idx="5">
                  <c:v> יונ </c:v>
                </c:pt>
                <c:pt idx="6">
                  <c:v>יול</c:v>
                </c:pt>
                <c:pt idx="7">
                  <c:v>אוג</c:v>
                </c:pt>
                <c:pt idx="8">
                  <c:v>ספט</c:v>
                </c:pt>
                <c:pt idx="9">
                  <c:v>אוק</c:v>
                </c:pt>
                <c:pt idx="10">
                  <c:v>נוב</c:v>
                </c:pt>
                <c:pt idx="11">
                  <c:v>דצמ</c:v>
                </c:pt>
              </c:strCache>
              <c:extLst/>
            </c:strRef>
          </c:cat>
          <c:val>
            <c:numRef>
              <c:f>חודשים!$M$7:$M$18</c:f>
              <c:numCache>
                <c:formatCode>0%</c:formatCode>
                <c:ptCount val="12"/>
                <c:pt idx="0">
                  <c:v>1.1595037303014657</c:v>
                </c:pt>
                <c:pt idx="1">
                  <c:v>1.010656246317124</c:v>
                </c:pt>
                <c:pt idx="2">
                  <c:v>1.1692334451112889</c:v>
                </c:pt>
                <c:pt idx="3">
                  <c:v>1.111344788993152</c:v>
                </c:pt>
                <c:pt idx="4">
                  <c:v>1.1493024016446589</c:v>
                </c:pt>
                <c:pt idx="5">
                  <c:v>1.0712377095703001</c:v>
                </c:pt>
                <c:pt idx="6">
                  <c:v>1.0706038715417621</c:v>
                </c:pt>
                <c:pt idx="7">
                  <c:v>1.0653401697771541</c:v>
                </c:pt>
                <c:pt idx="8">
                  <c:v>1.0929858559107164</c:v>
                </c:pt>
                <c:pt idx="9">
                  <c:v>1.0536399895159168</c:v>
                </c:pt>
                <c:pt idx="10">
                  <c:v>1.0777236605176128</c:v>
                </c:pt>
                <c:pt idx="11">
                  <c:v>1.0321773850040077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5C19-4AB9-9EF0-308E78BB9E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axId val="926180472"/>
        <c:axId val="926179752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חודשים!$N$5:$N$6</c15:sqref>
                        </c15:formulaRef>
                      </c:ext>
                    </c:extLst>
                    <c:strCache>
                      <c:ptCount val="2"/>
                      <c:pt idx="0">
                        <c:v>פרמיות</c:v>
                      </c:pt>
                      <c:pt idx="1">
                        <c:v>2022</c:v>
                      </c:pt>
                    </c:strCache>
                  </c:strRef>
                </c:tx>
                <c:spPr>
                  <a:solidFill>
                    <a:schemeClr val="accent4"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חודשים!$J$7:$J$18</c15:sqref>
                        </c15:formulaRef>
                      </c:ext>
                    </c:extLst>
                    <c:strCache>
                      <c:ptCount val="12"/>
                      <c:pt idx="0">
                        <c:v> ינו </c:v>
                      </c:pt>
                      <c:pt idx="1">
                        <c:v> פבר </c:v>
                      </c:pt>
                      <c:pt idx="2">
                        <c:v> מרץ </c:v>
                      </c:pt>
                      <c:pt idx="3">
                        <c:v> אפר </c:v>
                      </c:pt>
                      <c:pt idx="4">
                        <c:v> מאי </c:v>
                      </c:pt>
                      <c:pt idx="5">
                        <c:v> יונ </c:v>
                      </c:pt>
                      <c:pt idx="6">
                        <c:v>יול</c:v>
                      </c:pt>
                      <c:pt idx="7">
                        <c:v>אוג</c:v>
                      </c:pt>
                      <c:pt idx="8">
                        <c:v>ספט</c:v>
                      </c:pt>
                      <c:pt idx="9">
                        <c:v>אוק</c:v>
                      </c:pt>
                      <c:pt idx="10">
                        <c:v>נוב</c:v>
                      </c:pt>
                      <c:pt idx="11">
                        <c:v>דצמ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חודשים!$N$7:$N$18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12"/>
                      <c:pt idx="0">
                        <c:v>4908427.1500000004</c:v>
                      </c:pt>
                      <c:pt idx="1">
                        <c:v>2531891.15</c:v>
                      </c:pt>
                      <c:pt idx="2">
                        <c:v>1691162.8099999998</c:v>
                      </c:pt>
                      <c:pt idx="3">
                        <c:v>2210257.1300000004</c:v>
                      </c:pt>
                      <c:pt idx="4">
                        <c:v>1558038</c:v>
                      </c:pt>
                      <c:pt idx="5">
                        <c:v>1870646.96</c:v>
                      </c:pt>
                      <c:pt idx="6">
                        <c:v>2678991</c:v>
                      </c:pt>
                      <c:pt idx="7">
                        <c:v>2383497</c:v>
                      </c:pt>
                      <c:pt idx="8">
                        <c:v>1775731</c:v>
                      </c:pt>
                      <c:pt idx="9">
                        <c:v>1639743.23</c:v>
                      </c:pt>
                      <c:pt idx="10">
                        <c:v>2358948.6</c:v>
                      </c:pt>
                      <c:pt idx="11">
                        <c:v>1728861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3-5C19-4AB9-9EF0-308E78BB9EA2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חודשים!$O$5:$O$6</c15:sqref>
                        </c15:formulaRef>
                      </c:ext>
                    </c:extLst>
                    <c:strCache>
                      <c:ptCount val="2"/>
                      <c:pt idx="0">
                        <c:v>פרמיות</c:v>
                      </c:pt>
                      <c:pt idx="1">
                        <c:v>2023</c:v>
                      </c:pt>
                    </c:strCache>
                  </c:strRef>
                </c:tx>
                <c:spPr>
                  <a:solidFill>
                    <a:schemeClr val="accent5"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חודשים!$J$7:$J$18</c15:sqref>
                        </c15:formulaRef>
                      </c:ext>
                    </c:extLst>
                    <c:strCache>
                      <c:ptCount val="12"/>
                      <c:pt idx="0">
                        <c:v> ינו </c:v>
                      </c:pt>
                      <c:pt idx="1">
                        <c:v> פבר </c:v>
                      </c:pt>
                      <c:pt idx="2">
                        <c:v> מרץ </c:v>
                      </c:pt>
                      <c:pt idx="3">
                        <c:v> אפר </c:v>
                      </c:pt>
                      <c:pt idx="4">
                        <c:v> מאי </c:v>
                      </c:pt>
                      <c:pt idx="5">
                        <c:v> יונ </c:v>
                      </c:pt>
                      <c:pt idx="6">
                        <c:v>יול</c:v>
                      </c:pt>
                      <c:pt idx="7">
                        <c:v>אוג</c:v>
                      </c:pt>
                      <c:pt idx="8">
                        <c:v>ספט</c:v>
                      </c:pt>
                      <c:pt idx="9">
                        <c:v>אוק</c:v>
                      </c:pt>
                      <c:pt idx="10">
                        <c:v>נוב</c:v>
                      </c:pt>
                      <c:pt idx="11">
                        <c:v>דצמ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חודשים!$O$7:$O$18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12"/>
                      <c:pt idx="0">
                        <c:v>5423523</c:v>
                      </c:pt>
                      <c:pt idx="1">
                        <c:v>2632460.1800000006</c:v>
                      </c:pt>
                      <c:pt idx="2">
                        <c:v>2010282.42</c:v>
                      </c:pt>
                      <c:pt idx="3">
                        <c:v>2487272.8200000003</c:v>
                      </c:pt>
                      <c:pt idx="4">
                        <c:v>1922256.74</c:v>
                      </c:pt>
                      <c:pt idx="5">
                        <c:v>2078009</c:v>
                      </c:pt>
                      <c:pt idx="6">
                        <c:v>2883358</c:v>
                      </c:pt>
                      <c:pt idx="7">
                        <c:v>2509377</c:v>
                      </c:pt>
                      <c:pt idx="8">
                        <c:v>1999321.39</c:v>
                      </c:pt>
                      <c:pt idx="9">
                        <c:v>1817176.51</c:v>
                      </c:pt>
                      <c:pt idx="10">
                        <c:v>2609453.4000015259</c:v>
                      </c:pt>
                      <c:pt idx="11">
                        <c:v>2013597.9800000002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5C19-4AB9-9EF0-308E78BB9EA2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חודשים!$P$5:$P$6</c15:sqref>
                        </c15:formulaRef>
                      </c:ext>
                    </c:extLst>
                    <c:strCache>
                      <c:ptCount val="2"/>
                      <c:pt idx="0">
                        <c:v>פרמיות</c:v>
                      </c:pt>
                      <c:pt idx="1">
                        <c:v>שינוי</c:v>
                      </c:pt>
                    </c:strCache>
                  </c:strRef>
                </c:tx>
                <c:spPr>
                  <a:solidFill>
                    <a:schemeClr val="accent6"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חודשים!$J$7:$J$18</c15:sqref>
                        </c15:formulaRef>
                      </c:ext>
                    </c:extLst>
                    <c:strCache>
                      <c:ptCount val="12"/>
                      <c:pt idx="0">
                        <c:v> ינו </c:v>
                      </c:pt>
                      <c:pt idx="1">
                        <c:v> פבר </c:v>
                      </c:pt>
                      <c:pt idx="2">
                        <c:v> מרץ </c:v>
                      </c:pt>
                      <c:pt idx="3">
                        <c:v> אפר </c:v>
                      </c:pt>
                      <c:pt idx="4">
                        <c:v> מאי </c:v>
                      </c:pt>
                      <c:pt idx="5">
                        <c:v> יונ </c:v>
                      </c:pt>
                      <c:pt idx="6">
                        <c:v>יול</c:v>
                      </c:pt>
                      <c:pt idx="7">
                        <c:v>אוג</c:v>
                      </c:pt>
                      <c:pt idx="8">
                        <c:v>ספט</c:v>
                      </c:pt>
                      <c:pt idx="9">
                        <c:v>אוק</c:v>
                      </c:pt>
                      <c:pt idx="10">
                        <c:v>נוב</c:v>
                      </c:pt>
                      <c:pt idx="11">
                        <c:v>דצמ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חודשים!$P$7:$P$18</c15:sqref>
                        </c15:formulaRef>
                      </c:ext>
                    </c:extLst>
                    <c:numCache>
                      <c:formatCode>0%</c:formatCode>
                      <c:ptCount val="12"/>
                      <c:pt idx="0">
                        <c:v>1.1049411215158811</c:v>
                      </c:pt>
                      <c:pt idx="1">
                        <c:v>1.0397209137525525</c:v>
                      </c:pt>
                      <c:pt idx="2">
                        <c:v>1.1886983370926896</c:v>
                      </c:pt>
                      <c:pt idx="3">
                        <c:v>1.1253318838971464</c:v>
                      </c:pt>
                      <c:pt idx="4">
                        <c:v>1.2337675589427215</c:v>
                      </c:pt>
                      <c:pt idx="5">
                        <c:v>1.1108504407480502</c:v>
                      </c:pt>
                      <c:pt idx="6">
                        <c:v>1.0762850640409021</c:v>
                      </c:pt>
                      <c:pt idx="7">
                        <c:v>1.0528131564671572</c:v>
                      </c:pt>
                      <c:pt idx="8">
                        <c:v>1.1259145613834527</c:v>
                      </c:pt>
                      <c:pt idx="9">
                        <c:v>1.1082079661948048</c:v>
                      </c:pt>
                      <c:pt idx="10">
                        <c:v>1.1061934117604453</c:v>
                      </c:pt>
                      <c:pt idx="11">
                        <c:v>1.1646962826971052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5C19-4AB9-9EF0-308E78BB9EA2}"/>
                  </c:ext>
                </c:extLst>
              </c15:ser>
            </c15:filteredBarSeries>
          </c:ext>
        </c:extLst>
      </c:barChart>
      <c:catAx>
        <c:axId val="926180472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26179752"/>
        <c:crosses val="autoZero"/>
        <c:auto val="1"/>
        <c:lblAlgn val="ctr"/>
        <c:lblOffset val="100"/>
        <c:noMultiLvlLbl val="0"/>
      </c:catAx>
      <c:valAx>
        <c:axId val="926179752"/>
        <c:scaling>
          <c:orientation val="minMax"/>
        </c:scaling>
        <c:delete val="1"/>
        <c:axPos val="r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_ * #,##0_ ;_ * \-#,##0_ ;_ * &quot;-&quot;??_ ;_ @_ " sourceLinked="1"/>
        <c:majorTickMark val="none"/>
        <c:minorTickMark val="none"/>
        <c:tickLblPos val="nextTo"/>
        <c:crossAx val="926180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e-IL"/>
              <a:t>פרמיות לפי חודשים</a:t>
            </a:r>
          </a:p>
          <a:p>
            <a:pPr>
              <a:defRPr/>
            </a:pPr>
            <a:r>
              <a:rPr lang="he-IL"/>
              <a:t>2022 מול 2023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plotArea>
      <c:layout/>
      <c:barChart>
        <c:barDir val="col"/>
        <c:grouping val="clustered"/>
        <c:varyColors val="0"/>
        <c:ser>
          <c:idx val="3"/>
          <c:order val="3"/>
          <c:tx>
            <c:strRef>
              <c:f>חודשים!$N$5:$N$6</c:f>
              <c:strCache>
                <c:ptCount val="2"/>
                <c:pt idx="0">
                  <c:v>פרמיות</c:v>
                </c:pt>
                <c:pt idx="1">
                  <c:v>2022</c:v>
                </c:pt>
              </c:strCache>
            </c:strRef>
          </c:tx>
          <c:spPr>
            <a:solidFill>
              <a:schemeClr val="accent4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cat>
            <c:strRef>
              <c:f>חודשים!$J$7:$J$18</c:f>
              <c:strCache>
                <c:ptCount val="12"/>
                <c:pt idx="0">
                  <c:v> ינו </c:v>
                </c:pt>
                <c:pt idx="1">
                  <c:v> פבר </c:v>
                </c:pt>
                <c:pt idx="2">
                  <c:v> מרץ </c:v>
                </c:pt>
                <c:pt idx="3">
                  <c:v> אפר </c:v>
                </c:pt>
                <c:pt idx="4">
                  <c:v> מאי </c:v>
                </c:pt>
                <c:pt idx="5">
                  <c:v> יונ </c:v>
                </c:pt>
                <c:pt idx="6">
                  <c:v>יול</c:v>
                </c:pt>
                <c:pt idx="7">
                  <c:v>אוג</c:v>
                </c:pt>
                <c:pt idx="8">
                  <c:v>ספט</c:v>
                </c:pt>
                <c:pt idx="9">
                  <c:v>אוק</c:v>
                </c:pt>
                <c:pt idx="10">
                  <c:v>נוב</c:v>
                </c:pt>
                <c:pt idx="11">
                  <c:v>דצמ</c:v>
                </c:pt>
              </c:strCache>
              <c:extLst/>
            </c:strRef>
          </c:cat>
          <c:val>
            <c:numRef>
              <c:f>חודשים!$N$7:$N$18</c:f>
              <c:numCache>
                <c:formatCode>_ * #,##0_ ;_ * \-#,##0_ ;_ * "-"??_ ;_ @_ </c:formatCode>
                <c:ptCount val="12"/>
                <c:pt idx="0">
                  <c:v>4908427.1500000004</c:v>
                </c:pt>
                <c:pt idx="1">
                  <c:v>2531891.15</c:v>
                </c:pt>
                <c:pt idx="2">
                  <c:v>1691162.8099999998</c:v>
                </c:pt>
                <c:pt idx="3">
                  <c:v>2210257.1300000004</c:v>
                </c:pt>
                <c:pt idx="4">
                  <c:v>1558038</c:v>
                </c:pt>
                <c:pt idx="5">
                  <c:v>1870646.96</c:v>
                </c:pt>
                <c:pt idx="6">
                  <c:v>2678991</c:v>
                </c:pt>
                <c:pt idx="7">
                  <c:v>2383497</c:v>
                </c:pt>
                <c:pt idx="8">
                  <c:v>1775731</c:v>
                </c:pt>
                <c:pt idx="9">
                  <c:v>1639743.23</c:v>
                </c:pt>
                <c:pt idx="10">
                  <c:v>2358948.6</c:v>
                </c:pt>
                <c:pt idx="11">
                  <c:v>1728861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D3C0-4BD2-901E-57136E08242D}"/>
            </c:ext>
          </c:extLst>
        </c:ser>
        <c:ser>
          <c:idx val="4"/>
          <c:order val="4"/>
          <c:tx>
            <c:strRef>
              <c:f>חודשים!$O$5:$O$6</c:f>
              <c:strCache>
                <c:ptCount val="2"/>
                <c:pt idx="0">
                  <c:v>פרמיות</c:v>
                </c:pt>
                <c:pt idx="1">
                  <c:v>2023</c:v>
                </c:pt>
              </c:strCache>
            </c:strRef>
          </c:tx>
          <c:spPr>
            <a:solidFill>
              <a:schemeClr val="accent5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cat>
            <c:strRef>
              <c:f>חודשים!$J$7:$J$18</c:f>
              <c:strCache>
                <c:ptCount val="12"/>
                <c:pt idx="0">
                  <c:v> ינו </c:v>
                </c:pt>
                <c:pt idx="1">
                  <c:v> פבר </c:v>
                </c:pt>
                <c:pt idx="2">
                  <c:v> מרץ </c:v>
                </c:pt>
                <c:pt idx="3">
                  <c:v> אפר </c:v>
                </c:pt>
                <c:pt idx="4">
                  <c:v> מאי </c:v>
                </c:pt>
                <c:pt idx="5">
                  <c:v> יונ </c:v>
                </c:pt>
                <c:pt idx="6">
                  <c:v>יול</c:v>
                </c:pt>
                <c:pt idx="7">
                  <c:v>אוג</c:v>
                </c:pt>
                <c:pt idx="8">
                  <c:v>ספט</c:v>
                </c:pt>
                <c:pt idx="9">
                  <c:v>אוק</c:v>
                </c:pt>
                <c:pt idx="10">
                  <c:v>נוב</c:v>
                </c:pt>
                <c:pt idx="11">
                  <c:v>דצמ</c:v>
                </c:pt>
              </c:strCache>
              <c:extLst/>
            </c:strRef>
          </c:cat>
          <c:val>
            <c:numRef>
              <c:f>חודשים!$O$7:$O$18</c:f>
              <c:numCache>
                <c:formatCode>_ * #,##0_ ;_ * \-#,##0_ ;_ * "-"??_ ;_ @_ </c:formatCode>
                <c:ptCount val="12"/>
                <c:pt idx="0">
                  <c:v>5423523</c:v>
                </c:pt>
                <c:pt idx="1">
                  <c:v>2632460.1800000006</c:v>
                </c:pt>
                <c:pt idx="2">
                  <c:v>2010282.42</c:v>
                </c:pt>
                <c:pt idx="3">
                  <c:v>2487272.8200000003</c:v>
                </c:pt>
                <c:pt idx="4">
                  <c:v>1922256.74</c:v>
                </c:pt>
                <c:pt idx="5">
                  <c:v>2078009</c:v>
                </c:pt>
                <c:pt idx="6">
                  <c:v>2883358</c:v>
                </c:pt>
                <c:pt idx="7">
                  <c:v>2509377</c:v>
                </c:pt>
                <c:pt idx="8">
                  <c:v>1999321.39</c:v>
                </c:pt>
                <c:pt idx="9">
                  <c:v>1817176.51</c:v>
                </c:pt>
                <c:pt idx="10">
                  <c:v>2609453.4000015259</c:v>
                </c:pt>
                <c:pt idx="11">
                  <c:v>2013597.9800000002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D3C0-4BD2-901E-57136E08242D}"/>
            </c:ext>
          </c:extLst>
        </c:ser>
        <c:ser>
          <c:idx val="5"/>
          <c:order val="5"/>
          <c:tx>
            <c:strRef>
              <c:f>חודשים!$P$5:$P$6</c:f>
              <c:strCache>
                <c:ptCount val="2"/>
                <c:pt idx="0">
                  <c:v>פרמיות</c:v>
                </c:pt>
                <c:pt idx="1">
                  <c:v>שינוי</c:v>
                </c:pt>
              </c:strCache>
            </c:strRef>
          </c:tx>
          <c:spPr>
            <a:solidFill>
              <a:schemeClr val="accent6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cat>
            <c:strRef>
              <c:f>חודשים!$J$7:$J$18</c:f>
              <c:strCache>
                <c:ptCount val="12"/>
                <c:pt idx="0">
                  <c:v> ינו </c:v>
                </c:pt>
                <c:pt idx="1">
                  <c:v> פבר </c:v>
                </c:pt>
                <c:pt idx="2">
                  <c:v> מרץ </c:v>
                </c:pt>
                <c:pt idx="3">
                  <c:v> אפר </c:v>
                </c:pt>
                <c:pt idx="4">
                  <c:v> מאי </c:v>
                </c:pt>
                <c:pt idx="5">
                  <c:v> יונ </c:v>
                </c:pt>
                <c:pt idx="6">
                  <c:v>יול</c:v>
                </c:pt>
                <c:pt idx="7">
                  <c:v>אוג</c:v>
                </c:pt>
                <c:pt idx="8">
                  <c:v>ספט</c:v>
                </c:pt>
                <c:pt idx="9">
                  <c:v>אוק</c:v>
                </c:pt>
                <c:pt idx="10">
                  <c:v>נוב</c:v>
                </c:pt>
                <c:pt idx="11">
                  <c:v>דצמ</c:v>
                </c:pt>
              </c:strCache>
              <c:extLst/>
            </c:strRef>
          </c:cat>
          <c:val>
            <c:numRef>
              <c:f>חודשים!$P$7:$P$18</c:f>
              <c:numCache>
                <c:formatCode>0%</c:formatCode>
                <c:ptCount val="12"/>
                <c:pt idx="0">
                  <c:v>1.1049411215158811</c:v>
                </c:pt>
                <c:pt idx="1">
                  <c:v>1.0397209137525525</c:v>
                </c:pt>
                <c:pt idx="2">
                  <c:v>1.1886983370926896</c:v>
                </c:pt>
                <c:pt idx="3">
                  <c:v>1.1253318838971464</c:v>
                </c:pt>
                <c:pt idx="4">
                  <c:v>1.2337675589427215</c:v>
                </c:pt>
                <c:pt idx="5">
                  <c:v>1.1108504407480502</c:v>
                </c:pt>
                <c:pt idx="6">
                  <c:v>1.0762850640409021</c:v>
                </c:pt>
                <c:pt idx="7">
                  <c:v>1.0528131564671572</c:v>
                </c:pt>
                <c:pt idx="8">
                  <c:v>1.1259145613834527</c:v>
                </c:pt>
                <c:pt idx="9">
                  <c:v>1.1082079661948048</c:v>
                </c:pt>
                <c:pt idx="10">
                  <c:v>1.1061934117604453</c:v>
                </c:pt>
                <c:pt idx="11">
                  <c:v>1.1646962826971052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D3C0-4BD2-901E-57136E0824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axId val="926180472"/>
        <c:axId val="92617975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חודשים!$K$5:$K$6</c15:sqref>
                        </c15:formulaRef>
                      </c:ext>
                    </c:extLst>
                    <c:strCache>
                      <c:ptCount val="2"/>
                      <c:pt idx="0">
                        <c:v>עמלות</c:v>
                      </c:pt>
                      <c:pt idx="1">
                        <c:v>2022</c:v>
                      </c:pt>
                    </c:strCache>
                  </c:strRef>
                </c:tx>
                <c:spPr>
                  <a:solidFill>
                    <a:schemeClr val="accent1"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חודשים!$J$7:$J$18</c15:sqref>
                        </c15:formulaRef>
                      </c:ext>
                    </c:extLst>
                    <c:strCache>
                      <c:ptCount val="12"/>
                      <c:pt idx="0">
                        <c:v> ינו </c:v>
                      </c:pt>
                      <c:pt idx="1">
                        <c:v> פבר </c:v>
                      </c:pt>
                      <c:pt idx="2">
                        <c:v> מרץ </c:v>
                      </c:pt>
                      <c:pt idx="3">
                        <c:v> אפר </c:v>
                      </c:pt>
                      <c:pt idx="4">
                        <c:v> מאי </c:v>
                      </c:pt>
                      <c:pt idx="5">
                        <c:v> יונ </c:v>
                      </c:pt>
                      <c:pt idx="6">
                        <c:v>יול</c:v>
                      </c:pt>
                      <c:pt idx="7">
                        <c:v>אוג</c:v>
                      </c:pt>
                      <c:pt idx="8">
                        <c:v>ספט</c:v>
                      </c:pt>
                      <c:pt idx="9">
                        <c:v>אוק</c:v>
                      </c:pt>
                      <c:pt idx="10">
                        <c:v>נוב</c:v>
                      </c:pt>
                      <c:pt idx="11">
                        <c:v>דצמ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חודשים!$K$7:$K$18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12"/>
                      <c:pt idx="0">
                        <c:v>782125.125</c:v>
                      </c:pt>
                      <c:pt idx="1">
                        <c:v>406441.9</c:v>
                      </c:pt>
                      <c:pt idx="2">
                        <c:v>253978.22500000001</c:v>
                      </c:pt>
                      <c:pt idx="3">
                        <c:v>341583.7</c:v>
                      </c:pt>
                      <c:pt idx="4">
                        <c:v>244135.82499999998</c:v>
                      </c:pt>
                      <c:pt idx="5">
                        <c:v>302382.125</c:v>
                      </c:pt>
                      <c:pt idx="6">
                        <c:v>412484.25</c:v>
                      </c:pt>
                      <c:pt idx="7">
                        <c:v>350870.52999999997</c:v>
                      </c:pt>
                      <c:pt idx="8">
                        <c:v>268978.435</c:v>
                      </c:pt>
                      <c:pt idx="9">
                        <c:v>266613.68</c:v>
                      </c:pt>
                      <c:pt idx="10">
                        <c:v>349132.81</c:v>
                      </c:pt>
                      <c:pt idx="11">
                        <c:v>274996.86499999999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3-D3C0-4BD2-901E-57136E08242D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חודשים!$L$5:$L$6</c15:sqref>
                        </c15:formulaRef>
                      </c:ext>
                    </c:extLst>
                    <c:strCache>
                      <c:ptCount val="2"/>
                      <c:pt idx="0">
                        <c:v>עמלות</c:v>
                      </c:pt>
                      <c:pt idx="1">
                        <c:v>2023</c:v>
                      </c:pt>
                    </c:strCache>
                  </c:strRef>
                </c:tx>
                <c:spPr>
                  <a:solidFill>
                    <a:schemeClr val="accent2"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חודשים!$J$7:$J$18</c15:sqref>
                        </c15:formulaRef>
                      </c:ext>
                    </c:extLst>
                    <c:strCache>
                      <c:ptCount val="12"/>
                      <c:pt idx="0">
                        <c:v> ינו </c:v>
                      </c:pt>
                      <c:pt idx="1">
                        <c:v> פבר </c:v>
                      </c:pt>
                      <c:pt idx="2">
                        <c:v> מרץ </c:v>
                      </c:pt>
                      <c:pt idx="3">
                        <c:v> אפר </c:v>
                      </c:pt>
                      <c:pt idx="4">
                        <c:v> מאי </c:v>
                      </c:pt>
                      <c:pt idx="5">
                        <c:v> יונ </c:v>
                      </c:pt>
                      <c:pt idx="6">
                        <c:v>יול</c:v>
                      </c:pt>
                      <c:pt idx="7">
                        <c:v>אוג</c:v>
                      </c:pt>
                      <c:pt idx="8">
                        <c:v>ספט</c:v>
                      </c:pt>
                      <c:pt idx="9">
                        <c:v>אוק</c:v>
                      </c:pt>
                      <c:pt idx="10">
                        <c:v>נוב</c:v>
                      </c:pt>
                      <c:pt idx="11">
                        <c:v>דצמ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חודשים!$L$7:$L$18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12"/>
                      <c:pt idx="0">
                        <c:v>906877.00000000012</c:v>
                      </c:pt>
                      <c:pt idx="1">
                        <c:v>410773.04499999993</c:v>
                      </c:pt>
                      <c:pt idx="2">
                        <c:v>296959.83500000008</c:v>
                      </c:pt>
                      <c:pt idx="3">
                        <c:v>379617.26500000013</c:v>
                      </c:pt>
                      <c:pt idx="4">
                        <c:v>280585.89000000013</c:v>
                      </c:pt>
                      <c:pt idx="5">
                        <c:v>323923.13500000018</c:v>
                      </c:pt>
                      <c:pt idx="6">
                        <c:v>441607.2350000001</c:v>
                      </c:pt>
                      <c:pt idx="7">
                        <c:v>373796.47000000003</c:v>
                      </c:pt>
                      <c:pt idx="8">
                        <c:v>293989.625</c:v>
                      </c:pt>
                      <c:pt idx="9">
                        <c:v>280914.83499999996</c:v>
                      </c:pt>
                      <c:pt idx="10">
                        <c:v>376268.69000000024</c:v>
                      </c:pt>
                      <c:pt idx="11">
                        <c:v>283845.5450000001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D3C0-4BD2-901E-57136E08242D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חודשים!$M$5:$M$6</c15:sqref>
                        </c15:formulaRef>
                      </c:ext>
                    </c:extLst>
                    <c:strCache>
                      <c:ptCount val="2"/>
                      <c:pt idx="0">
                        <c:v>עמלות</c:v>
                      </c:pt>
                      <c:pt idx="1">
                        <c:v>שינוי</c:v>
                      </c:pt>
                    </c:strCache>
                  </c:strRef>
                </c:tx>
                <c:spPr>
                  <a:solidFill>
                    <a:schemeClr val="accent3"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חודשים!$J$7:$J$18</c15:sqref>
                        </c15:formulaRef>
                      </c:ext>
                    </c:extLst>
                    <c:strCache>
                      <c:ptCount val="12"/>
                      <c:pt idx="0">
                        <c:v> ינו </c:v>
                      </c:pt>
                      <c:pt idx="1">
                        <c:v> פבר </c:v>
                      </c:pt>
                      <c:pt idx="2">
                        <c:v> מרץ </c:v>
                      </c:pt>
                      <c:pt idx="3">
                        <c:v> אפר </c:v>
                      </c:pt>
                      <c:pt idx="4">
                        <c:v> מאי </c:v>
                      </c:pt>
                      <c:pt idx="5">
                        <c:v> יונ </c:v>
                      </c:pt>
                      <c:pt idx="6">
                        <c:v>יול</c:v>
                      </c:pt>
                      <c:pt idx="7">
                        <c:v>אוג</c:v>
                      </c:pt>
                      <c:pt idx="8">
                        <c:v>ספט</c:v>
                      </c:pt>
                      <c:pt idx="9">
                        <c:v>אוק</c:v>
                      </c:pt>
                      <c:pt idx="10">
                        <c:v>נוב</c:v>
                      </c:pt>
                      <c:pt idx="11">
                        <c:v>דצמ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חודשים!$M$7:$M$18</c15:sqref>
                        </c15:formulaRef>
                      </c:ext>
                    </c:extLst>
                    <c:numCache>
                      <c:formatCode>0%</c:formatCode>
                      <c:ptCount val="12"/>
                      <c:pt idx="0">
                        <c:v>1.1595037303014657</c:v>
                      </c:pt>
                      <c:pt idx="1">
                        <c:v>1.010656246317124</c:v>
                      </c:pt>
                      <c:pt idx="2">
                        <c:v>1.1692334451112889</c:v>
                      </c:pt>
                      <c:pt idx="3">
                        <c:v>1.111344788993152</c:v>
                      </c:pt>
                      <c:pt idx="4">
                        <c:v>1.1493024016446589</c:v>
                      </c:pt>
                      <c:pt idx="5">
                        <c:v>1.0712377095703001</c:v>
                      </c:pt>
                      <c:pt idx="6">
                        <c:v>1.0706038715417621</c:v>
                      </c:pt>
                      <c:pt idx="7">
                        <c:v>1.0653401697771541</c:v>
                      </c:pt>
                      <c:pt idx="8">
                        <c:v>1.0929858559107164</c:v>
                      </c:pt>
                      <c:pt idx="9">
                        <c:v>1.0536399895159168</c:v>
                      </c:pt>
                      <c:pt idx="10">
                        <c:v>1.0777236605176128</c:v>
                      </c:pt>
                      <c:pt idx="11">
                        <c:v>1.0321773850040077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D3C0-4BD2-901E-57136E08242D}"/>
                  </c:ext>
                </c:extLst>
              </c15:ser>
            </c15:filteredBarSeries>
          </c:ext>
        </c:extLst>
      </c:barChart>
      <c:catAx>
        <c:axId val="926180472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26179752"/>
        <c:crosses val="autoZero"/>
        <c:auto val="1"/>
        <c:lblAlgn val="ctr"/>
        <c:lblOffset val="100"/>
        <c:noMultiLvlLbl val="0"/>
      </c:catAx>
      <c:valAx>
        <c:axId val="926179752"/>
        <c:scaling>
          <c:orientation val="minMax"/>
        </c:scaling>
        <c:delete val="1"/>
        <c:axPos val="r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_ * #,##0_ ;_ * \-#,##0_ ;_ * &quot;-&quot;??_ ;_ @_ " sourceLinked="1"/>
        <c:majorTickMark val="none"/>
        <c:minorTickMark val="none"/>
        <c:tickLblPos val="nextTo"/>
        <c:crossAx val="926180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e-IL" baseline="0">
                <a:solidFill>
                  <a:schemeClr val="accent5">
                    <a:lumMod val="75000"/>
                  </a:schemeClr>
                </a:solidFill>
              </a:rPr>
              <a:t>פרמיות לפי חברות</a:t>
            </a:r>
          </a:p>
          <a:p>
            <a:pPr>
              <a:defRPr/>
            </a:pPr>
            <a:r>
              <a:rPr lang="he-IL" baseline="0">
                <a:solidFill>
                  <a:schemeClr val="accent5">
                    <a:lumMod val="75000"/>
                  </a:schemeClr>
                </a:solidFill>
              </a:rPr>
              <a:t>2022 מול 2023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plotArea>
      <c:layout>
        <c:manualLayout>
          <c:layoutTarget val="inner"/>
          <c:xMode val="edge"/>
          <c:yMode val="edge"/>
          <c:x val="7.9962411498968364E-2"/>
          <c:y val="0.17119500545706504"/>
          <c:w val="0.76784965050739584"/>
          <c:h val="0.53209600697126447"/>
        </c:manualLayout>
      </c:layout>
      <c:barChart>
        <c:barDir val="col"/>
        <c:grouping val="clustered"/>
        <c:varyColors val="0"/>
        <c:ser>
          <c:idx val="3"/>
          <c:order val="3"/>
          <c:tx>
            <c:strRef>
              <c:f>חברות!$N$5:$N$6</c:f>
              <c:strCache>
                <c:ptCount val="2"/>
                <c:pt idx="0">
                  <c:v>פרמיות</c:v>
                </c:pt>
                <c:pt idx="1">
                  <c:v>2022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(חברות!$J$7:$J$11,חברות!$J$13,חברות!$J$15:$J$16)</c:f>
              <c:strCache>
                <c:ptCount val="8"/>
                <c:pt idx="0">
                  <c:v> איילון חברה לביטוח בע"מ </c:v>
                </c:pt>
                <c:pt idx="1">
                  <c:v> הפניקס חברה לביטוח בע"מ </c:v>
                </c:pt>
                <c:pt idx="2">
                  <c:v> הראל </c:v>
                </c:pt>
                <c:pt idx="3">
                  <c:v> כלל חברה לביטוח בע"מ </c:v>
                </c:pt>
                <c:pt idx="4">
                  <c:v> מגדל (המגן) חברה לביטוח </c:v>
                </c:pt>
                <c:pt idx="5">
                  <c:v> דרכים </c:v>
                </c:pt>
                <c:pt idx="6">
                  <c:v> קופרנינוה </c:v>
                </c:pt>
                <c:pt idx="7">
                  <c:v> הכשרה חברה לביטוח בע"מ </c:v>
                </c:pt>
              </c:strCache>
              <c:extLst/>
            </c:strRef>
          </c:cat>
          <c:val>
            <c:numRef>
              <c:f>(חברות!$N$7:$N$11,חברות!$N$13,חברות!$N$15:$N$16)</c:f>
              <c:numCache>
                <c:formatCode>_ * #,##0_ ;_ * \-#,##0_ ;_ * "-"??_ ;_ @_ </c:formatCode>
                <c:ptCount val="8"/>
                <c:pt idx="0">
                  <c:v>10001853</c:v>
                </c:pt>
                <c:pt idx="1">
                  <c:v>4608171</c:v>
                </c:pt>
                <c:pt idx="2">
                  <c:v>2440884</c:v>
                </c:pt>
                <c:pt idx="3">
                  <c:v>8060464</c:v>
                </c:pt>
                <c:pt idx="4">
                  <c:v>1992010.0299999998</c:v>
                </c:pt>
                <c:pt idx="5">
                  <c:v>213963</c:v>
                </c:pt>
                <c:pt idx="6">
                  <c:v>18850</c:v>
                </c:pt>
                <c:pt idx="7">
                  <c:v>27336195.029999997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6CE9-4D64-BE5D-D9056A14F353}"/>
            </c:ext>
          </c:extLst>
        </c:ser>
        <c:ser>
          <c:idx val="4"/>
          <c:order val="4"/>
          <c:tx>
            <c:strRef>
              <c:f>חברות!$O$5:$O$6</c:f>
              <c:strCache>
                <c:ptCount val="2"/>
                <c:pt idx="0">
                  <c:v>פרמיות</c:v>
                </c:pt>
                <c:pt idx="1">
                  <c:v>2023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(חברות!$J$7:$J$11,חברות!$J$13,חברות!$J$15:$J$16)</c:f>
              <c:strCache>
                <c:ptCount val="8"/>
                <c:pt idx="0">
                  <c:v> איילון חברה לביטוח בע"מ </c:v>
                </c:pt>
                <c:pt idx="1">
                  <c:v> הפניקס חברה לביטוח בע"מ </c:v>
                </c:pt>
                <c:pt idx="2">
                  <c:v> הראל </c:v>
                </c:pt>
                <c:pt idx="3">
                  <c:v> כלל חברה לביטוח בע"מ </c:v>
                </c:pt>
                <c:pt idx="4">
                  <c:v> מגדל (המגן) חברה לביטוח </c:v>
                </c:pt>
                <c:pt idx="5">
                  <c:v> דרכים </c:v>
                </c:pt>
                <c:pt idx="6">
                  <c:v> קופרנינוה </c:v>
                </c:pt>
                <c:pt idx="7">
                  <c:v> הכשרה חברה לביטוח בע"מ </c:v>
                </c:pt>
              </c:strCache>
              <c:extLst/>
            </c:strRef>
          </c:cat>
          <c:val>
            <c:numRef>
              <c:f>(חברות!$O$7:$O$11,חברות!$O$13,חברות!$O$15:$O$16)</c:f>
              <c:numCache>
                <c:formatCode>_ * #,##0_ ;_ * \-#,##0_ ;_ * "-"??_ ;_ @_ </c:formatCode>
                <c:ptCount val="8"/>
                <c:pt idx="0">
                  <c:v>10465701</c:v>
                </c:pt>
                <c:pt idx="1">
                  <c:v>5924144</c:v>
                </c:pt>
                <c:pt idx="2">
                  <c:v>3000828</c:v>
                </c:pt>
                <c:pt idx="3">
                  <c:v>8760631</c:v>
                </c:pt>
                <c:pt idx="4">
                  <c:v>1795095.25</c:v>
                </c:pt>
                <c:pt idx="5">
                  <c:v>219252.69999999998</c:v>
                </c:pt>
                <c:pt idx="6">
                  <c:v>56789</c:v>
                </c:pt>
                <c:pt idx="7">
                  <c:v>30386088.439999998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6CE9-4D64-BE5D-D9056A14F3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43666024"/>
        <c:axId val="1043658824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חברות!$K$5:$K$6</c15:sqref>
                        </c15:formulaRef>
                      </c:ext>
                    </c:extLst>
                    <c:strCache>
                      <c:ptCount val="2"/>
                      <c:pt idx="0">
                        <c:v>עמלות</c:v>
                      </c:pt>
                      <c:pt idx="1">
                        <c:v>2022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(חברות!$J$7:$J$11,חברות!$J$13,חברות!$J$15:$J$16)</c15:sqref>
                        </c15:formulaRef>
                      </c:ext>
                    </c:extLst>
                    <c:strCache>
                      <c:ptCount val="8"/>
                      <c:pt idx="0">
                        <c:v> איילון חברה לביטוח בע"מ </c:v>
                      </c:pt>
                      <c:pt idx="1">
                        <c:v> הפניקס חברה לביטוח בע"מ </c:v>
                      </c:pt>
                      <c:pt idx="2">
                        <c:v> הראל </c:v>
                      </c:pt>
                      <c:pt idx="3">
                        <c:v> כלל חברה לביטוח בע"מ </c:v>
                      </c:pt>
                      <c:pt idx="4">
                        <c:v> מגדל (המגן) חברה לביטוח </c:v>
                      </c:pt>
                      <c:pt idx="5">
                        <c:v> דרכים </c:v>
                      </c:pt>
                      <c:pt idx="6">
                        <c:v> קופרנינוה </c:v>
                      </c:pt>
                      <c:pt idx="7">
                        <c:v> הכשרה חברה לביטוח בע"מ 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(חברות!$K$7:$K$11,חברות!$K$13,חברות!$K$15:$K$16)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8"/>
                      <c:pt idx="0">
                        <c:v>1483469</c:v>
                      </c:pt>
                      <c:pt idx="1">
                        <c:v>621768</c:v>
                      </c:pt>
                      <c:pt idx="2">
                        <c:v>346794</c:v>
                      </c:pt>
                      <c:pt idx="3">
                        <c:v>1431759.0999999999</c:v>
                      </c:pt>
                      <c:pt idx="4">
                        <c:v>287722</c:v>
                      </c:pt>
                      <c:pt idx="5">
                        <c:v>82211.369999999981</c:v>
                      </c:pt>
                      <c:pt idx="6">
                        <c:v>0</c:v>
                      </c:pt>
                      <c:pt idx="7">
                        <c:v>4253723.4699999942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6CE9-4D64-BE5D-D9056A14F353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חברות!$L$5:$L$6</c15:sqref>
                        </c15:formulaRef>
                      </c:ext>
                    </c:extLst>
                    <c:strCache>
                      <c:ptCount val="2"/>
                      <c:pt idx="0">
                        <c:v>עמלות</c:v>
                      </c:pt>
                      <c:pt idx="1">
                        <c:v>2023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(חברות!$J$7:$J$11,חברות!$J$13,חברות!$J$15:$J$16)</c15:sqref>
                        </c15:formulaRef>
                      </c:ext>
                    </c:extLst>
                    <c:strCache>
                      <c:ptCount val="8"/>
                      <c:pt idx="0">
                        <c:v> איילון חברה לביטוח בע"מ </c:v>
                      </c:pt>
                      <c:pt idx="1">
                        <c:v> הפניקס חברה לביטוח בע"מ </c:v>
                      </c:pt>
                      <c:pt idx="2">
                        <c:v> הראל </c:v>
                      </c:pt>
                      <c:pt idx="3">
                        <c:v> כלל חברה לביטוח בע"מ </c:v>
                      </c:pt>
                      <c:pt idx="4">
                        <c:v> מגדל (המגן) חברה לביטוח </c:v>
                      </c:pt>
                      <c:pt idx="5">
                        <c:v> דרכים </c:v>
                      </c:pt>
                      <c:pt idx="6">
                        <c:v> קופרנינוה </c:v>
                      </c:pt>
                      <c:pt idx="7">
                        <c:v> הכשרה חברה לביטוח בע"מ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(חברות!$L$7:$L$11,חברות!$L$13,חברות!$L$15:$L$16)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8"/>
                      <c:pt idx="0">
                        <c:v>1540630</c:v>
                      </c:pt>
                      <c:pt idx="1">
                        <c:v>762061</c:v>
                      </c:pt>
                      <c:pt idx="2">
                        <c:v>402122</c:v>
                      </c:pt>
                      <c:pt idx="3">
                        <c:v>1582543.1300000004</c:v>
                      </c:pt>
                      <c:pt idx="4">
                        <c:v>253236</c:v>
                      </c:pt>
                      <c:pt idx="5">
                        <c:v>87824.439999999784</c:v>
                      </c:pt>
                      <c:pt idx="6">
                        <c:v>0</c:v>
                      </c:pt>
                      <c:pt idx="7">
                        <c:v>4649158.57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6CE9-4D64-BE5D-D9056A14F353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חברות!$M$5:$M$6</c15:sqref>
                        </c15:formulaRef>
                      </c:ext>
                    </c:extLst>
                    <c:strCache>
                      <c:ptCount val="2"/>
                      <c:pt idx="0">
                        <c:v>עמלות</c:v>
                      </c:pt>
                      <c:pt idx="1">
                        <c:v>שינוי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(חברות!$J$7:$J$11,חברות!$J$13,חברות!$J$15:$J$16)</c15:sqref>
                        </c15:formulaRef>
                      </c:ext>
                    </c:extLst>
                    <c:strCache>
                      <c:ptCount val="8"/>
                      <c:pt idx="0">
                        <c:v> איילון חברה לביטוח בע"מ </c:v>
                      </c:pt>
                      <c:pt idx="1">
                        <c:v> הפניקס חברה לביטוח בע"מ </c:v>
                      </c:pt>
                      <c:pt idx="2">
                        <c:v> הראל </c:v>
                      </c:pt>
                      <c:pt idx="3">
                        <c:v> כלל חברה לביטוח בע"מ </c:v>
                      </c:pt>
                      <c:pt idx="4">
                        <c:v> מגדל (המגן) חברה לביטוח </c:v>
                      </c:pt>
                      <c:pt idx="5">
                        <c:v> דרכים </c:v>
                      </c:pt>
                      <c:pt idx="6">
                        <c:v> קופרנינוה </c:v>
                      </c:pt>
                      <c:pt idx="7">
                        <c:v> הכשרה חברה לביטוח בע"מ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(חברות!$M$7:$M$11,חברות!$M$13,חברות!$M$15:$M$16)</c15:sqref>
                        </c15:formulaRef>
                      </c:ext>
                    </c:extLst>
                    <c:numCache>
                      <c:formatCode>0%</c:formatCode>
                      <c:ptCount val="8"/>
                      <c:pt idx="0">
                        <c:v>1.0385319814569769</c:v>
                      </c:pt>
                      <c:pt idx="1">
                        <c:v>1.2256356068501435</c:v>
                      </c:pt>
                      <c:pt idx="2">
                        <c:v>1.1595413992168262</c:v>
                      </c:pt>
                      <c:pt idx="3">
                        <c:v>1.1053138268861016</c:v>
                      </c:pt>
                      <c:pt idx="4">
                        <c:v>0.8801412474541398</c:v>
                      </c:pt>
                      <c:pt idx="5">
                        <c:v>1.0682760790873551</c:v>
                      </c:pt>
                      <c:pt idx="6">
                        <c:v>0</c:v>
                      </c:pt>
                      <c:pt idx="7">
                        <c:v>1.0929621078541822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6CE9-4D64-BE5D-D9056A14F353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חברות!$P$5:$P$6</c15:sqref>
                        </c15:formulaRef>
                      </c:ext>
                    </c:extLst>
                    <c:strCache>
                      <c:ptCount val="2"/>
                      <c:pt idx="0">
                        <c:v>פרמיות</c:v>
                      </c:pt>
                      <c:pt idx="1">
                        <c:v>שינוי</c:v>
                      </c:pt>
                    </c:strCache>
                  </c:strRef>
                </c:tx>
                <c:spPr>
                  <a:solidFill>
                    <a:schemeClr val="accent6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(חברות!$J$7:$J$11,חברות!$J$13,חברות!$J$15:$J$16)</c15:sqref>
                        </c15:formulaRef>
                      </c:ext>
                    </c:extLst>
                    <c:strCache>
                      <c:ptCount val="8"/>
                      <c:pt idx="0">
                        <c:v> איילון חברה לביטוח בע"מ </c:v>
                      </c:pt>
                      <c:pt idx="1">
                        <c:v> הפניקס חברה לביטוח בע"מ </c:v>
                      </c:pt>
                      <c:pt idx="2">
                        <c:v> הראל </c:v>
                      </c:pt>
                      <c:pt idx="3">
                        <c:v> כלל חברה לביטוח בע"מ </c:v>
                      </c:pt>
                      <c:pt idx="4">
                        <c:v> מגדל (המגן) חברה לביטוח </c:v>
                      </c:pt>
                      <c:pt idx="5">
                        <c:v> דרכים </c:v>
                      </c:pt>
                      <c:pt idx="6">
                        <c:v> קופרנינוה </c:v>
                      </c:pt>
                      <c:pt idx="7">
                        <c:v> הכשרה חברה לביטוח בע"מ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(חברות!$P$7:$P$11,חברות!$P$13,חברות!$P$15:$P$16)</c15:sqref>
                        </c15:formulaRef>
                      </c:ext>
                    </c:extLst>
                    <c:numCache>
                      <c:formatCode>0%</c:formatCode>
                      <c:ptCount val="8"/>
                      <c:pt idx="0">
                        <c:v>1.0463762064889377</c:v>
                      </c:pt>
                      <c:pt idx="1">
                        <c:v>1.2855738209367664</c:v>
                      </c:pt>
                      <c:pt idx="2">
                        <c:v>1.2294021346364679</c:v>
                      </c:pt>
                      <c:pt idx="3">
                        <c:v>1.0868643542108742</c:v>
                      </c:pt>
                      <c:pt idx="4">
                        <c:v>0.9011476965304237</c:v>
                      </c:pt>
                      <c:pt idx="5">
                        <c:v>1.0247224987497838</c:v>
                      </c:pt>
                      <c:pt idx="6">
                        <c:v>3.0126790450928382</c:v>
                      </c:pt>
                      <c:pt idx="7">
                        <c:v>1.111569785284781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6CE9-4D64-BE5D-D9056A14F353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חברות!$Q$5:$Q$6</c15:sqref>
                        </c15:formulaRef>
                      </c:ext>
                    </c:extLst>
                    <c:strCache>
                      <c:ptCount val="2"/>
                      <c:pt idx="0">
                        <c:v>כמות מסמכים בתוקף</c:v>
                      </c:pt>
                      <c:pt idx="1">
                        <c:v>2022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(חברות!$J$7:$J$11,חברות!$J$13,חברות!$J$15:$J$16)</c15:sqref>
                        </c15:formulaRef>
                      </c:ext>
                    </c:extLst>
                    <c:strCache>
                      <c:ptCount val="8"/>
                      <c:pt idx="0">
                        <c:v> איילון חברה לביטוח בע"מ </c:v>
                      </c:pt>
                      <c:pt idx="1">
                        <c:v> הפניקס חברה לביטוח בע"מ </c:v>
                      </c:pt>
                      <c:pt idx="2">
                        <c:v> הראל </c:v>
                      </c:pt>
                      <c:pt idx="3">
                        <c:v> כלל חברה לביטוח בע"מ </c:v>
                      </c:pt>
                      <c:pt idx="4">
                        <c:v> מגדל (המגן) חברה לביטוח </c:v>
                      </c:pt>
                      <c:pt idx="5">
                        <c:v> דרכים </c:v>
                      </c:pt>
                      <c:pt idx="6">
                        <c:v> קופרנינוה </c:v>
                      </c:pt>
                      <c:pt idx="7">
                        <c:v> הכשרה חברה לביטוח בע"מ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(חברות!$Q$7:$Q$11,חברות!$Q$13,חברות!$Q$15:$Q$16)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8"/>
                      <c:pt idx="0">
                        <c:v>3134</c:v>
                      </c:pt>
                      <c:pt idx="1">
                        <c:v>3080</c:v>
                      </c:pt>
                      <c:pt idx="2">
                        <c:v>1360</c:v>
                      </c:pt>
                      <c:pt idx="3">
                        <c:v>4985</c:v>
                      </c:pt>
                      <c:pt idx="4">
                        <c:v>1127</c:v>
                      </c:pt>
                      <c:pt idx="5">
                        <c:v>851</c:v>
                      </c:pt>
                      <c:pt idx="6">
                        <c:v>3</c:v>
                      </c:pt>
                      <c:pt idx="7">
                        <c:v>14544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6CE9-4D64-BE5D-D9056A14F353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חברות!$R$5:$R$6</c15:sqref>
                        </c15:formulaRef>
                      </c:ext>
                    </c:extLst>
                    <c:strCache>
                      <c:ptCount val="2"/>
                      <c:pt idx="0">
                        <c:v>כמות מסמכים בתוקף</c:v>
                      </c:pt>
                      <c:pt idx="1">
                        <c:v>2023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(חברות!$J$7:$J$11,חברות!$J$13,חברות!$J$15:$J$16)</c15:sqref>
                        </c15:formulaRef>
                      </c:ext>
                    </c:extLst>
                    <c:strCache>
                      <c:ptCount val="8"/>
                      <c:pt idx="0">
                        <c:v> איילון חברה לביטוח בע"מ </c:v>
                      </c:pt>
                      <c:pt idx="1">
                        <c:v> הפניקס חברה לביטוח בע"מ </c:v>
                      </c:pt>
                      <c:pt idx="2">
                        <c:v> הראל </c:v>
                      </c:pt>
                      <c:pt idx="3">
                        <c:v> כלל חברה לביטוח בע"מ </c:v>
                      </c:pt>
                      <c:pt idx="4">
                        <c:v> מגדל (המגן) חברה לביטוח </c:v>
                      </c:pt>
                      <c:pt idx="5">
                        <c:v> דרכים </c:v>
                      </c:pt>
                      <c:pt idx="6">
                        <c:v> קופרנינוה </c:v>
                      </c:pt>
                      <c:pt idx="7">
                        <c:v> הכשרה חברה לביטוח בע"מ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(חברות!$R$7:$R$11,חברות!$R$13,חברות!$R$15:$R$16)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8"/>
                      <c:pt idx="0">
                        <c:v>5770</c:v>
                      </c:pt>
                      <c:pt idx="1">
                        <c:v>3531</c:v>
                      </c:pt>
                      <c:pt idx="2">
                        <c:v>1456</c:v>
                      </c:pt>
                      <c:pt idx="3">
                        <c:v>4939</c:v>
                      </c:pt>
                      <c:pt idx="4">
                        <c:v>885</c:v>
                      </c:pt>
                      <c:pt idx="5">
                        <c:v>560</c:v>
                      </c:pt>
                      <c:pt idx="6">
                        <c:v>5</c:v>
                      </c:pt>
                      <c:pt idx="7">
                        <c:v>17202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6CE9-4D64-BE5D-D9056A14F353}"/>
                  </c:ext>
                </c:extLst>
              </c15:ser>
            </c15:filteredBarSeries>
            <c15:filteredB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חברות!$S$5:$S$6</c15:sqref>
                        </c15:formulaRef>
                      </c:ext>
                    </c:extLst>
                    <c:strCache>
                      <c:ptCount val="2"/>
                      <c:pt idx="0">
                        <c:v>כמות מסמכים בתוקף</c:v>
                      </c:pt>
                      <c:pt idx="1">
                        <c:v>2023</c:v>
                      </c:pt>
                    </c:strCache>
                  </c:strRef>
                </c:tx>
                <c:spPr>
                  <a:solidFill>
                    <a:schemeClr val="accent3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(חברות!$J$7:$J$11,חברות!$J$13,חברות!$J$15:$J$16)</c15:sqref>
                        </c15:formulaRef>
                      </c:ext>
                    </c:extLst>
                    <c:strCache>
                      <c:ptCount val="8"/>
                      <c:pt idx="0">
                        <c:v> איילון חברה לביטוח בע"מ </c:v>
                      </c:pt>
                      <c:pt idx="1">
                        <c:v> הפניקס חברה לביטוח בע"מ </c:v>
                      </c:pt>
                      <c:pt idx="2">
                        <c:v> הראל </c:v>
                      </c:pt>
                      <c:pt idx="3">
                        <c:v> כלל חברה לביטוח בע"מ </c:v>
                      </c:pt>
                      <c:pt idx="4">
                        <c:v> מגדל (המגן) חברה לביטוח </c:v>
                      </c:pt>
                      <c:pt idx="5">
                        <c:v> דרכים </c:v>
                      </c:pt>
                      <c:pt idx="6">
                        <c:v> קופרנינוה </c:v>
                      </c:pt>
                      <c:pt idx="7">
                        <c:v> הכשרה חברה לביטוח בע"מ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(חברות!$S$7:$S$11,חברות!$S$13,חברות!$S$15:$S$16)</c15:sqref>
                        </c15:formulaRef>
                      </c:ext>
                    </c:extLst>
                    <c:numCache>
                      <c:formatCode>General</c:formatCode>
                      <c:ptCount val="8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6CE9-4D64-BE5D-D9056A14F353}"/>
                  </c:ext>
                </c:extLst>
              </c15:ser>
            </c15:filteredBarSeries>
          </c:ext>
        </c:extLst>
      </c:barChart>
      <c:catAx>
        <c:axId val="1043666024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043658824"/>
        <c:crosses val="autoZero"/>
        <c:auto val="1"/>
        <c:lblAlgn val="ctr"/>
        <c:lblOffset val="100"/>
        <c:noMultiLvlLbl val="0"/>
      </c:catAx>
      <c:valAx>
        <c:axId val="1043658824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043666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e-IL"/>
              <a:t>דרכים</a:t>
            </a:r>
          </a:p>
          <a:p>
            <a:pPr>
              <a:defRPr/>
            </a:pPr>
            <a:r>
              <a:rPr lang="he-IL"/>
              <a:t>2022 מול 2023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plotArea>
      <c:layout>
        <c:manualLayout>
          <c:layoutTarget val="inner"/>
          <c:xMode val="edge"/>
          <c:yMode val="edge"/>
          <c:x val="7.9962411498968364E-2"/>
          <c:y val="0.17119500545706504"/>
          <c:w val="0.76784965050739584"/>
          <c:h val="0.532096006971264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חברות!$K$5:$K$6</c:f>
              <c:strCache>
                <c:ptCount val="2"/>
                <c:pt idx="0">
                  <c:v>עמלות</c:v>
                </c:pt>
                <c:pt idx="1">
                  <c:v>2022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חברות!$J$13</c:f>
              <c:strCache>
                <c:ptCount val="1"/>
                <c:pt idx="0">
                  <c:v> דרכים </c:v>
                </c:pt>
              </c:strCache>
              <c:extLst/>
            </c:strRef>
          </c:cat>
          <c:val>
            <c:numRef>
              <c:f>חברות!$K$13</c:f>
              <c:numCache>
                <c:formatCode>_ * #,##0_ ;_ * \-#,##0_ ;_ * "-"??_ ;_ @_ </c:formatCode>
                <c:ptCount val="1"/>
                <c:pt idx="0">
                  <c:v>82211.369999999981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17E9-482F-AA9E-7104A69843F2}"/>
            </c:ext>
          </c:extLst>
        </c:ser>
        <c:ser>
          <c:idx val="1"/>
          <c:order val="1"/>
          <c:tx>
            <c:strRef>
              <c:f>חברות!$L$5:$L$6</c:f>
              <c:strCache>
                <c:ptCount val="2"/>
                <c:pt idx="0">
                  <c:v>עמלות</c:v>
                </c:pt>
                <c:pt idx="1">
                  <c:v>2023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חברות!$J$13</c:f>
              <c:strCache>
                <c:ptCount val="1"/>
                <c:pt idx="0">
                  <c:v> דרכים </c:v>
                </c:pt>
              </c:strCache>
              <c:extLst/>
            </c:strRef>
          </c:cat>
          <c:val>
            <c:numRef>
              <c:f>חברות!$L$13</c:f>
              <c:numCache>
                <c:formatCode>_ * #,##0_ ;_ * \-#,##0_ ;_ * "-"??_ ;_ @_ </c:formatCode>
                <c:ptCount val="1"/>
                <c:pt idx="0">
                  <c:v>87824.439999999784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17E9-482F-AA9E-7104A69843F2}"/>
            </c:ext>
          </c:extLst>
        </c:ser>
        <c:ser>
          <c:idx val="3"/>
          <c:order val="3"/>
          <c:tx>
            <c:strRef>
              <c:f>חברות!$N$5:$N$6</c:f>
              <c:strCache>
                <c:ptCount val="2"/>
                <c:pt idx="0">
                  <c:v>פרמיות</c:v>
                </c:pt>
                <c:pt idx="1">
                  <c:v>2022</c:v>
                </c:pt>
              </c:strCache>
            </c:strRef>
          </c:tx>
          <c:spPr>
            <a:solidFill>
              <a:schemeClr val="accent4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חברות!$J$13</c:f>
              <c:strCache>
                <c:ptCount val="1"/>
                <c:pt idx="0">
                  <c:v> דרכים </c:v>
                </c:pt>
              </c:strCache>
              <c:extLst/>
            </c:strRef>
          </c:cat>
          <c:val>
            <c:numRef>
              <c:f>חברות!$N$13</c:f>
              <c:numCache>
                <c:formatCode>_ * #,##0_ ;_ * \-#,##0_ ;_ * "-"??_ ;_ @_ </c:formatCode>
                <c:ptCount val="1"/>
                <c:pt idx="0">
                  <c:v>213963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17E9-482F-AA9E-7104A69843F2}"/>
            </c:ext>
          </c:extLst>
        </c:ser>
        <c:ser>
          <c:idx val="4"/>
          <c:order val="4"/>
          <c:tx>
            <c:strRef>
              <c:f>חברות!$O$5:$O$6</c:f>
              <c:strCache>
                <c:ptCount val="2"/>
                <c:pt idx="0">
                  <c:v>פרמיות</c:v>
                </c:pt>
                <c:pt idx="1">
                  <c:v>2023</c:v>
                </c:pt>
              </c:strCache>
            </c:strRef>
          </c:tx>
          <c:spPr>
            <a:solidFill>
              <a:schemeClr val="accent5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חברות!$J$13</c:f>
              <c:strCache>
                <c:ptCount val="1"/>
                <c:pt idx="0">
                  <c:v> דרכים </c:v>
                </c:pt>
              </c:strCache>
              <c:extLst/>
            </c:strRef>
          </c:cat>
          <c:val>
            <c:numRef>
              <c:f>חברות!$O$13</c:f>
              <c:numCache>
                <c:formatCode>_ * #,##0_ ;_ * \-#,##0_ ;_ * "-"??_ ;_ @_ </c:formatCode>
                <c:ptCount val="1"/>
                <c:pt idx="0">
                  <c:v>219252.69999999998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3-17E9-482F-AA9E-7104A69843F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043666024"/>
        <c:axId val="1043658824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חברות!$M$5:$M$6</c15:sqref>
                        </c15:formulaRef>
                      </c:ext>
                    </c:extLst>
                    <c:strCache>
                      <c:ptCount val="2"/>
                      <c:pt idx="0">
                        <c:v>עמלות</c:v>
                      </c:pt>
                      <c:pt idx="1">
                        <c:v>שינוי</c:v>
                      </c:pt>
                    </c:strCache>
                  </c:strRef>
                </c:tx>
                <c:spPr>
                  <a:solidFill>
                    <a:schemeClr val="accent3"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he-IL"/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50000"/>
                                <a:lumOff val="50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חברות!$J$13</c15:sqref>
                        </c15:formulaRef>
                      </c:ext>
                    </c:extLst>
                    <c:strCache>
                      <c:ptCount val="1"/>
                      <c:pt idx="0">
                        <c:v> דרכים 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חברות!$M$13</c15:sqref>
                        </c15:formulaRef>
                      </c:ext>
                    </c:extLst>
                    <c:numCache>
                      <c:formatCode>0%</c:formatCode>
                      <c:ptCount val="1"/>
                      <c:pt idx="0">
                        <c:v>1.0682760790873551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4-17E9-482F-AA9E-7104A69843F2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חברות!$P$5:$P$6</c15:sqref>
                        </c15:formulaRef>
                      </c:ext>
                    </c:extLst>
                    <c:strCache>
                      <c:ptCount val="2"/>
                      <c:pt idx="0">
                        <c:v>פרמיות</c:v>
                      </c:pt>
                      <c:pt idx="1">
                        <c:v>שינוי</c:v>
                      </c:pt>
                    </c:strCache>
                  </c:strRef>
                </c:tx>
                <c:spPr>
                  <a:solidFill>
                    <a:schemeClr val="accent6"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he-IL"/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50000"/>
                                <a:lumOff val="50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חברות!$J$13</c15:sqref>
                        </c15:formulaRef>
                      </c:ext>
                    </c:extLst>
                    <c:strCache>
                      <c:ptCount val="1"/>
                      <c:pt idx="0">
                        <c:v> דרכים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חברות!$P$13</c15:sqref>
                        </c15:formulaRef>
                      </c:ext>
                    </c:extLst>
                    <c:numCache>
                      <c:formatCode>0%</c:formatCode>
                      <c:ptCount val="1"/>
                      <c:pt idx="0">
                        <c:v>1.0247224987497838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17E9-482F-AA9E-7104A69843F2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חברות!$Q$5:$Q$6</c15:sqref>
                        </c15:formulaRef>
                      </c:ext>
                    </c:extLst>
                    <c:strCache>
                      <c:ptCount val="2"/>
                      <c:pt idx="0">
                        <c:v>כמות מסמכים בתוקף</c:v>
                      </c:pt>
                      <c:pt idx="1">
                        <c:v>2022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he-IL"/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50000"/>
                                <a:lumOff val="50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חברות!$J$13</c15:sqref>
                        </c15:formulaRef>
                      </c:ext>
                    </c:extLst>
                    <c:strCache>
                      <c:ptCount val="1"/>
                      <c:pt idx="0">
                        <c:v> דרכים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חברות!$Q$13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1"/>
                      <c:pt idx="0">
                        <c:v>851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17E9-482F-AA9E-7104A69843F2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חברות!$R$5:$R$6</c15:sqref>
                        </c15:formulaRef>
                      </c:ext>
                    </c:extLst>
                    <c:strCache>
                      <c:ptCount val="2"/>
                      <c:pt idx="0">
                        <c:v>כמות מסמכים בתוקף</c:v>
                      </c:pt>
                      <c:pt idx="1">
                        <c:v>2023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he-IL"/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50000"/>
                                <a:lumOff val="50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חברות!$J$13</c15:sqref>
                        </c15:formulaRef>
                      </c:ext>
                    </c:extLst>
                    <c:strCache>
                      <c:ptCount val="1"/>
                      <c:pt idx="0">
                        <c:v> דרכים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חברות!$R$13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1"/>
                      <c:pt idx="0">
                        <c:v>560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17E9-482F-AA9E-7104A69843F2}"/>
                  </c:ext>
                </c:extLst>
              </c15:ser>
            </c15:filteredBarSeries>
            <c15:filteredB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חברות!$S$5:$S$6</c15:sqref>
                        </c15:formulaRef>
                      </c:ext>
                    </c:extLst>
                    <c:strCache>
                      <c:ptCount val="2"/>
                      <c:pt idx="0">
                        <c:v>כמות מסמכים בתוקף</c:v>
                      </c:pt>
                      <c:pt idx="1">
                        <c:v>2023</c:v>
                      </c:pt>
                    </c:strCache>
                  </c:strRef>
                </c:tx>
                <c:spPr>
                  <a:solidFill>
                    <a:schemeClr val="accent3">
                      <a:lumMod val="60000"/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he-IL"/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50000"/>
                                <a:lumOff val="50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חברות!$J$13</c15:sqref>
                        </c15:formulaRef>
                      </c:ext>
                    </c:extLst>
                    <c:strCache>
                      <c:ptCount val="1"/>
                      <c:pt idx="0">
                        <c:v> דרכים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חברות!$S$13</c15:sqref>
                        </c15:formulaRef>
                      </c:ext>
                    </c:extLst>
                    <c:numCache>
                      <c:formatCode>General</c:formatCode>
                      <c:ptCount val="1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17E9-482F-AA9E-7104A69843F2}"/>
                  </c:ext>
                </c:extLst>
              </c15:ser>
            </c15:filteredBarSeries>
          </c:ext>
        </c:extLst>
      </c:barChart>
      <c:catAx>
        <c:axId val="1043666024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043658824"/>
        <c:crosses val="autoZero"/>
        <c:auto val="1"/>
        <c:lblAlgn val="ctr"/>
        <c:lblOffset val="100"/>
        <c:noMultiLvlLbl val="0"/>
      </c:catAx>
      <c:valAx>
        <c:axId val="1043658824"/>
        <c:scaling>
          <c:orientation val="minMax"/>
        </c:scaling>
        <c:delete val="1"/>
        <c:axPos val="r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_ * #,##0_ ;_ * \-#,##0_ ;_ * &quot;-&quot;??_ ;_ @_ " sourceLinked="1"/>
        <c:majorTickMark val="none"/>
        <c:minorTickMark val="none"/>
        <c:tickLblPos val="nextTo"/>
        <c:crossAx val="1043666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e-IL"/>
              <a:t>פרמיות לפי טלריות</a:t>
            </a:r>
          </a:p>
          <a:p>
            <a:pPr>
              <a:defRPr/>
            </a:pPr>
            <a:r>
              <a:rPr lang="he-IL"/>
              <a:t>2022 מול 2023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plotArea>
      <c:layout/>
      <c:barChart>
        <c:barDir val="col"/>
        <c:grouping val="clustered"/>
        <c:varyColors val="0"/>
        <c:ser>
          <c:idx val="3"/>
          <c:order val="3"/>
          <c:tx>
            <c:strRef>
              <c:f>טלריות!$O$6:$O$7</c:f>
              <c:strCache>
                <c:ptCount val="2"/>
                <c:pt idx="0">
                  <c:v>פרמיות</c:v>
                </c:pt>
                <c:pt idx="1">
                  <c:v>2022</c:v>
                </c:pt>
              </c:strCache>
            </c:strRef>
          </c:tx>
          <c:spPr>
            <a:solidFill>
              <a:schemeClr val="accent4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cat>
            <c:strRef>
              <c:f>(טלריות!$K$9:$K$17,טלריות!$K$21:$K$23)</c:f>
              <c:strCache>
                <c:ptCount val="12"/>
                <c:pt idx="0">
                  <c:v>אילנה</c:v>
                </c:pt>
                <c:pt idx="1">
                  <c:v>אירית</c:v>
                </c:pt>
                <c:pt idx="2">
                  <c:v>טל</c:v>
                </c:pt>
                <c:pt idx="3">
                  <c:v>יאנה</c:v>
                </c:pt>
                <c:pt idx="4">
                  <c:v>ליאת רוזנר</c:v>
                </c:pt>
                <c:pt idx="5">
                  <c:v>מירה</c:v>
                </c:pt>
                <c:pt idx="6">
                  <c:v>סימה</c:v>
                </c:pt>
                <c:pt idx="7">
                  <c:v>עליזה</c:v>
                </c:pt>
                <c:pt idx="8">
                  <c:v>רוני</c:v>
                </c:pt>
                <c:pt idx="9">
                  <c:v> ב.חיים </c:v>
                </c:pt>
                <c:pt idx="10">
                  <c:v> ראדה </c:v>
                </c:pt>
                <c:pt idx="11">
                  <c:v> ויויאן אוחיון </c:v>
                </c:pt>
              </c:strCache>
              <c:extLst/>
            </c:strRef>
          </c:cat>
          <c:val>
            <c:numRef>
              <c:f>(טלריות!$O$9:$O$17,טלריות!$O$21:$O$23)</c:f>
              <c:numCache>
                <c:formatCode>_ * #,##0_ ;_ * \-#,##0_ ;_ * "-"??_ ;_ @_ </c:formatCode>
                <c:ptCount val="12"/>
                <c:pt idx="0">
                  <c:v>3754002.0700000003</c:v>
                </c:pt>
                <c:pt idx="1">
                  <c:v>2613177</c:v>
                </c:pt>
                <c:pt idx="2">
                  <c:v>2629794</c:v>
                </c:pt>
                <c:pt idx="3">
                  <c:v>2549309.5599999996</c:v>
                </c:pt>
                <c:pt idx="4">
                  <c:v>2415024.37</c:v>
                </c:pt>
                <c:pt idx="5">
                  <c:v>3283493.4</c:v>
                </c:pt>
                <c:pt idx="6">
                  <c:v>3097535</c:v>
                </c:pt>
                <c:pt idx="7">
                  <c:v>4456909.63</c:v>
                </c:pt>
                <c:pt idx="8">
                  <c:v>2517841</c:v>
                </c:pt>
                <c:pt idx="9">
                  <c:v>4362</c:v>
                </c:pt>
                <c:pt idx="10">
                  <c:v>0</c:v>
                </c:pt>
                <c:pt idx="11">
                  <c:v>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1207-41B5-A838-30D6EA0BDA05}"/>
            </c:ext>
          </c:extLst>
        </c:ser>
        <c:ser>
          <c:idx val="4"/>
          <c:order val="4"/>
          <c:tx>
            <c:strRef>
              <c:f>טלריות!$P$6:$P$7</c:f>
              <c:strCache>
                <c:ptCount val="2"/>
                <c:pt idx="0">
                  <c:v>פרמיות</c:v>
                </c:pt>
                <c:pt idx="1">
                  <c:v>2023</c:v>
                </c:pt>
              </c:strCache>
            </c:strRef>
          </c:tx>
          <c:spPr>
            <a:solidFill>
              <a:schemeClr val="accent5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cat>
            <c:strRef>
              <c:f>(טלריות!$K$9:$K$17,טלריות!$K$21:$K$23)</c:f>
              <c:strCache>
                <c:ptCount val="12"/>
                <c:pt idx="0">
                  <c:v>אילנה</c:v>
                </c:pt>
                <c:pt idx="1">
                  <c:v>אירית</c:v>
                </c:pt>
                <c:pt idx="2">
                  <c:v>טל</c:v>
                </c:pt>
                <c:pt idx="3">
                  <c:v>יאנה</c:v>
                </c:pt>
                <c:pt idx="4">
                  <c:v>ליאת רוזנר</c:v>
                </c:pt>
                <c:pt idx="5">
                  <c:v>מירה</c:v>
                </c:pt>
                <c:pt idx="6">
                  <c:v>סימה</c:v>
                </c:pt>
                <c:pt idx="7">
                  <c:v>עליזה</c:v>
                </c:pt>
                <c:pt idx="8">
                  <c:v>רוני</c:v>
                </c:pt>
                <c:pt idx="9">
                  <c:v> ב.חיים </c:v>
                </c:pt>
                <c:pt idx="10">
                  <c:v> ראדה </c:v>
                </c:pt>
                <c:pt idx="11">
                  <c:v> ויויאן אוחיון </c:v>
                </c:pt>
              </c:strCache>
              <c:extLst/>
            </c:strRef>
          </c:cat>
          <c:val>
            <c:numRef>
              <c:f>(טלריות!$P$9:$P$17,טלריות!$P$21:$P$23)</c:f>
              <c:numCache>
                <c:formatCode>_ * #,##0_ ;_ * \-#,##0_ ;_ * "-"??_ ;_ @_ </c:formatCode>
                <c:ptCount val="12"/>
                <c:pt idx="0">
                  <c:v>0</c:v>
                </c:pt>
                <c:pt idx="1">
                  <c:v>2971155.9600028992</c:v>
                </c:pt>
                <c:pt idx="2">
                  <c:v>2961667</c:v>
                </c:pt>
                <c:pt idx="3">
                  <c:v>2724487.18</c:v>
                </c:pt>
                <c:pt idx="4">
                  <c:v>2668085</c:v>
                </c:pt>
                <c:pt idx="5">
                  <c:v>3485644.1799999997</c:v>
                </c:pt>
                <c:pt idx="6">
                  <c:v>3262006</c:v>
                </c:pt>
                <c:pt idx="7">
                  <c:v>4914542.67</c:v>
                </c:pt>
                <c:pt idx="8">
                  <c:v>2810725</c:v>
                </c:pt>
                <c:pt idx="9">
                  <c:v>100</c:v>
                </c:pt>
                <c:pt idx="10">
                  <c:v>3377663.7099999995</c:v>
                </c:pt>
                <c:pt idx="11">
                  <c:v>1190067.74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1207-41B5-A838-30D6EA0BDA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axId val="937989216"/>
        <c:axId val="937988496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טלריות!$L$6:$L$7</c15:sqref>
                        </c15:formulaRef>
                      </c:ext>
                    </c:extLst>
                    <c:strCache>
                      <c:ptCount val="2"/>
                      <c:pt idx="0">
                        <c:v>עמלות</c:v>
                      </c:pt>
                      <c:pt idx="1">
                        <c:v>2022</c:v>
                      </c:pt>
                    </c:strCache>
                  </c:strRef>
                </c:tx>
                <c:spPr>
                  <a:solidFill>
                    <a:schemeClr val="accent1"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(טלריות!$K$9:$K$17,טלריות!$K$21:$K$23)</c15:sqref>
                        </c15:formulaRef>
                      </c:ext>
                    </c:extLst>
                    <c:strCache>
                      <c:ptCount val="12"/>
                      <c:pt idx="0">
                        <c:v>אילנה</c:v>
                      </c:pt>
                      <c:pt idx="1">
                        <c:v>אירית</c:v>
                      </c:pt>
                      <c:pt idx="2">
                        <c:v>טל</c:v>
                      </c:pt>
                      <c:pt idx="3">
                        <c:v>יאנה</c:v>
                      </c:pt>
                      <c:pt idx="4">
                        <c:v>ליאת רוזנר</c:v>
                      </c:pt>
                      <c:pt idx="5">
                        <c:v>מירה</c:v>
                      </c:pt>
                      <c:pt idx="6">
                        <c:v>סימה</c:v>
                      </c:pt>
                      <c:pt idx="7">
                        <c:v>עליזה</c:v>
                      </c:pt>
                      <c:pt idx="8">
                        <c:v>רוני</c:v>
                      </c:pt>
                      <c:pt idx="9">
                        <c:v> ב.חיים </c:v>
                      </c:pt>
                      <c:pt idx="10">
                        <c:v> ראדה </c:v>
                      </c:pt>
                      <c:pt idx="11">
                        <c:v> ויויאן אוחיון 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(טלריות!$L$9:$L$17,טלריות!$L$21:$L$23)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12"/>
                      <c:pt idx="0">
                        <c:v>597076.88499999989</c:v>
                      </c:pt>
                      <c:pt idx="1">
                        <c:v>414740.20500000002</c:v>
                      </c:pt>
                      <c:pt idx="2">
                        <c:v>421132.38999999996</c:v>
                      </c:pt>
                      <c:pt idx="3">
                        <c:v>369056.37999999995</c:v>
                      </c:pt>
                      <c:pt idx="4">
                        <c:v>380856</c:v>
                      </c:pt>
                      <c:pt idx="5">
                        <c:v>532240</c:v>
                      </c:pt>
                      <c:pt idx="6">
                        <c:v>491806.32999999996</c:v>
                      </c:pt>
                      <c:pt idx="7">
                        <c:v>675789.36999999988</c:v>
                      </c:pt>
                      <c:pt idx="8">
                        <c:v>366275.91000000003</c:v>
                      </c:pt>
                      <c:pt idx="9">
                        <c:v>620</c:v>
                      </c:pt>
                      <c:pt idx="10">
                        <c:v>0</c:v>
                      </c:pt>
                      <c:pt idx="11">
                        <c:v>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1207-41B5-A838-30D6EA0BDA05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טלריות!$M$6:$M$7</c15:sqref>
                        </c15:formulaRef>
                      </c:ext>
                    </c:extLst>
                    <c:strCache>
                      <c:ptCount val="2"/>
                      <c:pt idx="0">
                        <c:v>עמלות</c:v>
                      </c:pt>
                      <c:pt idx="1">
                        <c:v>2023</c:v>
                      </c:pt>
                    </c:strCache>
                  </c:strRef>
                </c:tx>
                <c:spPr>
                  <a:solidFill>
                    <a:schemeClr val="accent2"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(טלריות!$K$9:$K$17,טלריות!$K$21:$K$23)</c15:sqref>
                        </c15:formulaRef>
                      </c:ext>
                    </c:extLst>
                    <c:strCache>
                      <c:ptCount val="12"/>
                      <c:pt idx="0">
                        <c:v>אילנה</c:v>
                      </c:pt>
                      <c:pt idx="1">
                        <c:v>אירית</c:v>
                      </c:pt>
                      <c:pt idx="2">
                        <c:v>טל</c:v>
                      </c:pt>
                      <c:pt idx="3">
                        <c:v>יאנה</c:v>
                      </c:pt>
                      <c:pt idx="4">
                        <c:v>ליאת רוזנר</c:v>
                      </c:pt>
                      <c:pt idx="5">
                        <c:v>מירה</c:v>
                      </c:pt>
                      <c:pt idx="6">
                        <c:v>סימה</c:v>
                      </c:pt>
                      <c:pt idx="7">
                        <c:v>עליזה</c:v>
                      </c:pt>
                      <c:pt idx="8">
                        <c:v>רוני</c:v>
                      </c:pt>
                      <c:pt idx="9">
                        <c:v> ב.חיים </c:v>
                      </c:pt>
                      <c:pt idx="10">
                        <c:v> ראדה </c:v>
                      </c:pt>
                      <c:pt idx="11">
                        <c:v> ויויאן אוחיון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(טלריות!$M$9:$M$17,טלריות!$M$21:$M$23)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12"/>
                      <c:pt idx="0">
                        <c:v>0</c:v>
                      </c:pt>
                      <c:pt idx="1">
                        <c:v>463869.55999999994</c:v>
                      </c:pt>
                      <c:pt idx="2">
                        <c:v>453196.70000000007</c:v>
                      </c:pt>
                      <c:pt idx="3">
                        <c:v>404577.74000000005</c:v>
                      </c:pt>
                      <c:pt idx="4">
                        <c:v>408222.75000000006</c:v>
                      </c:pt>
                      <c:pt idx="5">
                        <c:v>553098.96</c:v>
                      </c:pt>
                      <c:pt idx="6">
                        <c:v>499302.3450000002</c:v>
                      </c:pt>
                      <c:pt idx="7">
                        <c:v>718078.35000000033</c:v>
                      </c:pt>
                      <c:pt idx="8">
                        <c:v>400205.28000000014</c:v>
                      </c:pt>
                      <c:pt idx="9">
                        <c:v>25</c:v>
                      </c:pt>
                      <c:pt idx="10">
                        <c:v>576791.45500000019</c:v>
                      </c:pt>
                      <c:pt idx="11">
                        <c:v>167069.22000000003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1207-41B5-A838-30D6EA0BDA05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טלריות!$N$6:$N$7</c15:sqref>
                        </c15:formulaRef>
                      </c:ext>
                    </c:extLst>
                    <c:strCache>
                      <c:ptCount val="2"/>
                      <c:pt idx="0">
                        <c:v>עמלות</c:v>
                      </c:pt>
                      <c:pt idx="1">
                        <c:v>שינוי</c:v>
                      </c:pt>
                    </c:strCache>
                  </c:strRef>
                </c:tx>
                <c:spPr>
                  <a:solidFill>
                    <a:schemeClr val="accent3"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(טלריות!$K$9:$K$17,טלריות!$K$21:$K$23)</c15:sqref>
                        </c15:formulaRef>
                      </c:ext>
                    </c:extLst>
                    <c:strCache>
                      <c:ptCount val="12"/>
                      <c:pt idx="0">
                        <c:v>אילנה</c:v>
                      </c:pt>
                      <c:pt idx="1">
                        <c:v>אירית</c:v>
                      </c:pt>
                      <c:pt idx="2">
                        <c:v>טל</c:v>
                      </c:pt>
                      <c:pt idx="3">
                        <c:v>יאנה</c:v>
                      </c:pt>
                      <c:pt idx="4">
                        <c:v>ליאת רוזנר</c:v>
                      </c:pt>
                      <c:pt idx="5">
                        <c:v>מירה</c:v>
                      </c:pt>
                      <c:pt idx="6">
                        <c:v>סימה</c:v>
                      </c:pt>
                      <c:pt idx="7">
                        <c:v>עליזה</c:v>
                      </c:pt>
                      <c:pt idx="8">
                        <c:v>רוני</c:v>
                      </c:pt>
                      <c:pt idx="9">
                        <c:v> ב.חיים </c:v>
                      </c:pt>
                      <c:pt idx="10">
                        <c:v> ראדה </c:v>
                      </c:pt>
                      <c:pt idx="11">
                        <c:v> ויויאן אוחיון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(טלריות!$N$9:$N$17,טלריות!$N$21:$N$23)</c15:sqref>
                        </c15:formulaRef>
                      </c:ext>
                    </c:extLst>
                    <c:numCache>
                      <c:formatCode>0%</c:formatCode>
                      <c:ptCount val="12"/>
                      <c:pt idx="0">
                        <c:v>0</c:v>
                      </c:pt>
                      <c:pt idx="1">
                        <c:v>1.1184581441772685</c:v>
                      </c:pt>
                      <c:pt idx="2">
                        <c:v>1.0761383136547633</c:v>
                      </c:pt>
                      <c:pt idx="3">
                        <c:v>1.0962491422042349</c:v>
                      </c:pt>
                      <c:pt idx="4">
                        <c:v>1.0718558982922681</c:v>
                      </c:pt>
                      <c:pt idx="5">
                        <c:v>1.0391908913272208</c:v>
                      </c:pt>
                      <c:pt idx="6">
                        <c:v>1.0152418026014431</c:v>
                      </c:pt>
                      <c:pt idx="7">
                        <c:v>1.0625771606913563</c:v>
                      </c:pt>
                      <c:pt idx="8">
                        <c:v>1.0926333648314466</c:v>
                      </c:pt>
                      <c:pt idx="9">
                        <c:v>4.0322580645161289E-2</c:v>
                      </c:pt>
                      <c:pt idx="10">
                        <c:v>0</c:v>
                      </c:pt>
                      <c:pt idx="11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1207-41B5-A838-30D6EA0BDA05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טלריות!$Q$6:$Q$7</c15:sqref>
                        </c15:formulaRef>
                      </c:ext>
                    </c:extLst>
                    <c:strCache>
                      <c:ptCount val="2"/>
                      <c:pt idx="0">
                        <c:v>פרמיות</c:v>
                      </c:pt>
                      <c:pt idx="1">
                        <c:v>שינוי</c:v>
                      </c:pt>
                    </c:strCache>
                  </c:strRef>
                </c:tx>
                <c:spPr>
                  <a:solidFill>
                    <a:schemeClr val="accent6"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(טלריות!$K$9:$K$17,טלריות!$K$21:$K$23)</c15:sqref>
                        </c15:formulaRef>
                      </c:ext>
                    </c:extLst>
                    <c:strCache>
                      <c:ptCount val="12"/>
                      <c:pt idx="0">
                        <c:v>אילנה</c:v>
                      </c:pt>
                      <c:pt idx="1">
                        <c:v>אירית</c:v>
                      </c:pt>
                      <c:pt idx="2">
                        <c:v>טל</c:v>
                      </c:pt>
                      <c:pt idx="3">
                        <c:v>יאנה</c:v>
                      </c:pt>
                      <c:pt idx="4">
                        <c:v>ליאת רוזנר</c:v>
                      </c:pt>
                      <c:pt idx="5">
                        <c:v>מירה</c:v>
                      </c:pt>
                      <c:pt idx="6">
                        <c:v>סימה</c:v>
                      </c:pt>
                      <c:pt idx="7">
                        <c:v>עליזה</c:v>
                      </c:pt>
                      <c:pt idx="8">
                        <c:v>רוני</c:v>
                      </c:pt>
                      <c:pt idx="9">
                        <c:v> ב.חיים </c:v>
                      </c:pt>
                      <c:pt idx="10">
                        <c:v> ראדה </c:v>
                      </c:pt>
                      <c:pt idx="11">
                        <c:v> ויויאן אוחיון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(טלריות!$Q$9:$Q$17,טלריות!$Q$21:$Q$23)</c15:sqref>
                        </c15:formulaRef>
                      </c:ext>
                    </c:extLst>
                    <c:numCache>
                      <c:formatCode>0%</c:formatCode>
                      <c:ptCount val="12"/>
                      <c:pt idx="0">
                        <c:v>0</c:v>
                      </c:pt>
                      <c:pt idx="1">
                        <c:v>1.1369899398329693</c:v>
                      </c:pt>
                      <c:pt idx="2">
                        <c:v>1.1261973371298284</c:v>
                      </c:pt>
                      <c:pt idx="3">
                        <c:v>1.0687157114022672</c:v>
                      </c:pt>
                      <c:pt idx="4">
                        <c:v>1.104785952946719</c:v>
                      </c:pt>
                      <c:pt idx="5">
                        <c:v>1.0615657640731058</c:v>
                      </c:pt>
                      <c:pt idx="6">
                        <c:v>1.0530973822733238</c:v>
                      </c:pt>
                      <c:pt idx="7">
                        <c:v>1.1026794523540744</c:v>
                      </c:pt>
                      <c:pt idx="8">
                        <c:v>1.1163234691944408</c:v>
                      </c:pt>
                      <c:pt idx="9">
                        <c:v>2.2925263640531865E-2</c:v>
                      </c:pt>
                      <c:pt idx="10">
                        <c:v>0</c:v>
                      </c:pt>
                      <c:pt idx="11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1207-41B5-A838-30D6EA0BDA05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טלריות!$R$6:$R$7</c15:sqref>
                        </c15:formulaRef>
                      </c:ext>
                    </c:extLst>
                    <c:strCache>
                      <c:ptCount val="2"/>
                      <c:pt idx="0">
                        <c:v>כמות מסמכים בתוקף</c:v>
                      </c:pt>
                      <c:pt idx="1">
                        <c:v>2022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(טלריות!$K$9:$K$17,טלריות!$K$21:$K$23)</c15:sqref>
                        </c15:formulaRef>
                      </c:ext>
                    </c:extLst>
                    <c:strCache>
                      <c:ptCount val="12"/>
                      <c:pt idx="0">
                        <c:v>אילנה</c:v>
                      </c:pt>
                      <c:pt idx="1">
                        <c:v>אירית</c:v>
                      </c:pt>
                      <c:pt idx="2">
                        <c:v>טל</c:v>
                      </c:pt>
                      <c:pt idx="3">
                        <c:v>יאנה</c:v>
                      </c:pt>
                      <c:pt idx="4">
                        <c:v>ליאת רוזנר</c:v>
                      </c:pt>
                      <c:pt idx="5">
                        <c:v>מירה</c:v>
                      </c:pt>
                      <c:pt idx="6">
                        <c:v>סימה</c:v>
                      </c:pt>
                      <c:pt idx="7">
                        <c:v>עליזה</c:v>
                      </c:pt>
                      <c:pt idx="8">
                        <c:v>רוני</c:v>
                      </c:pt>
                      <c:pt idx="9">
                        <c:v> ב.חיים </c:v>
                      </c:pt>
                      <c:pt idx="10">
                        <c:v> ראדה </c:v>
                      </c:pt>
                      <c:pt idx="11">
                        <c:v> ויויאן אוחיון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(טלריות!$R$9:$R$17,טלריות!$R$21:$R$23)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12"/>
                      <c:pt idx="0">
                        <c:v>2084</c:v>
                      </c:pt>
                      <c:pt idx="1">
                        <c:v>1712</c:v>
                      </c:pt>
                      <c:pt idx="2">
                        <c:v>1600</c:v>
                      </c:pt>
                      <c:pt idx="3">
                        <c:v>1311</c:v>
                      </c:pt>
                      <c:pt idx="4">
                        <c:v>1444</c:v>
                      </c:pt>
                      <c:pt idx="5">
                        <c:v>1566</c:v>
                      </c:pt>
                      <c:pt idx="6">
                        <c:v>1410</c:v>
                      </c:pt>
                      <c:pt idx="7">
                        <c:v>1874</c:v>
                      </c:pt>
                      <c:pt idx="8">
                        <c:v>1258</c:v>
                      </c:pt>
                      <c:pt idx="9">
                        <c:v>7</c:v>
                      </c:pt>
                      <c:pt idx="10">
                        <c:v>0</c:v>
                      </c:pt>
                      <c:pt idx="11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1207-41B5-A838-30D6EA0BDA05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טלריות!$S$6:$S$7</c15:sqref>
                        </c15:formulaRef>
                      </c:ext>
                    </c:extLst>
                    <c:strCache>
                      <c:ptCount val="2"/>
                      <c:pt idx="0">
                        <c:v>כמות מסמכים בתוקף</c:v>
                      </c:pt>
                      <c:pt idx="1">
                        <c:v>2023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(טלריות!$K$9:$K$17,טלריות!$K$21:$K$23)</c15:sqref>
                        </c15:formulaRef>
                      </c:ext>
                    </c:extLst>
                    <c:strCache>
                      <c:ptCount val="12"/>
                      <c:pt idx="0">
                        <c:v>אילנה</c:v>
                      </c:pt>
                      <c:pt idx="1">
                        <c:v>אירית</c:v>
                      </c:pt>
                      <c:pt idx="2">
                        <c:v>טל</c:v>
                      </c:pt>
                      <c:pt idx="3">
                        <c:v>יאנה</c:v>
                      </c:pt>
                      <c:pt idx="4">
                        <c:v>ליאת רוזנר</c:v>
                      </c:pt>
                      <c:pt idx="5">
                        <c:v>מירה</c:v>
                      </c:pt>
                      <c:pt idx="6">
                        <c:v>סימה</c:v>
                      </c:pt>
                      <c:pt idx="7">
                        <c:v>עליזה</c:v>
                      </c:pt>
                      <c:pt idx="8">
                        <c:v>רוני</c:v>
                      </c:pt>
                      <c:pt idx="9">
                        <c:v> ב.חיים </c:v>
                      </c:pt>
                      <c:pt idx="10">
                        <c:v> ראדה </c:v>
                      </c:pt>
                      <c:pt idx="11">
                        <c:v> ויויאן אוחיון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(טלריות!$S$9:$S$17,טלריות!$S$21:$S$23)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12"/>
                      <c:pt idx="0">
                        <c:v>0</c:v>
                      </c:pt>
                      <c:pt idx="1">
                        <c:v>1784</c:v>
                      </c:pt>
                      <c:pt idx="2">
                        <c:v>1864</c:v>
                      </c:pt>
                      <c:pt idx="3">
                        <c:v>1570</c:v>
                      </c:pt>
                      <c:pt idx="4">
                        <c:v>1588</c:v>
                      </c:pt>
                      <c:pt idx="5">
                        <c:v>1876</c:v>
                      </c:pt>
                      <c:pt idx="6">
                        <c:v>1948</c:v>
                      </c:pt>
                      <c:pt idx="7">
                        <c:v>2222</c:v>
                      </c:pt>
                      <c:pt idx="8">
                        <c:v>1725</c:v>
                      </c:pt>
                      <c:pt idx="9">
                        <c:v>1</c:v>
                      </c:pt>
                      <c:pt idx="10">
                        <c:v>2091</c:v>
                      </c:pt>
                      <c:pt idx="11">
                        <c:v>351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1207-41B5-A838-30D6EA0BDA05}"/>
                  </c:ext>
                </c:extLst>
              </c15:ser>
            </c15:filteredBarSeries>
          </c:ext>
        </c:extLst>
      </c:barChart>
      <c:catAx>
        <c:axId val="937989216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37988496"/>
        <c:crosses val="autoZero"/>
        <c:auto val="1"/>
        <c:lblAlgn val="ctr"/>
        <c:lblOffset val="100"/>
        <c:noMultiLvlLbl val="0"/>
      </c:catAx>
      <c:valAx>
        <c:axId val="937988496"/>
        <c:scaling>
          <c:orientation val="minMax"/>
        </c:scaling>
        <c:delete val="1"/>
        <c:axPos val="r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_ * #,##0_ ;_ * \-#,##0_ ;_ * &quot;-&quot;??_ ;_ @_ " sourceLinked="1"/>
        <c:majorTickMark val="none"/>
        <c:minorTickMark val="none"/>
        <c:tickLblPos val="nextTo"/>
        <c:crossAx val="937989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e-IL"/>
              <a:t>עמלות לפי טלריות</a:t>
            </a:r>
          </a:p>
          <a:p>
            <a:pPr>
              <a:defRPr/>
            </a:pPr>
            <a:r>
              <a:rPr lang="he-IL"/>
              <a:t>2022 מול 2023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טלריות!$L$6:$L$7</c:f>
              <c:strCache>
                <c:ptCount val="2"/>
                <c:pt idx="0">
                  <c:v>עמלות</c:v>
                </c:pt>
                <c:pt idx="1">
                  <c:v>2022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cat>
            <c:strRef>
              <c:f>(טלריות!$K$9:$K$17,טלריות!$K$21:$K$23)</c:f>
              <c:strCache>
                <c:ptCount val="12"/>
                <c:pt idx="0">
                  <c:v>אילנה</c:v>
                </c:pt>
                <c:pt idx="1">
                  <c:v>אירית</c:v>
                </c:pt>
                <c:pt idx="2">
                  <c:v>טל</c:v>
                </c:pt>
                <c:pt idx="3">
                  <c:v>יאנה</c:v>
                </c:pt>
                <c:pt idx="4">
                  <c:v>ליאת רוזנר</c:v>
                </c:pt>
                <c:pt idx="5">
                  <c:v>מירה</c:v>
                </c:pt>
                <c:pt idx="6">
                  <c:v>סימה</c:v>
                </c:pt>
                <c:pt idx="7">
                  <c:v>עליזה</c:v>
                </c:pt>
                <c:pt idx="8">
                  <c:v>רוני</c:v>
                </c:pt>
                <c:pt idx="9">
                  <c:v> ב.חיים </c:v>
                </c:pt>
                <c:pt idx="10">
                  <c:v> ראדה </c:v>
                </c:pt>
                <c:pt idx="11">
                  <c:v> ויויאן אוחיון </c:v>
                </c:pt>
              </c:strCache>
              <c:extLst/>
            </c:strRef>
          </c:cat>
          <c:val>
            <c:numRef>
              <c:f>(טלריות!$L$9:$L$17,טלריות!$L$21:$L$23)</c:f>
              <c:numCache>
                <c:formatCode>_ * #,##0_ ;_ * \-#,##0_ ;_ * "-"??_ ;_ @_ </c:formatCode>
                <c:ptCount val="12"/>
                <c:pt idx="0">
                  <c:v>597076.88499999989</c:v>
                </c:pt>
                <c:pt idx="1">
                  <c:v>414740.20500000002</c:v>
                </c:pt>
                <c:pt idx="2">
                  <c:v>421132.38999999996</c:v>
                </c:pt>
                <c:pt idx="3">
                  <c:v>369056.37999999995</c:v>
                </c:pt>
                <c:pt idx="4">
                  <c:v>380856</c:v>
                </c:pt>
                <c:pt idx="5">
                  <c:v>532240</c:v>
                </c:pt>
                <c:pt idx="6">
                  <c:v>491806.32999999996</c:v>
                </c:pt>
                <c:pt idx="7">
                  <c:v>675789.36999999988</c:v>
                </c:pt>
                <c:pt idx="8">
                  <c:v>366275.91000000003</c:v>
                </c:pt>
                <c:pt idx="9">
                  <c:v>620</c:v>
                </c:pt>
                <c:pt idx="10">
                  <c:v>0</c:v>
                </c:pt>
                <c:pt idx="11">
                  <c:v>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7775-4384-97AD-36BE53E98FE9}"/>
            </c:ext>
          </c:extLst>
        </c:ser>
        <c:ser>
          <c:idx val="1"/>
          <c:order val="1"/>
          <c:tx>
            <c:strRef>
              <c:f>טלריות!$M$6:$M$7</c:f>
              <c:strCache>
                <c:ptCount val="2"/>
                <c:pt idx="0">
                  <c:v>עמלות</c:v>
                </c:pt>
                <c:pt idx="1">
                  <c:v>2023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cat>
            <c:strRef>
              <c:f>(טלריות!$K$9:$K$17,טלריות!$K$21:$K$23)</c:f>
              <c:strCache>
                <c:ptCount val="12"/>
                <c:pt idx="0">
                  <c:v>אילנה</c:v>
                </c:pt>
                <c:pt idx="1">
                  <c:v>אירית</c:v>
                </c:pt>
                <c:pt idx="2">
                  <c:v>טל</c:v>
                </c:pt>
                <c:pt idx="3">
                  <c:v>יאנה</c:v>
                </c:pt>
                <c:pt idx="4">
                  <c:v>ליאת רוזנר</c:v>
                </c:pt>
                <c:pt idx="5">
                  <c:v>מירה</c:v>
                </c:pt>
                <c:pt idx="6">
                  <c:v>סימה</c:v>
                </c:pt>
                <c:pt idx="7">
                  <c:v>עליזה</c:v>
                </c:pt>
                <c:pt idx="8">
                  <c:v>רוני</c:v>
                </c:pt>
                <c:pt idx="9">
                  <c:v> ב.חיים </c:v>
                </c:pt>
                <c:pt idx="10">
                  <c:v> ראדה </c:v>
                </c:pt>
                <c:pt idx="11">
                  <c:v> ויויאן אוחיון </c:v>
                </c:pt>
              </c:strCache>
              <c:extLst/>
            </c:strRef>
          </c:cat>
          <c:val>
            <c:numRef>
              <c:f>(טלריות!$M$9:$M$17,טלריות!$M$21:$M$23)</c:f>
              <c:numCache>
                <c:formatCode>_ * #,##0_ ;_ * \-#,##0_ ;_ * "-"??_ ;_ @_ </c:formatCode>
                <c:ptCount val="12"/>
                <c:pt idx="0">
                  <c:v>0</c:v>
                </c:pt>
                <c:pt idx="1">
                  <c:v>463869.55999999994</c:v>
                </c:pt>
                <c:pt idx="2">
                  <c:v>453196.70000000007</c:v>
                </c:pt>
                <c:pt idx="3">
                  <c:v>404577.74000000005</c:v>
                </c:pt>
                <c:pt idx="4">
                  <c:v>408222.75000000006</c:v>
                </c:pt>
                <c:pt idx="5">
                  <c:v>553098.96</c:v>
                </c:pt>
                <c:pt idx="6">
                  <c:v>499302.3450000002</c:v>
                </c:pt>
                <c:pt idx="7">
                  <c:v>718078.35000000033</c:v>
                </c:pt>
                <c:pt idx="8">
                  <c:v>400205.28000000014</c:v>
                </c:pt>
                <c:pt idx="9">
                  <c:v>25</c:v>
                </c:pt>
                <c:pt idx="10">
                  <c:v>576791.45500000019</c:v>
                </c:pt>
                <c:pt idx="11">
                  <c:v>167069.22000000003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7775-4384-97AD-36BE53E98F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axId val="937989216"/>
        <c:axId val="937988496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טלריות!$N$6:$N$7</c15:sqref>
                        </c15:formulaRef>
                      </c:ext>
                    </c:extLst>
                    <c:strCache>
                      <c:ptCount val="2"/>
                      <c:pt idx="0">
                        <c:v>עמלות</c:v>
                      </c:pt>
                      <c:pt idx="1">
                        <c:v>שינוי</c:v>
                      </c:pt>
                    </c:strCache>
                  </c:strRef>
                </c:tx>
                <c:spPr>
                  <a:solidFill>
                    <a:schemeClr val="accent3"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(טלריות!$K$9:$K$17,טלריות!$K$21:$K$23)</c15:sqref>
                        </c15:formulaRef>
                      </c:ext>
                    </c:extLst>
                    <c:strCache>
                      <c:ptCount val="12"/>
                      <c:pt idx="0">
                        <c:v>אילנה</c:v>
                      </c:pt>
                      <c:pt idx="1">
                        <c:v>אירית</c:v>
                      </c:pt>
                      <c:pt idx="2">
                        <c:v>טל</c:v>
                      </c:pt>
                      <c:pt idx="3">
                        <c:v>יאנה</c:v>
                      </c:pt>
                      <c:pt idx="4">
                        <c:v>ליאת רוזנר</c:v>
                      </c:pt>
                      <c:pt idx="5">
                        <c:v>מירה</c:v>
                      </c:pt>
                      <c:pt idx="6">
                        <c:v>סימה</c:v>
                      </c:pt>
                      <c:pt idx="7">
                        <c:v>עליזה</c:v>
                      </c:pt>
                      <c:pt idx="8">
                        <c:v>רוני</c:v>
                      </c:pt>
                      <c:pt idx="9">
                        <c:v> ב.חיים </c:v>
                      </c:pt>
                      <c:pt idx="10">
                        <c:v> ראדה </c:v>
                      </c:pt>
                      <c:pt idx="11">
                        <c:v> ויויאן אוחיון 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(טלריות!$N$9:$N$17,טלריות!$N$21:$N$23)</c15:sqref>
                        </c15:formulaRef>
                      </c:ext>
                    </c:extLst>
                    <c:numCache>
                      <c:formatCode>0%</c:formatCode>
                      <c:ptCount val="12"/>
                      <c:pt idx="0">
                        <c:v>0</c:v>
                      </c:pt>
                      <c:pt idx="1">
                        <c:v>1.1184581441772685</c:v>
                      </c:pt>
                      <c:pt idx="2">
                        <c:v>1.0761383136547633</c:v>
                      </c:pt>
                      <c:pt idx="3">
                        <c:v>1.0962491422042349</c:v>
                      </c:pt>
                      <c:pt idx="4">
                        <c:v>1.0718558982922681</c:v>
                      </c:pt>
                      <c:pt idx="5">
                        <c:v>1.0391908913272208</c:v>
                      </c:pt>
                      <c:pt idx="6">
                        <c:v>1.0152418026014431</c:v>
                      </c:pt>
                      <c:pt idx="7">
                        <c:v>1.0625771606913563</c:v>
                      </c:pt>
                      <c:pt idx="8">
                        <c:v>1.0926333648314466</c:v>
                      </c:pt>
                      <c:pt idx="9">
                        <c:v>4.0322580645161289E-2</c:v>
                      </c:pt>
                      <c:pt idx="10">
                        <c:v>0</c:v>
                      </c:pt>
                      <c:pt idx="11">
                        <c:v>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7775-4384-97AD-36BE53E98FE9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טלריות!$O$6:$O$7</c15:sqref>
                        </c15:formulaRef>
                      </c:ext>
                    </c:extLst>
                    <c:strCache>
                      <c:ptCount val="2"/>
                      <c:pt idx="0">
                        <c:v>פרמיות</c:v>
                      </c:pt>
                      <c:pt idx="1">
                        <c:v>2022</c:v>
                      </c:pt>
                    </c:strCache>
                  </c:strRef>
                </c:tx>
                <c:spPr>
                  <a:solidFill>
                    <a:schemeClr val="accent4"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(טלריות!$K$9:$K$17,טלריות!$K$21:$K$23)</c15:sqref>
                        </c15:formulaRef>
                      </c:ext>
                    </c:extLst>
                    <c:strCache>
                      <c:ptCount val="12"/>
                      <c:pt idx="0">
                        <c:v>אילנה</c:v>
                      </c:pt>
                      <c:pt idx="1">
                        <c:v>אירית</c:v>
                      </c:pt>
                      <c:pt idx="2">
                        <c:v>טל</c:v>
                      </c:pt>
                      <c:pt idx="3">
                        <c:v>יאנה</c:v>
                      </c:pt>
                      <c:pt idx="4">
                        <c:v>ליאת רוזנר</c:v>
                      </c:pt>
                      <c:pt idx="5">
                        <c:v>מירה</c:v>
                      </c:pt>
                      <c:pt idx="6">
                        <c:v>סימה</c:v>
                      </c:pt>
                      <c:pt idx="7">
                        <c:v>עליזה</c:v>
                      </c:pt>
                      <c:pt idx="8">
                        <c:v>רוני</c:v>
                      </c:pt>
                      <c:pt idx="9">
                        <c:v> ב.חיים </c:v>
                      </c:pt>
                      <c:pt idx="10">
                        <c:v> ראדה </c:v>
                      </c:pt>
                      <c:pt idx="11">
                        <c:v> ויויאן אוחיון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(טלריות!$O$9:$O$17,טלריות!$O$21:$O$23)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12"/>
                      <c:pt idx="0">
                        <c:v>3754002.0700000003</c:v>
                      </c:pt>
                      <c:pt idx="1">
                        <c:v>2613177</c:v>
                      </c:pt>
                      <c:pt idx="2">
                        <c:v>2629794</c:v>
                      </c:pt>
                      <c:pt idx="3">
                        <c:v>2549309.5599999996</c:v>
                      </c:pt>
                      <c:pt idx="4">
                        <c:v>2415024.37</c:v>
                      </c:pt>
                      <c:pt idx="5">
                        <c:v>3283493.4</c:v>
                      </c:pt>
                      <c:pt idx="6">
                        <c:v>3097535</c:v>
                      </c:pt>
                      <c:pt idx="7">
                        <c:v>4456909.63</c:v>
                      </c:pt>
                      <c:pt idx="8">
                        <c:v>2517841</c:v>
                      </c:pt>
                      <c:pt idx="9">
                        <c:v>4362</c:v>
                      </c:pt>
                      <c:pt idx="10">
                        <c:v>0</c:v>
                      </c:pt>
                      <c:pt idx="11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7775-4384-97AD-36BE53E98FE9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טלריות!$P$6:$P$7</c15:sqref>
                        </c15:formulaRef>
                      </c:ext>
                    </c:extLst>
                    <c:strCache>
                      <c:ptCount val="2"/>
                      <c:pt idx="0">
                        <c:v>פרמיות</c:v>
                      </c:pt>
                      <c:pt idx="1">
                        <c:v>2023</c:v>
                      </c:pt>
                    </c:strCache>
                  </c:strRef>
                </c:tx>
                <c:spPr>
                  <a:solidFill>
                    <a:schemeClr val="accent5"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(טלריות!$K$9:$K$17,טלריות!$K$21:$K$23)</c15:sqref>
                        </c15:formulaRef>
                      </c:ext>
                    </c:extLst>
                    <c:strCache>
                      <c:ptCount val="12"/>
                      <c:pt idx="0">
                        <c:v>אילנה</c:v>
                      </c:pt>
                      <c:pt idx="1">
                        <c:v>אירית</c:v>
                      </c:pt>
                      <c:pt idx="2">
                        <c:v>טל</c:v>
                      </c:pt>
                      <c:pt idx="3">
                        <c:v>יאנה</c:v>
                      </c:pt>
                      <c:pt idx="4">
                        <c:v>ליאת רוזנר</c:v>
                      </c:pt>
                      <c:pt idx="5">
                        <c:v>מירה</c:v>
                      </c:pt>
                      <c:pt idx="6">
                        <c:v>סימה</c:v>
                      </c:pt>
                      <c:pt idx="7">
                        <c:v>עליזה</c:v>
                      </c:pt>
                      <c:pt idx="8">
                        <c:v>רוני</c:v>
                      </c:pt>
                      <c:pt idx="9">
                        <c:v> ב.חיים </c:v>
                      </c:pt>
                      <c:pt idx="10">
                        <c:v> ראדה </c:v>
                      </c:pt>
                      <c:pt idx="11">
                        <c:v> ויויאן אוחיון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(טלריות!$P$9:$P$17,טלריות!$P$21:$P$23)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12"/>
                      <c:pt idx="0">
                        <c:v>0</c:v>
                      </c:pt>
                      <c:pt idx="1">
                        <c:v>2971155.9600028992</c:v>
                      </c:pt>
                      <c:pt idx="2">
                        <c:v>2961667</c:v>
                      </c:pt>
                      <c:pt idx="3">
                        <c:v>2724487.18</c:v>
                      </c:pt>
                      <c:pt idx="4">
                        <c:v>2668085</c:v>
                      </c:pt>
                      <c:pt idx="5">
                        <c:v>3485644.1799999997</c:v>
                      </c:pt>
                      <c:pt idx="6">
                        <c:v>3262006</c:v>
                      </c:pt>
                      <c:pt idx="7">
                        <c:v>4914542.67</c:v>
                      </c:pt>
                      <c:pt idx="8">
                        <c:v>2810725</c:v>
                      </c:pt>
                      <c:pt idx="9">
                        <c:v>100</c:v>
                      </c:pt>
                      <c:pt idx="10">
                        <c:v>3377663.7099999995</c:v>
                      </c:pt>
                      <c:pt idx="11">
                        <c:v>1190067.74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7775-4384-97AD-36BE53E98FE9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טלריות!$Q$6:$Q$7</c15:sqref>
                        </c15:formulaRef>
                      </c:ext>
                    </c:extLst>
                    <c:strCache>
                      <c:ptCount val="2"/>
                      <c:pt idx="0">
                        <c:v>פרמיות</c:v>
                      </c:pt>
                      <c:pt idx="1">
                        <c:v>שינוי</c:v>
                      </c:pt>
                    </c:strCache>
                  </c:strRef>
                </c:tx>
                <c:spPr>
                  <a:solidFill>
                    <a:schemeClr val="accent6"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(טלריות!$K$9:$K$17,טלריות!$K$21:$K$23)</c15:sqref>
                        </c15:formulaRef>
                      </c:ext>
                    </c:extLst>
                    <c:strCache>
                      <c:ptCount val="12"/>
                      <c:pt idx="0">
                        <c:v>אילנה</c:v>
                      </c:pt>
                      <c:pt idx="1">
                        <c:v>אירית</c:v>
                      </c:pt>
                      <c:pt idx="2">
                        <c:v>טל</c:v>
                      </c:pt>
                      <c:pt idx="3">
                        <c:v>יאנה</c:v>
                      </c:pt>
                      <c:pt idx="4">
                        <c:v>ליאת רוזנר</c:v>
                      </c:pt>
                      <c:pt idx="5">
                        <c:v>מירה</c:v>
                      </c:pt>
                      <c:pt idx="6">
                        <c:v>סימה</c:v>
                      </c:pt>
                      <c:pt idx="7">
                        <c:v>עליזה</c:v>
                      </c:pt>
                      <c:pt idx="8">
                        <c:v>רוני</c:v>
                      </c:pt>
                      <c:pt idx="9">
                        <c:v> ב.חיים </c:v>
                      </c:pt>
                      <c:pt idx="10">
                        <c:v> ראדה </c:v>
                      </c:pt>
                      <c:pt idx="11">
                        <c:v> ויויאן אוחיון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(טלריות!$Q$9:$Q$17,טלריות!$Q$21:$Q$23)</c15:sqref>
                        </c15:formulaRef>
                      </c:ext>
                    </c:extLst>
                    <c:numCache>
                      <c:formatCode>0%</c:formatCode>
                      <c:ptCount val="12"/>
                      <c:pt idx="0">
                        <c:v>0</c:v>
                      </c:pt>
                      <c:pt idx="1">
                        <c:v>1.1369899398329693</c:v>
                      </c:pt>
                      <c:pt idx="2">
                        <c:v>1.1261973371298284</c:v>
                      </c:pt>
                      <c:pt idx="3">
                        <c:v>1.0687157114022672</c:v>
                      </c:pt>
                      <c:pt idx="4">
                        <c:v>1.104785952946719</c:v>
                      </c:pt>
                      <c:pt idx="5">
                        <c:v>1.0615657640731058</c:v>
                      </c:pt>
                      <c:pt idx="6">
                        <c:v>1.0530973822733238</c:v>
                      </c:pt>
                      <c:pt idx="7">
                        <c:v>1.1026794523540744</c:v>
                      </c:pt>
                      <c:pt idx="8">
                        <c:v>1.1163234691944408</c:v>
                      </c:pt>
                      <c:pt idx="9">
                        <c:v>2.2925263640531865E-2</c:v>
                      </c:pt>
                      <c:pt idx="10">
                        <c:v>0</c:v>
                      </c:pt>
                      <c:pt idx="11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7775-4384-97AD-36BE53E98FE9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טלריות!$R$6:$R$7</c15:sqref>
                        </c15:formulaRef>
                      </c:ext>
                    </c:extLst>
                    <c:strCache>
                      <c:ptCount val="2"/>
                      <c:pt idx="0">
                        <c:v>כמות מסמכים בתוקף</c:v>
                      </c:pt>
                      <c:pt idx="1">
                        <c:v>2022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(טלריות!$K$9:$K$17,טלריות!$K$21:$K$23)</c15:sqref>
                        </c15:formulaRef>
                      </c:ext>
                    </c:extLst>
                    <c:strCache>
                      <c:ptCount val="12"/>
                      <c:pt idx="0">
                        <c:v>אילנה</c:v>
                      </c:pt>
                      <c:pt idx="1">
                        <c:v>אירית</c:v>
                      </c:pt>
                      <c:pt idx="2">
                        <c:v>טל</c:v>
                      </c:pt>
                      <c:pt idx="3">
                        <c:v>יאנה</c:v>
                      </c:pt>
                      <c:pt idx="4">
                        <c:v>ליאת רוזנר</c:v>
                      </c:pt>
                      <c:pt idx="5">
                        <c:v>מירה</c:v>
                      </c:pt>
                      <c:pt idx="6">
                        <c:v>סימה</c:v>
                      </c:pt>
                      <c:pt idx="7">
                        <c:v>עליזה</c:v>
                      </c:pt>
                      <c:pt idx="8">
                        <c:v>רוני</c:v>
                      </c:pt>
                      <c:pt idx="9">
                        <c:v> ב.חיים </c:v>
                      </c:pt>
                      <c:pt idx="10">
                        <c:v> ראדה </c:v>
                      </c:pt>
                      <c:pt idx="11">
                        <c:v> ויויאן אוחיון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(טלריות!$R$9:$R$17,טלריות!$R$21:$R$23)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12"/>
                      <c:pt idx="0">
                        <c:v>2084</c:v>
                      </c:pt>
                      <c:pt idx="1">
                        <c:v>1712</c:v>
                      </c:pt>
                      <c:pt idx="2">
                        <c:v>1600</c:v>
                      </c:pt>
                      <c:pt idx="3">
                        <c:v>1311</c:v>
                      </c:pt>
                      <c:pt idx="4">
                        <c:v>1444</c:v>
                      </c:pt>
                      <c:pt idx="5">
                        <c:v>1566</c:v>
                      </c:pt>
                      <c:pt idx="6">
                        <c:v>1410</c:v>
                      </c:pt>
                      <c:pt idx="7">
                        <c:v>1874</c:v>
                      </c:pt>
                      <c:pt idx="8">
                        <c:v>1258</c:v>
                      </c:pt>
                      <c:pt idx="9">
                        <c:v>7</c:v>
                      </c:pt>
                      <c:pt idx="10">
                        <c:v>0</c:v>
                      </c:pt>
                      <c:pt idx="11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7775-4384-97AD-36BE53E98FE9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טלריות!$S$6:$S$7</c15:sqref>
                        </c15:formulaRef>
                      </c:ext>
                    </c:extLst>
                    <c:strCache>
                      <c:ptCount val="2"/>
                      <c:pt idx="0">
                        <c:v>כמות מסמכים בתוקף</c:v>
                      </c:pt>
                      <c:pt idx="1">
                        <c:v>2023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(טלריות!$K$9:$K$17,טלריות!$K$21:$K$23)</c15:sqref>
                        </c15:formulaRef>
                      </c:ext>
                    </c:extLst>
                    <c:strCache>
                      <c:ptCount val="12"/>
                      <c:pt idx="0">
                        <c:v>אילנה</c:v>
                      </c:pt>
                      <c:pt idx="1">
                        <c:v>אירית</c:v>
                      </c:pt>
                      <c:pt idx="2">
                        <c:v>טל</c:v>
                      </c:pt>
                      <c:pt idx="3">
                        <c:v>יאנה</c:v>
                      </c:pt>
                      <c:pt idx="4">
                        <c:v>ליאת רוזנר</c:v>
                      </c:pt>
                      <c:pt idx="5">
                        <c:v>מירה</c:v>
                      </c:pt>
                      <c:pt idx="6">
                        <c:v>סימה</c:v>
                      </c:pt>
                      <c:pt idx="7">
                        <c:v>עליזה</c:v>
                      </c:pt>
                      <c:pt idx="8">
                        <c:v>רוני</c:v>
                      </c:pt>
                      <c:pt idx="9">
                        <c:v> ב.חיים </c:v>
                      </c:pt>
                      <c:pt idx="10">
                        <c:v> ראדה </c:v>
                      </c:pt>
                      <c:pt idx="11">
                        <c:v> ויויאן אוחיון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(טלריות!$S$9:$S$17,טלריות!$S$21:$S$23)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12"/>
                      <c:pt idx="0">
                        <c:v>0</c:v>
                      </c:pt>
                      <c:pt idx="1">
                        <c:v>1784</c:v>
                      </c:pt>
                      <c:pt idx="2">
                        <c:v>1864</c:v>
                      </c:pt>
                      <c:pt idx="3">
                        <c:v>1570</c:v>
                      </c:pt>
                      <c:pt idx="4">
                        <c:v>1588</c:v>
                      </c:pt>
                      <c:pt idx="5">
                        <c:v>1876</c:v>
                      </c:pt>
                      <c:pt idx="6">
                        <c:v>1948</c:v>
                      </c:pt>
                      <c:pt idx="7">
                        <c:v>2222</c:v>
                      </c:pt>
                      <c:pt idx="8">
                        <c:v>1725</c:v>
                      </c:pt>
                      <c:pt idx="9">
                        <c:v>1</c:v>
                      </c:pt>
                      <c:pt idx="10">
                        <c:v>2091</c:v>
                      </c:pt>
                      <c:pt idx="11">
                        <c:v>351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7775-4384-97AD-36BE53E98FE9}"/>
                  </c:ext>
                </c:extLst>
              </c15:ser>
            </c15:filteredBarSeries>
          </c:ext>
        </c:extLst>
      </c:barChart>
      <c:catAx>
        <c:axId val="937989216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37988496"/>
        <c:crosses val="autoZero"/>
        <c:auto val="1"/>
        <c:lblAlgn val="ctr"/>
        <c:lblOffset val="100"/>
        <c:noMultiLvlLbl val="0"/>
      </c:catAx>
      <c:valAx>
        <c:axId val="937988496"/>
        <c:scaling>
          <c:orientation val="minMax"/>
        </c:scaling>
        <c:delete val="1"/>
        <c:axPos val="r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_ * #,##0_ ;_ * \-#,##0_ ;_ * &quot;-&quot;??_ ;_ @_ " sourceLinked="1"/>
        <c:majorTickMark val="none"/>
        <c:minorTickMark val="none"/>
        <c:tickLblPos val="nextTo"/>
        <c:crossAx val="937989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e-IL" baseline="0">
                <a:solidFill>
                  <a:schemeClr val="accent6">
                    <a:lumMod val="75000"/>
                  </a:schemeClr>
                </a:solidFill>
              </a:rPr>
              <a:t>השוואה לפי סוכנים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1"/>
          <c:order val="1"/>
          <c:tx>
            <c:strRef>
              <c:f>סוכנים!$J$14</c:f>
              <c:strCache>
                <c:ptCount val="1"/>
                <c:pt idx="0">
                  <c:v> אבנר פינקל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multiLvlStrRef>
              <c:f>סוכנים!$K$11:$M$12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שינוי</c:v>
                  </c:pt>
                </c:lvl>
                <c:lvl>
                  <c:pt idx="0">
                    <c:v>עמלות</c:v>
                  </c:pt>
                </c:lvl>
              </c:multiLvlStrCache>
              <c:extLst/>
            </c:multiLvlStrRef>
          </c:cat>
          <c:val>
            <c:numRef>
              <c:f>סוכנים!$K$14:$L$14</c:f>
              <c:numCache>
                <c:formatCode>_ * #,##0_ ;_ * \-#,##0_ ;_ * "-"??_ ;_ @_ </c:formatCode>
                <c:ptCount val="2"/>
                <c:pt idx="0">
                  <c:v>58757.8</c:v>
                </c:pt>
                <c:pt idx="1">
                  <c:v>63997.380000000005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B5BD-46DB-ACB9-7B81E703D393}"/>
            </c:ext>
          </c:extLst>
        </c:ser>
        <c:ser>
          <c:idx val="2"/>
          <c:order val="2"/>
          <c:tx>
            <c:strRef>
              <c:f>סוכנים!$J$15</c:f>
              <c:strCache>
                <c:ptCount val="1"/>
                <c:pt idx="0">
                  <c:v> בית יצחק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multiLvlStrRef>
              <c:f>סוכנים!$K$11:$M$12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שינוי</c:v>
                  </c:pt>
                </c:lvl>
                <c:lvl>
                  <c:pt idx="0">
                    <c:v>עמלות</c:v>
                  </c:pt>
                </c:lvl>
              </c:multiLvlStrCache>
              <c:extLst/>
            </c:multiLvlStrRef>
          </c:cat>
          <c:val>
            <c:numRef>
              <c:f>סוכנים!$K$15:$L$15</c:f>
              <c:numCache>
                <c:formatCode>_ * #,##0_ ;_ * \-#,##0_ ;_ * "-"??_ ;_ @_ </c:formatCode>
                <c:ptCount val="2"/>
                <c:pt idx="0">
                  <c:v>361027.20500000002</c:v>
                </c:pt>
                <c:pt idx="1">
                  <c:v>392742.87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B5BD-46DB-ACB9-7B81E703D393}"/>
            </c:ext>
          </c:extLst>
        </c:ser>
        <c:ser>
          <c:idx val="3"/>
          <c:order val="3"/>
          <c:tx>
            <c:strRef>
              <c:f>סוכנים!$J$16</c:f>
              <c:strCache>
                <c:ptCount val="1"/>
                <c:pt idx="0">
                  <c:v> בני עטרות 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cat>
            <c:multiLvlStrRef>
              <c:f>סוכנים!$K$11:$M$12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שינוי</c:v>
                  </c:pt>
                </c:lvl>
                <c:lvl>
                  <c:pt idx="0">
                    <c:v>עמלות</c:v>
                  </c:pt>
                </c:lvl>
              </c:multiLvlStrCache>
              <c:extLst/>
            </c:multiLvlStrRef>
          </c:cat>
          <c:val>
            <c:numRef>
              <c:f>סוכנים!$K$16:$L$16</c:f>
              <c:numCache>
                <c:formatCode>_ * #,##0_ ;_ * \-#,##0_ ;_ * "-"??_ ;_ @_ </c:formatCode>
                <c:ptCount val="2"/>
                <c:pt idx="0">
                  <c:v>41758</c:v>
                </c:pt>
                <c:pt idx="1">
                  <c:v>48428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B5BD-46DB-ACB9-7B81E703D393}"/>
            </c:ext>
          </c:extLst>
        </c:ser>
        <c:ser>
          <c:idx val="4"/>
          <c:order val="4"/>
          <c:tx>
            <c:strRef>
              <c:f>סוכנים!$J$17</c:f>
              <c:strCache>
                <c:ptCount val="1"/>
                <c:pt idx="0">
                  <c:v> דינה טל 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p3d/>
          </c:spPr>
          <c:invertIfNegative val="0"/>
          <c:cat>
            <c:multiLvlStrRef>
              <c:f>סוכנים!$K$11:$M$12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שינוי</c:v>
                  </c:pt>
                </c:lvl>
                <c:lvl>
                  <c:pt idx="0">
                    <c:v>עמלות</c:v>
                  </c:pt>
                </c:lvl>
              </c:multiLvlStrCache>
              <c:extLst/>
            </c:multiLvlStrRef>
          </c:cat>
          <c:val>
            <c:numRef>
              <c:f>סוכנים!$K$17:$L$17</c:f>
              <c:numCache>
                <c:formatCode>_ * #,##0_ ;_ * \-#,##0_ ;_ * "-"??_ ;_ @_ </c:formatCode>
                <c:ptCount val="2"/>
                <c:pt idx="0">
                  <c:v>15729.21</c:v>
                </c:pt>
                <c:pt idx="1">
                  <c:v>21772.300000000003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3-B5BD-46DB-ACB9-7B81E703D393}"/>
            </c:ext>
          </c:extLst>
        </c:ser>
        <c:ser>
          <c:idx val="5"/>
          <c:order val="5"/>
          <c:tx>
            <c:strRef>
              <c:f>סוכנים!$J$18</c:f>
              <c:strCache>
                <c:ptCount val="1"/>
                <c:pt idx="0">
                  <c:v> דנה ליסט 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  <a:sp3d/>
          </c:spPr>
          <c:invertIfNegative val="0"/>
          <c:cat>
            <c:multiLvlStrRef>
              <c:f>סוכנים!$K$11:$M$12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שינוי</c:v>
                  </c:pt>
                </c:lvl>
                <c:lvl>
                  <c:pt idx="0">
                    <c:v>עמלות</c:v>
                  </c:pt>
                </c:lvl>
              </c:multiLvlStrCache>
              <c:extLst/>
            </c:multiLvlStrRef>
          </c:cat>
          <c:val>
            <c:numRef>
              <c:f>סוכנים!$K$18:$L$18</c:f>
              <c:numCache>
                <c:formatCode>_ * #,##0_ ;_ * \-#,##0_ ;_ * "-"??_ ;_ @_ </c:formatCode>
                <c:ptCount val="2"/>
                <c:pt idx="0">
                  <c:v>1250</c:v>
                </c:pt>
                <c:pt idx="1">
                  <c:v>1003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4-B5BD-46DB-ACB9-7B81E703D393}"/>
            </c:ext>
          </c:extLst>
        </c:ser>
        <c:ser>
          <c:idx val="6"/>
          <c:order val="6"/>
          <c:tx>
            <c:strRef>
              <c:f>סוכנים!$J$19</c:f>
              <c:strCache>
                <c:ptCount val="1"/>
                <c:pt idx="0">
                  <c:v> התיכון 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  <a:sp3d/>
          </c:spPr>
          <c:invertIfNegative val="0"/>
          <c:cat>
            <c:multiLvlStrRef>
              <c:f>סוכנים!$K$11:$M$12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שינוי</c:v>
                  </c:pt>
                </c:lvl>
                <c:lvl>
                  <c:pt idx="0">
                    <c:v>עמלות</c:v>
                  </c:pt>
                </c:lvl>
              </c:multiLvlStrCache>
              <c:extLst/>
            </c:multiLvlStrRef>
          </c:cat>
          <c:val>
            <c:numRef>
              <c:f>סוכנים!$K$19:$L$19</c:f>
              <c:numCache>
                <c:formatCode>_ * #,##0_ ;_ * \-#,##0_ ;_ * "-"??_ ;_ @_ </c:formatCode>
                <c:ptCount val="2"/>
                <c:pt idx="0">
                  <c:v>99081</c:v>
                </c:pt>
                <c:pt idx="1">
                  <c:v>95555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5-B5BD-46DB-ACB9-7B81E703D393}"/>
            </c:ext>
          </c:extLst>
        </c:ser>
        <c:ser>
          <c:idx val="8"/>
          <c:order val="8"/>
          <c:tx>
            <c:strRef>
              <c:f>סוכנים!$J$21</c:f>
              <c:strCache>
                <c:ptCount val="1"/>
                <c:pt idx="0">
                  <c:v> לנדסברג נגה 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  <a:sp3d/>
          </c:spPr>
          <c:invertIfNegative val="0"/>
          <c:cat>
            <c:multiLvlStrRef>
              <c:f>סוכנים!$K$11:$M$12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שינוי</c:v>
                  </c:pt>
                </c:lvl>
                <c:lvl>
                  <c:pt idx="0">
                    <c:v>עמלות</c:v>
                  </c:pt>
                </c:lvl>
              </c:multiLvlStrCache>
              <c:extLst/>
            </c:multiLvlStrRef>
          </c:cat>
          <c:val>
            <c:numRef>
              <c:f>סוכנים!$K$21:$L$21</c:f>
              <c:numCache>
                <c:formatCode>_ * #,##0_ ;_ * \-#,##0_ ;_ * "-"??_ ;_ @_ </c:formatCode>
                <c:ptCount val="2"/>
                <c:pt idx="0">
                  <c:v>62675.07</c:v>
                </c:pt>
                <c:pt idx="1">
                  <c:v>67364.240000000005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6-B5BD-46DB-ACB9-7B81E703D393}"/>
            </c:ext>
          </c:extLst>
        </c:ser>
        <c:ser>
          <c:idx val="9"/>
          <c:order val="9"/>
          <c:tx>
            <c:strRef>
              <c:f>סוכנים!$J$22</c:f>
              <c:strCache>
                <c:ptCount val="1"/>
                <c:pt idx="0">
                  <c:v> מאיר נתן 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  <a:sp3d/>
          </c:spPr>
          <c:invertIfNegative val="0"/>
          <c:cat>
            <c:multiLvlStrRef>
              <c:f>סוכנים!$K$11:$M$12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שינוי</c:v>
                  </c:pt>
                </c:lvl>
                <c:lvl>
                  <c:pt idx="0">
                    <c:v>עמלות</c:v>
                  </c:pt>
                </c:lvl>
              </c:multiLvlStrCache>
              <c:extLst/>
            </c:multiLvlStrRef>
          </c:cat>
          <c:val>
            <c:numRef>
              <c:f>סוכנים!$K$22:$L$22</c:f>
              <c:numCache>
                <c:formatCode>_ * #,##0_ ;_ * \-#,##0_ ;_ * "-"??_ ;_ @_ </c:formatCode>
                <c:ptCount val="2"/>
                <c:pt idx="0">
                  <c:v>48379</c:v>
                </c:pt>
                <c:pt idx="1">
                  <c:v>49315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7-B5BD-46DB-ACB9-7B81E703D393}"/>
            </c:ext>
          </c:extLst>
        </c:ser>
        <c:ser>
          <c:idx val="10"/>
          <c:order val="10"/>
          <c:tx>
            <c:strRef>
              <c:f>סוכנים!$J$23</c:f>
              <c:strCache>
                <c:ptCount val="1"/>
                <c:pt idx="0">
                  <c:v> מני קדוש 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  <a:sp3d/>
          </c:spPr>
          <c:invertIfNegative val="0"/>
          <c:cat>
            <c:multiLvlStrRef>
              <c:f>סוכנים!$K$11:$M$12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שינוי</c:v>
                  </c:pt>
                </c:lvl>
                <c:lvl>
                  <c:pt idx="0">
                    <c:v>עמלות</c:v>
                  </c:pt>
                </c:lvl>
              </c:multiLvlStrCache>
              <c:extLst/>
            </c:multiLvlStrRef>
          </c:cat>
          <c:val>
            <c:numRef>
              <c:f>סוכנים!$K$23:$L$23</c:f>
              <c:numCache>
                <c:formatCode>_ * #,##0_ ;_ * \-#,##0_ ;_ * "-"??_ ;_ @_ </c:formatCode>
                <c:ptCount val="2"/>
                <c:pt idx="0">
                  <c:v>3665</c:v>
                </c:pt>
                <c:pt idx="1">
                  <c:v>2137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8-B5BD-46DB-ACB9-7B81E703D393}"/>
            </c:ext>
          </c:extLst>
        </c:ser>
        <c:ser>
          <c:idx val="11"/>
          <c:order val="11"/>
          <c:tx>
            <c:strRef>
              <c:f>סוכנים!$J$24</c:f>
              <c:strCache>
                <c:ptCount val="1"/>
                <c:pt idx="0">
                  <c:v> קוסטה זהבה 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  <a:sp3d/>
          </c:spPr>
          <c:invertIfNegative val="0"/>
          <c:cat>
            <c:multiLvlStrRef>
              <c:f>סוכנים!$K$11:$M$12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שינוי</c:v>
                  </c:pt>
                </c:lvl>
                <c:lvl>
                  <c:pt idx="0">
                    <c:v>עמלות</c:v>
                  </c:pt>
                </c:lvl>
              </c:multiLvlStrCache>
              <c:extLst/>
            </c:multiLvlStrRef>
          </c:cat>
          <c:val>
            <c:numRef>
              <c:f>סוכנים!$K$24:$L$24</c:f>
              <c:numCache>
                <c:formatCode>_ * #,##0_ ;_ * \-#,##0_ ;_ * "-"??_ ;_ @_ </c:formatCode>
                <c:ptCount val="2"/>
                <c:pt idx="0">
                  <c:v>5893</c:v>
                </c:pt>
                <c:pt idx="1">
                  <c:v>7634.41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9-B5BD-46DB-ACB9-7B81E703D393}"/>
            </c:ext>
          </c:extLst>
        </c:ser>
        <c:ser>
          <c:idx val="12"/>
          <c:order val="12"/>
          <c:tx>
            <c:strRef>
              <c:f>סוכנים!$J$25</c:f>
              <c:strCache>
                <c:ptCount val="1"/>
                <c:pt idx="0">
                  <c:v> רונן וינוגרד 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  <a:sp3d/>
          </c:spPr>
          <c:invertIfNegative val="0"/>
          <c:cat>
            <c:multiLvlStrRef>
              <c:f>סוכנים!$K$11:$M$12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שינוי</c:v>
                  </c:pt>
                </c:lvl>
                <c:lvl>
                  <c:pt idx="0">
                    <c:v>עמלות</c:v>
                  </c:pt>
                </c:lvl>
              </c:multiLvlStrCache>
              <c:extLst/>
            </c:multiLvlStrRef>
          </c:cat>
          <c:val>
            <c:numRef>
              <c:f>סוכנים!$K$25:$L$25</c:f>
              <c:numCache>
                <c:formatCode>_ * #,##0_ ;_ * \-#,##0_ ;_ * "-"??_ ;_ @_ </c:formatCode>
                <c:ptCount val="2"/>
                <c:pt idx="0">
                  <c:v>13023</c:v>
                </c:pt>
                <c:pt idx="1">
                  <c:v>13470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A-B5BD-46DB-ACB9-7B81E703D393}"/>
            </c:ext>
          </c:extLst>
        </c:ser>
        <c:ser>
          <c:idx val="13"/>
          <c:order val="13"/>
          <c:tx>
            <c:strRef>
              <c:f>סוכנים!$J$26</c:f>
              <c:strCache>
                <c:ptCount val="1"/>
                <c:pt idx="0">
                  <c:v> רשפון 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</a:ln>
            <a:effectLst/>
            <a:sp3d/>
          </c:spPr>
          <c:invertIfNegative val="0"/>
          <c:cat>
            <c:multiLvlStrRef>
              <c:f>סוכנים!$K$11:$M$12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שינוי</c:v>
                  </c:pt>
                </c:lvl>
                <c:lvl>
                  <c:pt idx="0">
                    <c:v>עמלות</c:v>
                  </c:pt>
                </c:lvl>
              </c:multiLvlStrCache>
              <c:extLst/>
            </c:multiLvlStrRef>
          </c:cat>
          <c:val>
            <c:numRef>
              <c:f>סוכנים!$K$26:$L$26</c:f>
              <c:numCache>
                <c:formatCode>_ * #,##0_ ;_ * \-#,##0_ ;_ * "-"??_ ;_ @_ </c:formatCode>
                <c:ptCount val="2"/>
                <c:pt idx="0">
                  <c:v>100247.37</c:v>
                </c:pt>
                <c:pt idx="1">
                  <c:v>101141.24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B-B5BD-46DB-ACB9-7B81E703D393}"/>
            </c:ext>
          </c:extLst>
        </c:ser>
        <c:ser>
          <c:idx val="16"/>
          <c:order val="16"/>
          <c:tx>
            <c:strRef>
              <c:f>סוכנים!$J$29</c:f>
              <c:strCache>
                <c:ptCount val="1"/>
                <c:pt idx="0">
                  <c:v> פסח פלדמן </c:v>
                </c:pt>
              </c:strCache>
            </c:strRef>
          </c:tx>
          <c:spPr>
            <a:solidFill>
              <a:schemeClr val="accent5">
                <a:lumMod val="80000"/>
                <a:lumOff val="20000"/>
              </a:schemeClr>
            </a:solidFill>
            <a:ln>
              <a:noFill/>
            </a:ln>
            <a:effectLst/>
            <a:sp3d/>
          </c:spPr>
          <c:invertIfNegative val="0"/>
          <c:cat>
            <c:multiLvlStrRef>
              <c:f>סוכנים!$K$11:$M$12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שינוי</c:v>
                  </c:pt>
                </c:lvl>
                <c:lvl>
                  <c:pt idx="0">
                    <c:v>עמלות</c:v>
                  </c:pt>
                </c:lvl>
              </c:multiLvlStrCache>
              <c:extLst/>
            </c:multiLvlStrRef>
          </c:cat>
          <c:val>
            <c:numRef>
              <c:f>סוכנים!$K$29:$L$29</c:f>
              <c:numCache>
                <c:formatCode>_ * #,##0_ ;_ * \-#,##0_ ;_ * "-"??_ ;_ @_ </c:formatCode>
                <c:ptCount val="2"/>
                <c:pt idx="0">
                  <c:v>452</c:v>
                </c:pt>
                <c:pt idx="1">
                  <c:v>498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C-B5BD-46DB-ACB9-7B81E703D393}"/>
            </c:ext>
          </c:extLst>
        </c:ser>
        <c:ser>
          <c:idx val="19"/>
          <c:order val="19"/>
          <c:tx>
            <c:strRef>
              <c:f>סוכנים!$J$32</c:f>
              <c:strCache>
                <c:ptCount val="1"/>
                <c:pt idx="0">
                  <c:v> חן סדרס </c:v>
                </c:pt>
              </c:strCache>
            </c:strRef>
          </c:tx>
          <c:spPr>
            <a:solidFill>
              <a:schemeClr val="accent2">
                <a:lumMod val="80000"/>
              </a:schemeClr>
            </a:solidFill>
            <a:ln>
              <a:noFill/>
            </a:ln>
            <a:effectLst/>
            <a:sp3d/>
          </c:spPr>
          <c:invertIfNegative val="0"/>
          <c:cat>
            <c:multiLvlStrRef>
              <c:f>סוכנים!$K$11:$M$12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שינוי</c:v>
                  </c:pt>
                </c:lvl>
                <c:lvl>
                  <c:pt idx="0">
                    <c:v>עמלות</c:v>
                  </c:pt>
                </c:lvl>
              </c:multiLvlStrCache>
              <c:extLst/>
            </c:multiLvlStrRef>
          </c:cat>
          <c:val>
            <c:numRef>
              <c:f>סוכנים!$K$32:$L$32</c:f>
              <c:numCache>
                <c:formatCode>_ * #,##0_ ;_ * \-#,##0_ ;_ * "-"??_ ;_ @_ </c:formatCode>
                <c:ptCount val="2"/>
                <c:pt idx="0">
                  <c:v>0</c:v>
                </c:pt>
                <c:pt idx="1">
                  <c:v>1853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D-B5BD-46DB-ACB9-7B81E703D3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529010288"/>
        <c:axId val="529013528"/>
        <c:axId val="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סוכנים!$J$13</c15:sqref>
                        </c15:formulaRef>
                      </c:ext>
                    </c:extLst>
                    <c:strCache>
                      <c:ptCount val="1"/>
                      <c:pt idx="0">
                        <c:v> ***לא פעילים 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  <a:sp3d/>
                </c:spPr>
                <c:invertIfNegative val="0"/>
                <c:cat>
                  <c:multiLvlStrRef>
                    <c:extLst>
                      <c:ext uri="{02D57815-91ED-43cb-92C2-25804820EDAC}">
                        <c15:formulaRef>
                          <c15:sqref>סוכנים!$K$11:$M$12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2022</c:v>
                        </c:pt>
                        <c:pt idx="1">
                          <c:v>2023</c:v>
                        </c:pt>
                        <c:pt idx="2">
                          <c:v>שינוי</c:v>
                        </c:pt>
                      </c:lvl>
                      <c:lvl>
                        <c:pt idx="0">
                          <c:v>עמלות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סוכנים!$K$13:$L$13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2"/>
                      <c:pt idx="0">
                        <c:v>1855</c:v>
                      </c:pt>
                      <c:pt idx="1">
                        <c:v>9970.880000000001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B5BD-46DB-ACB9-7B81E703D393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סוכנים!$J$20</c15:sqref>
                        </c15:formulaRef>
                      </c:ext>
                    </c:extLst>
                    <c:strCache>
                      <c:ptCount val="1"/>
                      <c:pt idx="0">
                        <c:v> לבב 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>
                    <a:noFill/>
                  </a:ln>
                  <a:effectLst/>
                  <a:sp3d/>
                </c:spPr>
                <c:invertIfNegative val="0"/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סוכנים!$K$11:$M$12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2022</c:v>
                        </c:pt>
                        <c:pt idx="1">
                          <c:v>2023</c:v>
                        </c:pt>
                        <c:pt idx="2">
                          <c:v>שינוי</c:v>
                        </c:pt>
                      </c:lvl>
                      <c:lvl>
                        <c:pt idx="0">
                          <c:v>עמלות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סוכנים!$K$20:$L$20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2"/>
                      <c:pt idx="0">
                        <c:v>3434374.8150000004</c:v>
                      </c:pt>
                      <c:pt idx="1">
                        <c:v>3765448.2499999856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F-B5BD-46DB-ACB9-7B81E703D393}"/>
                  </c:ext>
                </c:extLst>
              </c15:ser>
            </c15:filteredBarSeries>
            <c15:filteredBarSeries>
              <c15:ser>
                <c:idx val="14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סוכנים!$J$27</c15:sqref>
                        </c15:formulaRef>
                      </c:ext>
                    </c:extLst>
                    <c:strCache>
                      <c:ptCount val="1"/>
                      <c:pt idx="0">
                        <c:v> מסמכים לבב </c:v>
                      </c:pt>
                    </c:strCache>
                  </c:strRef>
                </c:tx>
                <c:spPr>
                  <a:solidFill>
                    <a:schemeClr val="accent3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  <a:sp3d/>
                </c:spPr>
                <c:invertIfNegative val="0"/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סוכנים!$K$11:$M$12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2022</c:v>
                        </c:pt>
                        <c:pt idx="1">
                          <c:v>2023</c:v>
                        </c:pt>
                        <c:pt idx="2">
                          <c:v>שינוי</c:v>
                        </c:pt>
                      </c:lvl>
                      <c:lvl>
                        <c:pt idx="0">
                          <c:v>עמלות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סוכנים!$K$27:$L$27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2"/>
                      <c:pt idx="0">
                        <c:v>4791</c:v>
                      </c:pt>
                      <c:pt idx="1">
                        <c:v>3244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B5BD-46DB-ACB9-7B81E703D393}"/>
                  </c:ext>
                </c:extLst>
              </c15:ser>
            </c15:filteredBarSeries>
            <c15:filteredBarSeries>
              <c15:ser>
                <c:idx val="15"/>
                <c:order val="1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סוכנים!$J$28</c15:sqref>
                        </c15:formulaRef>
                      </c:ext>
                    </c:extLst>
                    <c:strCache>
                      <c:ptCount val="1"/>
                      <c:pt idx="0">
                        <c:v> שרמן סוכנויות </c:v>
                      </c:pt>
                    </c:strCache>
                  </c:strRef>
                </c:tx>
                <c:spPr>
                  <a:solidFill>
                    <a:schemeClr val="accent4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  <a:sp3d/>
                </c:spPr>
                <c:invertIfNegative val="0"/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סוכנים!$K$11:$M$12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2022</c:v>
                        </c:pt>
                        <c:pt idx="1">
                          <c:v>2023</c:v>
                        </c:pt>
                        <c:pt idx="2">
                          <c:v>שינוי</c:v>
                        </c:pt>
                      </c:lvl>
                      <c:lvl>
                        <c:pt idx="0">
                          <c:v>עמלות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סוכנים!$K$28:$L$28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2"/>
                      <c:pt idx="0">
                        <c:v>366</c:v>
                      </c:pt>
                      <c:pt idx="1">
                        <c:v>378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B5BD-46DB-ACB9-7B81E703D393}"/>
                  </c:ext>
                </c:extLst>
              </c15:ser>
            </c15:filteredBarSeries>
            <c15:filteredBarSeries>
              <c15:ser>
                <c:idx val="17"/>
                <c:order val="1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סוכנים!$J$30</c15:sqref>
                        </c15:formulaRef>
                      </c:ext>
                    </c:extLst>
                    <c:strCache>
                      <c:ptCount val="1"/>
                      <c:pt idx="0">
                        <c:v> ז'קלין </c:v>
                      </c:pt>
                    </c:strCache>
                  </c:strRef>
                </c:tx>
                <c:spPr>
                  <a:solidFill>
                    <a:schemeClr val="accent6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  <a:sp3d/>
                </c:spPr>
                <c:invertIfNegative val="0"/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סוכנים!$K$11:$M$12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2022</c:v>
                        </c:pt>
                        <c:pt idx="1">
                          <c:v>2023</c:v>
                        </c:pt>
                        <c:pt idx="2">
                          <c:v>שינוי</c:v>
                        </c:pt>
                      </c:lvl>
                      <c:lvl>
                        <c:pt idx="0">
                          <c:v>עמלות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סוכנים!$K$30:$L$30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2"/>
                      <c:pt idx="0">
                        <c:v>399</c:v>
                      </c:pt>
                      <c:pt idx="1">
                        <c:v>545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B5BD-46DB-ACB9-7B81E703D393}"/>
                  </c:ext>
                </c:extLst>
              </c15:ser>
            </c15:filteredBarSeries>
            <c15:filteredBarSeries>
              <c15:ser>
                <c:idx val="18"/>
                <c:order val="1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סוכנים!$J$31</c15:sqref>
                        </c15:formulaRef>
                      </c:ext>
                    </c:extLst>
                    <c:strCache>
                      <c:ptCount val="1"/>
                      <c:pt idx="0">
                        <c:v> אילן הראל </c:v>
                      </c:pt>
                    </c:strCache>
                  </c:strRef>
                </c:tx>
                <c:spPr>
                  <a:solidFill>
                    <a:schemeClr val="accent1">
                      <a:lumMod val="80000"/>
                    </a:schemeClr>
                  </a:solidFill>
                  <a:ln>
                    <a:noFill/>
                  </a:ln>
                  <a:effectLst/>
                  <a:sp3d/>
                </c:spPr>
                <c:invertIfNegative val="0"/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סוכנים!$K$11:$M$12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2022</c:v>
                        </c:pt>
                        <c:pt idx="1">
                          <c:v>2023</c:v>
                        </c:pt>
                        <c:pt idx="2">
                          <c:v>שינוי</c:v>
                        </c:pt>
                      </c:lvl>
                      <c:lvl>
                        <c:pt idx="0">
                          <c:v>עמלות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סוכנים!$K$31:$L$31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2"/>
                      <c:pt idx="0">
                        <c:v>0</c:v>
                      </c:pt>
                      <c:pt idx="1">
                        <c:v>22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B5BD-46DB-ACB9-7B81E703D393}"/>
                  </c:ext>
                </c:extLst>
              </c15:ser>
            </c15:filteredBarSeries>
            <c15:filteredBarSeries>
              <c15:ser>
                <c:idx val="20"/>
                <c:order val="2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סוכנים!$J$33</c15:sqref>
                        </c15:formulaRef>
                      </c:ext>
                    </c:extLst>
                    <c:strCache>
                      <c:ptCount val="1"/>
                      <c:pt idx="0">
                        <c:v> ויויאן אוחיון -חדש </c:v>
                      </c:pt>
                    </c:strCache>
                  </c:strRef>
                </c:tx>
                <c:spPr>
                  <a:solidFill>
                    <a:schemeClr val="accent3">
                      <a:lumMod val="80000"/>
                    </a:schemeClr>
                  </a:solidFill>
                  <a:ln>
                    <a:noFill/>
                  </a:ln>
                  <a:effectLst/>
                  <a:sp3d/>
                </c:spPr>
                <c:invertIfNegative val="0"/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סוכנים!$K$11:$M$12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2022</c:v>
                        </c:pt>
                        <c:pt idx="1">
                          <c:v>2023</c:v>
                        </c:pt>
                        <c:pt idx="2">
                          <c:v>שינוי</c:v>
                        </c:pt>
                      </c:lvl>
                      <c:lvl>
                        <c:pt idx="0">
                          <c:v>עמלות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סוכנים!$K$33:$L$33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2"/>
                      <c:pt idx="0">
                        <c:v>0</c:v>
                      </c:pt>
                      <c:pt idx="1">
                        <c:v>2639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4-B5BD-46DB-ACB9-7B81E703D393}"/>
                  </c:ext>
                </c:extLst>
              </c15:ser>
            </c15:filteredBarSeries>
            <c15:filteredBarSeries>
              <c15:ser>
                <c:idx val="21"/>
                <c:order val="2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סוכנים!$J$34</c15:sqref>
                        </c15:formulaRef>
                      </c:ext>
                    </c:extLst>
                    <c:strCache>
                      <c:ptCount val="1"/>
                      <c:pt idx="0">
                        <c:v>סכום כולל</c:v>
                      </c:pt>
                    </c:strCache>
                  </c:strRef>
                </c:tx>
                <c:spPr>
                  <a:solidFill>
                    <a:schemeClr val="accent4">
                      <a:lumMod val="80000"/>
                    </a:schemeClr>
                  </a:solidFill>
                  <a:ln>
                    <a:noFill/>
                  </a:ln>
                  <a:effectLst/>
                  <a:sp3d/>
                </c:spPr>
                <c:invertIfNegative val="0"/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סוכנים!$K$11:$M$12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2022</c:v>
                        </c:pt>
                        <c:pt idx="1">
                          <c:v>2023</c:v>
                        </c:pt>
                        <c:pt idx="2">
                          <c:v>שינוי</c:v>
                        </c:pt>
                      </c:lvl>
                      <c:lvl>
                        <c:pt idx="0">
                          <c:v>עמלות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סוכנים!$K$34:$L$34</c15:sqref>
                        </c15:formulaRef>
                      </c:ext>
                    </c:extLst>
                    <c:numCache>
                      <c:formatCode>_ * #,##0_ ;_ * \-#,##0_ ;_ * "-"??_ ;_ @_ </c:formatCode>
                      <c:ptCount val="2"/>
                      <c:pt idx="0">
                        <c:v>4253723.47</c:v>
                      </c:pt>
                      <c:pt idx="1">
                        <c:v>4649158.5699999863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5-B5BD-46DB-ACB9-7B81E703D393}"/>
                  </c:ext>
                </c:extLst>
              </c15:ser>
            </c15:filteredBarSeries>
          </c:ext>
        </c:extLst>
      </c:bar3DChart>
      <c:catAx>
        <c:axId val="529010288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529013528"/>
        <c:crosses val="autoZero"/>
        <c:auto val="1"/>
        <c:lblAlgn val="ctr"/>
        <c:lblOffset val="100"/>
        <c:noMultiLvlLbl val="0"/>
      </c:catAx>
      <c:valAx>
        <c:axId val="529013528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529010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B23F3-AD4A-4009-9FE7-5195889F47A0}" type="datetimeFigureOut">
              <a:rPr lang="he-IL" smtClean="0"/>
              <a:t>י"ז/אדר/תשפ"ה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146-8312-4234-A9FD-3A61A50B71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03590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B23F3-AD4A-4009-9FE7-5195889F47A0}" type="datetimeFigureOut">
              <a:rPr lang="he-IL" smtClean="0"/>
              <a:t>י"ז/אדר/תשפ"ה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146-8312-4234-A9FD-3A61A50B71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25639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B23F3-AD4A-4009-9FE7-5195889F47A0}" type="datetimeFigureOut">
              <a:rPr lang="he-IL" smtClean="0"/>
              <a:t>י"ז/אדר/תשפ"ה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146-8312-4234-A9FD-3A61A50B71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26396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B23F3-AD4A-4009-9FE7-5195889F47A0}" type="datetimeFigureOut">
              <a:rPr lang="he-IL" smtClean="0"/>
              <a:t>י"ז/אדר/תשפ"ה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146-8312-4234-A9FD-3A61A50B71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700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B23F3-AD4A-4009-9FE7-5195889F47A0}" type="datetimeFigureOut">
              <a:rPr lang="he-IL" smtClean="0"/>
              <a:t>י"ז/אדר/תשפ"ה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146-8312-4234-A9FD-3A61A50B71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24655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B23F3-AD4A-4009-9FE7-5195889F47A0}" type="datetimeFigureOut">
              <a:rPr lang="he-IL" smtClean="0"/>
              <a:t>י"ז/אדר/תשפ"ה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146-8312-4234-A9FD-3A61A50B71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46439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B23F3-AD4A-4009-9FE7-5195889F47A0}" type="datetimeFigureOut">
              <a:rPr lang="he-IL" smtClean="0"/>
              <a:t>י"ז/אדר/תשפ"ה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146-8312-4234-A9FD-3A61A50B71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4286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B23F3-AD4A-4009-9FE7-5195889F47A0}" type="datetimeFigureOut">
              <a:rPr lang="he-IL" smtClean="0"/>
              <a:t>י"ז/אדר/תשפ"ה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146-8312-4234-A9FD-3A61A50B71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48685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B23F3-AD4A-4009-9FE7-5195889F47A0}" type="datetimeFigureOut">
              <a:rPr lang="he-IL" smtClean="0"/>
              <a:t>י"ז/אדר/תשפ"ה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146-8312-4234-A9FD-3A61A50B71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04510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B23F3-AD4A-4009-9FE7-5195889F47A0}" type="datetimeFigureOut">
              <a:rPr lang="he-IL" smtClean="0"/>
              <a:t>י"ז/אדר/תשפ"ה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146-8312-4234-A9FD-3A61A50B71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3876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B23F3-AD4A-4009-9FE7-5195889F47A0}" type="datetimeFigureOut">
              <a:rPr lang="he-IL" smtClean="0"/>
              <a:t>י"ז/אדר/תשפ"ה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146-8312-4234-A9FD-3A61A50B71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2666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B23F3-AD4A-4009-9FE7-5195889F47A0}" type="datetimeFigureOut">
              <a:rPr lang="he-IL" smtClean="0"/>
              <a:t>י"ז/אדר/תשפ"ה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CE146-8312-4234-A9FD-3A61A50B71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817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1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r" defTabSz="685800" rtl="1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57999" cy="121908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6858000" cy="78445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5511" y="981265"/>
            <a:ext cx="6186978" cy="821075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EF95DF42-8786-E3DD-4DC9-DBB443722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299267"/>
            <a:ext cx="5143500" cy="5821497"/>
          </a:xfrm>
        </p:spPr>
        <p:txBody>
          <a:bodyPr anchor="ctr">
            <a:normAutofit/>
          </a:bodyPr>
          <a:lstStyle/>
          <a:p>
            <a:r>
              <a:rPr lang="he-IL" sz="4600" dirty="0"/>
              <a:t>מצגת הנהלה שנתי</a:t>
            </a:r>
            <a:br>
              <a:rPr lang="he-IL" sz="4600" dirty="0"/>
            </a:br>
            <a:br>
              <a:rPr lang="he-IL" sz="4600" dirty="0"/>
            </a:br>
            <a:br>
              <a:rPr lang="he-IL" sz="4600" dirty="0"/>
            </a:br>
            <a:r>
              <a:rPr lang="he-IL" sz="4600" dirty="0"/>
              <a:t> 2023 מול 2024 </a:t>
            </a:r>
            <a:br>
              <a:rPr lang="he-IL" sz="4600" dirty="0"/>
            </a:br>
            <a:r>
              <a:rPr lang="he-IL" sz="4600" dirty="0"/>
              <a:t>(ינואר-דצמבר)</a:t>
            </a:r>
            <a:br>
              <a:rPr lang="he-IL" sz="4600" dirty="0"/>
            </a:br>
            <a:br>
              <a:rPr lang="he-IL" sz="4600" dirty="0"/>
            </a:br>
            <a:br>
              <a:rPr lang="he-IL" sz="4600" dirty="0"/>
            </a:br>
            <a:br>
              <a:rPr lang="he-IL" sz="4600" dirty="0"/>
            </a:br>
            <a:r>
              <a:rPr lang="he-IL" sz="4600" b="1" dirty="0">
                <a:solidFill>
                  <a:srgbClr val="00B050"/>
                </a:solidFill>
              </a:rPr>
              <a:t>לבב סוכנות לביטוח</a:t>
            </a:r>
          </a:p>
        </p:txBody>
      </p:sp>
      <p:cxnSp>
        <p:nvCxnSpPr>
          <p:cNvPr id="18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35511" y="11297258"/>
            <a:ext cx="6187630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763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תרשים 3">
            <a:extLst>
              <a:ext uri="{FF2B5EF4-FFF2-40B4-BE49-F238E27FC236}">
                <a16:creationId xmlns:a16="http://schemas.microsoft.com/office/drawing/2014/main" id="{FC1BF3A7-371C-3940-DE0A-5B49077AB3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0469213"/>
              </p:ext>
            </p:extLst>
          </p:nvPr>
        </p:nvGraphicFramePr>
        <p:xfrm>
          <a:off x="769144" y="2241755"/>
          <a:ext cx="5319712" cy="6017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99829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תרשים 5">
            <a:extLst>
              <a:ext uri="{FF2B5EF4-FFF2-40B4-BE49-F238E27FC236}">
                <a16:creationId xmlns:a16="http://schemas.microsoft.com/office/drawing/2014/main" id="{0DFAB98E-FD28-6BF2-5AB7-B6945860A3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9436829"/>
              </p:ext>
            </p:extLst>
          </p:nvPr>
        </p:nvGraphicFramePr>
        <p:xfrm>
          <a:off x="423863" y="4132390"/>
          <a:ext cx="5858950" cy="3335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תרשים 6">
            <a:extLst>
              <a:ext uri="{FF2B5EF4-FFF2-40B4-BE49-F238E27FC236}">
                <a16:creationId xmlns:a16="http://schemas.microsoft.com/office/drawing/2014/main" id="{0DFAB98E-FD28-6BF2-5AB7-B6945860A3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3570289"/>
              </p:ext>
            </p:extLst>
          </p:nvPr>
        </p:nvGraphicFramePr>
        <p:xfrm>
          <a:off x="423864" y="797180"/>
          <a:ext cx="5858950" cy="3335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טבלה 8">
            <a:extLst>
              <a:ext uri="{FF2B5EF4-FFF2-40B4-BE49-F238E27FC236}">
                <a16:creationId xmlns:a16="http://schemas.microsoft.com/office/drawing/2014/main" id="{B98E34A5-5280-3D8D-296F-9C82B6C622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42100"/>
              </p:ext>
            </p:extLst>
          </p:nvPr>
        </p:nvGraphicFramePr>
        <p:xfrm>
          <a:off x="395825" y="7853308"/>
          <a:ext cx="5915026" cy="2383049"/>
        </p:xfrm>
        <a:graphic>
          <a:graphicData uri="http://schemas.openxmlformats.org/drawingml/2006/table">
            <a:tbl>
              <a:tblPr rtl="1"/>
              <a:tblGrid>
                <a:gridCol w="591502">
                  <a:extLst>
                    <a:ext uri="{9D8B030D-6E8A-4147-A177-3AD203B41FA5}">
                      <a16:colId xmlns:a16="http://schemas.microsoft.com/office/drawing/2014/main" val="3226979994"/>
                    </a:ext>
                  </a:extLst>
                </a:gridCol>
                <a:gridCol w="649010">
                  <a:extLst>
                    <a:ext uri="{9D8B030D-6E8A-4147-A177-3AD203B41FA5}">
                      <a16:colId xmlns:a16="http://schemas.microsoft.com/office/drawing/2014/main" val="2881808194"/>
                    </a:ext>
                  </a:extLst>
                </a:gridCol>
                <a:gridCol w="649010">
                  <a:extLst>
                    <a:ext uri="{9D8B030D-6E8A-4147-A177-3AD203B41FA5}">
                      <a16:colId xmlns:a16="http://schemas.microsoft.com/office/drawing/2014/main" val="2904089922"/>
                    </a:ext>
                  </a:extLst>
                </a:gridCol>
                <a:gridCol w="649010">
                  <a:extLst>
                    <a:ext uri="{9D8B030D-6E8A-4147-A177-3AD203B41FA5}">
                      <a16:colId xmlns:a16="http://schemas.microsoft.com/office/drawing/2014/main" val="4269427457"/>
                    </a:ext>
                  </a:extLst>
                </a:gridCol>
                <a:gridCol w="714732">
                  <a:extLst>
                    <a:ext uri="{9D8B030D-6E8A-4147-A177-3AD203B41FA5}">
                      <a16:colId xmlns:a16="http://schemas.microsoft.com/office/drawing/2014/main" val="3626881392"/>
                    </a:ext>
                  </a:extLst>
                </a:gridCol>
                <a:gridCol w="714732">
                  <a:extLst>
                    <a:ext uri="{9D8B030D-6E8A-4147-A177-3AD203B41FA5}">
                      <a16:colId xmlns:a16="http://schemas.microsoft.com/office/drawing/2014/main" val="1966269898"/>
                    </a:ext>
                  </a:extLst>
                </a:gridCol>
                <a:gridCol w="649010">
                  <a:extLst>
                    <a:ext uri="{9D8B030D-6E8A-4147-A177-3AD203B41FA5}">
                      <a16:colId xmlns:a16="http://schemas.microsoft.com/office/drawing/2014/main" val="3771894410"/>
                    </a:ext>
                  </a:extLst>
                </a:gridCol>
                <a:gridCol w="649010">
                  <a:extLst>
                    <a:ext uri="{9D8B030D-6E8A-4147-A177-3AD203B41FA5}">
                      <a16:colId xmlns:a16="http://schemas.microsoft.com/office/drawing/2014/main" val="1182214851"/>
                    </a:ext>
                  </a:extLst>
                </a:gridCol>
                <a:gridCol w="649010">
                  <a:extLst>
                    <a:ext uri="{9D8B030D-6E8A-4147-A177-3AD203B41FA5}">
                      <a16:colId xmlns:a16="http://schemas.microsoft.com/office/drawing/2014/main" val="3207336065"/>
                    </a:ext>
                  </a:extLst>
                </a:gridCol>
              </a:tblGrid>
              <a:tr h="164917">
                <a:tc rowSpan="2">
                  <a:txBody>
                    <a:bodyPr/>
                    <a:lstStyle/>
                    <a:p>
                      <a:pPr algn="ctr" rtl="1" fontAlgn="ctr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חודשים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1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עמלות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1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פרמיות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1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כמות מסמכים בתוקף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734382"/>
                  </a:ext>
                </a:extLst>
              </a:tr>
              <a:tr h="164917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שינוי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שינוי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2464"/>
                  </a:ext>
                </a:extLst>
              </a:tr>
              <a:tr h="156671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ינו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782,125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906,877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4,908,427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5,423,523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1,829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3,625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533105"/>
                  </a:ext>
                </a:extLst>
              </a:tr>
              <a:tr h="156671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פבר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406,442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410,773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2,531,891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2,632,460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1,209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1,709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1542829"/>
                  </a:ext>
                </a:extLst>
              </a:tr>
              <a:tr h="156671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מרץ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253,978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296,960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1,691,163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2,010,282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1,081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1,256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159245"/>
                  </a:ext>
                </a:extLst>
              </a:tr>
              <a:tr h="156671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אפר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341,584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379,617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2,210,257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2,487,273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1,242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1,228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425894"/>
                  </a:ext>
                </a:extLst>
              </a:tr>
              <a:tr h="156671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מאי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244,136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280,586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1,558,038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1,922,257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1,083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1,165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130477"/>
                  </a:ext>
                </a:extLst>
              </a:tr>
              <a:tr h="156671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יונ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302,382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323,923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1,870,647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2,078,009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1,136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1,146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555015"/>
                  </a:ext>
                </a:extLst>
              </a:tr>
              <a:tr h="156671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יול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412,484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441,607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2,678,991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2,883,358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1,447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1,328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700769"/>
                  </a:ext>
                </a:extLst>
              </a:tr>
              <a:tr h="164917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אוג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350,871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373,796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2,383,497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2,509,377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1,333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1,264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071122"/>
                  </a:ext>
                </a:extLst>
              </a:tr>
              <a:tr h="156671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ספט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268,978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293,990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1,775,731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1,999,321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1,187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1,461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16293"/>
                  </a:ext>
                </a:extLst>
              </a:tr>
              <a:tr h="156671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אוק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266,614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280,915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1,639,743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1,817,177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953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996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931466"/>
                  </a:ext>
                </a:extLst>
              </a:tr>
              <a:tr h="156671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נוב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349,133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376,269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2,358,949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2,609,453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1,121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1,066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551548"/>
                  </a:ext>
                </a:extLst>
              </a:tr>
              <a:tr h="156671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דצמ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274,997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283,846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1,728,861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2,013,598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923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958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769221"/>
                  </a:ext>
                </a:extLst>
              </a:tr>
              <a:tr h="164917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סכום כולל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4,253,723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4,649,159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27,336,195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30,386,088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14,544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17,202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884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614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11587" y="-450968"/>
            <a:ext cx="1028045" cy="244797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501548" y="750481"/>
            <a:ext cx="363019" cy="114732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5649458" y="1164693"/>
            <a:ext cx="386703" cy="12221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5263111" y="0"/>
            <a:ext cx="1594889" cy="2632599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86693" y="10872001"/>
            <a:ext cx="840664" cy="1319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77295" y="11472254"/>
            <a:ext cx="458382" cy="719746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תרשים 3">
            <a:extLst>
              <a:ext uri="{FF2B5EF4-FFF2-40B4-BE49-F238E27FC236}">
                <a16:creationId xmlns:a16="http://schemas.microsoft.com/office/drawing/2014/main" id="{FC1BF3A7-371C-3940-DE0A-5B49077AB3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5159037"/>
              </p:ext>
            </p:extLst>
          </p:nvPr>
        </p:nvGraphicFramePr>
        <p:xfrm>
          <a:off x="769144" y="2261445"/>
          <a:ext cx="5319712" cy="31051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תרשים 5">
            <a:extLst>
              <a:ext uri="{FF2B5EF4-FFF2-40B4-BE49-F238E27FC236}">
                <a16:creationId xmlns:a16="http://schemas.microsoft.com/office/drawing/2014/main" id="{FC1BF3A7-371C-3940-DE0A-5B49077AB3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0176766"/>
              </p:ext>
            </p:extLst>
          </p:nvPr>
        </p:nvGraphicFramePr>
        <p:xfrm>
          <a:off x="769142" y="5272832"/>
          <a:ext cx="5319712" cy="26326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טבלה 22">
            <a:extLst>
              <a:ext uri="{FF2B5EF4-FFF2-40B4-BE49-F238E27FC236}">
                <a16:creationId xmlns:a16="http://schemas.microsoft.com/office/drawing/2014/main" id="{EBAFBD1B-F364-D4C3-8D04-D000792A05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485291"/>
              </p:ext>
            </p:extLst>
          </p:nvPr>
        </p:nvGraphicFramePr>
        <p:xfrm>
          <a:off x="471486" y="8159114"/>
          <a:ext cx="5915027" cy="2272881"/>
        </p:xfrm>
        <a:graphic>
          <a:graphicData uri="http://schemas.openxmlformats.org/drawingml/2006/table">
            <a:tbl>
              <a:tblPr rtl="1"/>
              <a:tblGrid>
                <a:gridCol w="1258356">
                  <a:extLst>
                    <a:ext uri="{9D8B030D-6E8A-4147-A177-3AD203B41FA5}">
                      <a16:colId xmlns:a16="http://schemas.microsoft.com/office/drawing/2014/main" val="3166833839"/>
                    </a:ext>
                  </a:extLst>
                </a:gridCol>
                <a:gridCol w="595270">
                  <a:extLst>
                    <a:ext uri="{9D8B030D-6E8A-4147-A177-3AD203B41FA5}">
                      <a16:colId xmlns:a16="http://schemas.microsoft.com/office/drawing/2014/main" val="3020902544"/>
                    </a:ext>
                  </a:extLst>
                </a:gridCol>
                <a:gridCol w="595270">
                  <a:extLst>
                    <a:ext uri="{9D8B030D-6E8A-4147-A177-3AD203B41FA5}">
                      <a16:colId xmlns:a16="http://schemas.microsoft.com/office/drawing/2014/main" val="2800567710"/>
                    </a:ext>
                  </a:extLst>
                </a:gridCol>
                <a:gridCol w="542525">
                  <a:extLst>
                    <a:ext uri="{9D8B030D-6E8A-4147-A177-3AD203B41FA5}">
                      <a16:colId xmlns:a16="http://schemas.microsoft.com/office/drawing/2014/main" val="2746827017"/>
                    </a:ext>
                  </a:extLst>
                </a:gridCol>
                <a:gridCol w="655551">
                  <a:extLst>
                    <a:ext uri="{9D8B030D-6E8A-4147-A177-3AD203B41FA5}">
                      <a16:colId xmlns:a16="http://schemas.microsoft.com/office/drawing/2014/main" val="2241873054"/>
                    </a:ext>
                  </a:extLst>
                </a:gridCol>
                <a:gridCol w="655551">
                  <a:extLst>
                    <a:ext uri="{9D8B030D-6E8A-4147-A177-3AD203B41FA5}">
                      <a16:colId xmlns:a16="http://schemas.microsoft.com/office/drawing/2014/main" val="1068033723"/>
                    </a:ext>
                  </a:extLst>
                </a:gridCol>
                <a:gridCol w="542525">
                  <a:extLst>
                    <a:ext uri="{9D8B030D-6E8A-4147-A177-3AD203B41FA5}">
                      <a16:colId xmlns:a16="http://schemas.microsoft.com/office/drawing/2014/main" val="1762856214"/>
                    </a:ext>
                  </a:extLst>
                </a:gridCol>
                <a:gridCol w="474709">
                  <a:extLst>
                    <a:ext uri="{9D8B030D-6E8A-4147-A177-3AD203B41FA5}">
                      <a16:colId xmlns:a16="http://schemas.microsoft.com/office/drawing/2014/main" val="4225297010"/>
                    </a:ext>
                  </a:extLst>
                </a:gridCol>
                <a:gridCol w="595270">
                  <a:extLst>
                    <a:ext uri="{9D8B030D-6E8A-4147-A177-3AD203B41FA5}">
                      <a16:colId xmlns:a16="http://schemas.microsoft.com/office/drawing/2014/main" val="2883297427"/>
                    </a:ext>
                  </a:extLst>
                </a:gridCol>
              </a:tblGrid>
              <a:tr h="399037">
                <a:tc rowSpan="2">
                  <a:txBody>
                    <a:bodyPr/>
                    <a:lstStyle/>
                    <a:p>
                      <a:pPr algn="ctr" rtl="1" fontAlgn="ctr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חברות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1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עמלות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1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פרמיות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כמות מסמכים בתוקף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738353"/>
                  </a:ext>
                </a:extLst>
              </a:tr>
              <a:tr h="151151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שינוי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שינוי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020714"/>
                  </a:ext>
                </a:extLst>
              </a:tr>
              <a:tr h="1435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איילון חברה לביטוח בע"מ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1,483,469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1,540,630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10,001,853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10,465,701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3,134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5,770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753763"/>
                  </a:ext>
                </a:extLst>
              </a:tr>
              <a:tr h="1435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הפניקס חברה לביטוח בע"מ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621,768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762,061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4,608,171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5,924,144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3,080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3,531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872307"/>
                  </a:ext>
                </a:extLst>
              </a:tr>
              <a:tr h="1435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הראל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346,794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402,122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2,440,884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3,000,828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1,360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1,456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97157"/>
                  </a:ext>
                </a:extLst>
              </a:tr>
              <a:tr h="1435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כלל חברה לביטוח בע"מ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1,431,759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1,582,543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8,060,464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8,760,631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4,985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4,939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727856"/>
                  </a:ext>
                </a:extLst>
              </a:tr>
              <a:tr h="1435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מגדל (המגן) חברה לביטוח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287,722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253,236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1,992,010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1,795,095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1,127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885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348733"/>
                  </a:ext>
                </a:extLst>
              </a:tr>
              <a:tr h="1435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קש חתמים בינלאומיים בע"מ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865227"/>
                  </a:ext>
                </a:extLst>
              </a:tr>
              <a:tr h="1435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דרכים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82,211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87,824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213,963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219,253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851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560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06027"/>
                  </a:ext>
                </a:extLst>
              </a:tr>
              <a:tr h="1435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אליהו חברה לביטוח בע"מ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199085"/>
                  </a:ext>
                </a:extLst>
              </a:tr>
              <a:tr h="1435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קופרנינוה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18,850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56,789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361051"/>
                  </a:ext>
                </a:extLst>
              </a:tr>
              <a:tr h="1435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הכשרה חברה לביטוח בע"מ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4,253,723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4,649,159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27,336,195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30,386,088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14,544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17,202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528377"/>
                  </a:ext>
                </a:extLst>
              </a:tr>
              <a:tr h="1435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סכום כולל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8,507,447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9,277,575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54,672,390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60,608,529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29,088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34,352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597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022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תרשים 6">
            <a:extLst>
              <a:ext uri="{FF2B5EF4-FFF2-40B4-BE49-F238E27FC236}">
                <a16:creationId xmlns:a16="http://schemas.microsoft.com/office/drawing/2014/main" id="{B40A39DD-D426-1045-4878-67735CA572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1165163"/>
              </p:ext>
            </p:extLst>
          </p:nvPr>
        </p:nvGraphicFramePr>
        <p:xfrm>
          <a:off x="396477" y="575187"/>
          <a:ext cx="6065043" cy="3344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תרשים 7">
            <a:extLst>
              <a:ext uri="{FF2B5EF4-FFF2-40B4-BE49-F238E27FC236}">
                <a16:creationId xmlns:a16="http://schemas.microsoft.com/office/drawing/2014/main" id="{B40A39DD-D426-1045-4878-67735CA572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0366622"/>
              </p:ext>
            </p:extLst>
          </p:nvPr>
        </p:nvGraphicFramePr>
        <p:xfrm>
          <a:off x="396477" y="4123249"/>
          <a:ext cx="6065043" cy="3344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טבלה 9">
            <a:extLst>
              <a:ext uri="{FF2B5EF4-FFF2-40B4-BE49-F238E27FC236}">
                <a16:creationId xmlns:a16="http://schemas.microsoft.com/office/drawing/2014/main" id="{EA92E8A3-CEA4-87F0-6775-11067B87C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54335"/>
              </p:ext>
            </p:extLst>
          </p:nvPr>
        </p:nvGraphicFramePr>
        <p:xfrm>
          <a:off x="546495" y="7826622"/>
          <a:ext cx="5915025" cy="3616292"/>
        </p:xfrm>
        <a:graphic>
          <a:graphicData uri="http://schemas.openxmlformats.org/drawingml/2006/table">
            <a:tbl>
              <a:tblPr rtl="1"/>
              <a:tblGrid>
                <a:gridCol w="798347">
                  <a:extLst>
                    <a:ext uri="{9D8B030D-6E8A-4147-A177-3AD203B41FA5}">
                      <a16:colId xmlns:a16="http://schemas.microsoft.com/office/drawing/2014/main" val="2872965737"/>
                    </a:ext>
                  </a:extLst>
                </a:gridCol>
                <a:gridCol w="716698">
                  <a:extLst>
                    <a:ext uri="{9D8B030D-6E8A-4147-A177-3AD203B41FA5}">
                      <a16:colId xmlns:a16="http://schemas.microsoft.com/office/drawing/2014/main" val="749914672"/>
                    </a:ext>
                  </a:extLst>
                </a:gridCol>
                <a:gridCol w="716698">
                  <a:extLst>
                    <a:ext uri="{9D8B030D-6E8A-4147-A177-3AD203B41FA5}">
                      <a16:colId xmlns:a16="http://schemas.microsoft.com/office/drawing/2014/main" val="105583689"/>
                    </a:ext>
                  </a:extLst>
                </a:gridCol>
                <a:gridCol w="399174">
                  <a:extLst>
                    <a:ext uri="{9D8B030D-6E8A-4147-A177-3AD203B41FA5}">
                      <a16:colId xmlns:a16="http://schemas.microsoft.com/office/drawing/2014/main" val="3037407968"/>
                    </a:ext>
                  </a:extLst>
                </a:gridCol>
                <a:gridCol w="789274">
                  <a:extLst>
                    <a:ext uri="{9D8B030D-6E8A-4147-A177-3AD203B41FA5}">
                      <a16:colId xmlns:a16="http://schemas.microsoft.com/office/drawing/2014/main" val="710385572"/>
                    </a:ext>
                  </a:extLst>
                </a:gridCol>
                <a:gridCol w="789274">
                  <a:extLst>
                    <a:ext uri="{9D8B030D-6E8A-4147-A177-3AD203B41FA5}">
                      <a16:colId xmlns:a16="http://schemas.microsoft.com/office/drawing/2014/main" val="4073724246"/>
                    </a:ext>
                  </a:extLst>
                </a:gridCol>
                <a:gridCol w="399174">
                  <a:extLst>
                    <a:ext uri="{9D8B030D-6E8A-4147-A177-3AD203B41FA5}">
                      <a16:colId xmlns:a16="http://schemas.microsoft.com/office/drawing/2014/main" val="3897930834"/>
                    </a:ext>
                  </a:extLst>
                </a:gridCol>
                <a:gridCol w="653193">
                  <a:extLst>
                    <a:ext uri="{9D8B030D-6E8A-4147-A177-3AD203B41FA5}">
                      <a16:colId xmlns:a16="http://schemas.microsoft.com/office/drawing/2014/main" val="1018096687"/>
                    </a:ext>
                  </a:extLst>
                </a:gridCol>
                <a:gridCol w="653193">
                  <a:extLst>
                    <a:ext uri="{9D8B030D-6E8A-4147-A177-3AD203B41FA5}">
                      <a16:colId xmlns:a16="http://schemas.microsoft.com/office/drawing/2014/main" val="787641939"/>
                    </a:ext>
                  </a:extLst>
                </a:gridCol>
              </a:tblGrid>
              <a:tr h="479990">
                <a:tc rowSpan="2">
                  <a:txBody>
                    <a:bodyPr/>
                    <a:lstStyle/>
                    <a:p>
                      <a:pPr algn="ctr" rtl="1" fontAlgn="ctr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טלריות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1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עמלות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1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פרמיות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כמות מסמכים בתוקף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602605"/>
                  </a:ext>
                </a:extLst>
              </a:tr>
              <a:tr h="181814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שינוי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שינוי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614435"/>
                  </a:ext>
                </a:extLst>
              </a:tr>
              <a:tr h="172724"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****לא פעילים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-1,058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903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-7,723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1,529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45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389142"/>
                  </a:ext>
                </a:extLst>
              </a:tr>
              <a:tr h="172724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אילנה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597,077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3,754,002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2,084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683832"/>
                  </a:ext>
                </a:extLst>
              </a:tr>
              <a:tr h="172724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אירית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414,740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463,870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2,613,177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2,971,156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1,712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1,784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960698"/>
                  </a:ext>
                </a:extLst>
              </a:tr>
              <a:tr h="172724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טל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421,132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453,197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2,629,794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2,961,667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1,600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1,864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611954"/>
                  </a:ext>
                </a:extLst>
              </a:tr>
              <a:tr h="172724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יאנה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369,056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404,578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2,549,310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2,724,487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1,311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1,570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537250"/>
                  </a:ext>
                </a:extLst>
              </a:tr>
              <a:tr h="172724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ליאת רוזנר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380,856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408,223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2,415,024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2,668,085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1,444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1,588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18215"/>
                  </a:ext>
                </a:extLst>
              </a:tr>
              <a:tr h="172724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מירה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532,240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553,099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3,283,493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3,485,644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1,566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1,876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08986"/>
                  </a:ext>
                </a:extLst>
              </a:tr>
              <a:tr h="172724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סימה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491,806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499,302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3,097,535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3,262,006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1,410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1,948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75444"/>
                  </a:ext>
                </a:extLst>
              </a:tr>
              <a:tr h="172724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עליזה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675,789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718,078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4,456,910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4,914,543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1,874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2,222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3838929"/>
                  </a:ext>
                </a:extLst>
              </a:tr>
              <a:tr h="181814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רוני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366,276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400,205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2,517,841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2,810,725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1,258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1,725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778255"/>
                  </a:ext>
                </a:extLst>
              </a:tr>
              <a:tr h="172724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שונות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4,791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3,244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19,994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14,379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220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162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301637"/>
                  </a:ext>
                </a:extLst>
              </a:tr>
              <a:tr h="172724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ריק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397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574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2,476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4,036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971182"/>
                  </a:ext>
                </a:extLst>
              </a:tr>
              <a:tr h="172724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מסמכים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589466"/>
                  </a:ext>
                </a:extLst>
              </a:tr>
              <a:tr h="172724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ב.חיים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620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25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4,362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100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825428"/>
                  </a:ext>
                </a:extLst>
              </a:tr>
              <a:tr h="172724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ראדה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576,791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3,377,664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2,091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124189"/>
                  </a:ext>
                </a:extLst>
              </a:tr>
              <a:tr h="172724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ויויאן אוחיון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167,069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1,190,068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351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032763"/>
                  </a:ext>
                </a:extLst>
              </a:tr>
              <a:tr h="181814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סכום כולל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4,253,103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4,649,159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27,331,833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30,386,088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14,544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17,202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108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4428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תרשים 4">
            <a:extLst>
              <a:ext uri="{FF2B5EF4-FFF2-40B4-BE49-F238E27FC236}">
                <a16:creationId xmlns:a16="http://schemas.microsoft.com/office/drawing/2014/main" id="{99E4F967-725E-35FE-20D4-3495CE86B3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048878"/>
              </p:ext>
            </p:extLst>
          </p:nvPr>
        </p:nvGraphicFramePr>
        <p:xfrm>
          <a:off x="368709" y="914400"/>
          <a:ext cx="6209071" cy="4114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טבלה 6">
            <a:extLst>
              <a:ext uri="{FF2B5EF4-FFF2-40B4-BE49-F238E27FC236}">
                <a16:creationId xmlns:a16="http://schemas.microsoft.com/office/drawing/2014/main" id="{37F737BC-FBAF-B024-A349-55FF2C889A7B}"/>
              </a:ext>
            </a:extLst>
          </p:cNvPr>
          <p:cNvGraphicFramePr>
            <a:graphicFrameLocks noGrp="1"/>
          </p:cNvGraphicFramePr>
          <p:nvPr/>
        </p:nvGraphicFramePr>
        <p:xfrm>
          <a:off x="471489" y="5247456"/>
          <a:ext cx="5915024" cy="3730676"/>
        </p:xfrm>
        <a:graphic>
          <a:graphicData uri="http://schemas.openxmlformats.org/drawingml/2006/table">
            <a:tbl>
              <a:tblPr rtl="1"/>
              <a:tblGrid>
                <a:gridCol w="873903">
                  <a:extLst>
                    <a:ext uri="{9D8B030D-6E8A-4147-A177-3AD203B41FA5}">
                      <a16:colId xmlns:a16="http://schemas.microsoft.com/office/drawing/2014/main" val="1530800854"/>
                    </a:ext>
                  </a:extLst>
                </a:gridCol>
                <a:gridCol w="639243">
                  <a:extLst>
                    <a:ext uri="{9D8B030D-6E8A-4147-A177-3AD203B41FA5}">
                      <a16:colId xmlns:a16="http://schemas.microsoft.com/office/drawing/2014/main" val="3219937599"/>
                    </a:ext>
                  </a:extLst>
                </a:gridCol>
                <a:gridCol w="703977">
                  <a:extLst>
                    <a:ext uri="{9D8B030D-6E8A-4147-A177-3AD203B41FA5}">
                      <a16:colId xmlns:a16="http://schemas.microsoft.com/office/drawing/2014/main" val="3425097052"/>
                    </a:ext>
                  </a:extLst>
                </a:gridCol>
                <a:gridCol w="582601">
                  <a:extLst>
                    <a:ext uri="{9D8B030D-6E8A-4147-A177-3AD203B41FA5}">
                      <a16:colId xmlns:a16="http://schemas.microsoft.com/office/drawing/2014/main" val="268592664"/>
                    </a:ext>
                  </a:extLst>
                </a:gridCol>
                <a:gridCol w="703977">
                  <a:extLst>
                    <a:ext uri="{9D8B030D-6E8A-4147-A177-3AD203B41FA5}">
                      <a16:colId xmlns:a16="http://schemas.microsoft.com/office/drawing/2014/main" val="2657791784"/>
                    </a:ext>
                  </a:extLst>
                </a:gridCol>
                <a:gridCol w="768711">
                  <a:extLst>
                    <a:ext uri="{9D8B030D-6E8A-4147-A177-3AD203B41FA5}">
                      <a16:colId xmlns:a16="http://schemas.microsoft.com/office/drawing/2014/main" val="2143295543"/>
                    </a:ext>
                  </a:extLst>
                </a:gridCol>
                <a:gridCol w="582601">
                  <a:extLst>
                    <a:ext uri="{9D8B030D-6E8A-4147-A177-3AD203B41FA5}">
                      <a16:colId xmlns:a16="http://schemas.microsoft.com/office/drawing/2014/main" val="102850637"/>
                    </a:ext>
                  </a:extLst>
                </a:gridCol>
                <a:gridCol w="477410">
                  <a:extLst>
                    <a:ext uri="{9D8B030D-6E8A-4147-A177-3AD203B41FA5}">
                      <a16:colId xmlns:a16="http://schemas.microsoft.com/office/drawing/2014/main" val="3336442108"/>
                    </a:ext>
                  </a:extLst>
                </a:gridCol>
                <a:gridCol w="582601">
                  <a:extLst>
                    <a:ext uri="{9D8B030D-6E8A-4147-A177-3AD203B41FA5}">
                      <a16:colId xmlns:a16="http://schemas.microsoft.com/office/drawing/2014/main" val="2034113028"/>
                    </a:ext>
                  </a:extLst>
                </a:gridCol>
              </a:tblGrid>
              <a:tr h="162204">
                <a:tc rowSpan="2">
                  <a:txBody>
                    <a:bodyPr/>
                    <a:lstStyle/>
                    <a:p>
                      <a:pPr algn="ctr" rtl="1" fontAlgn="ctr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סוכנים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1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עמלות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1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פרמיות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1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כמות מסמכים בתוקף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013805"/>
                  </a:ext>
                </a:extLst>
              </a:tr>
              <a:tr h="162204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שינוי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שינוי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53233"/>
                  </a:ext>
                </a:extLst>
              </a:tr>
              <a:tr h="154093"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***לא פעילים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1,855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9,971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12,651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60,020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21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64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1946533"/>
                  </a:ext>
                </a:extLst>
              </a:tr>
              <a:tr h="1540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אבנר פינקל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58,758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63,997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360,697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400,034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164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268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381146"/>
                  </a:ext>
                </a:extLst>
              </a:tr>
              <a:tr h="1540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בית יצחק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361,027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392,743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2,275,645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2,511,494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1,575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1,556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024422"/>
                  </a:ext>
                </a:extLst>
              </a:tr>
              <a:tr h="1540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בני עטרות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41,758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48,428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278,950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320,469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93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161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253103"/>
                  </a:ext>
                </a:extLst>
              </a:tr>
              <a:tr h="1540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דינה טל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15,729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21,772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95,762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141,907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67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77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515973"/>
                  </a:ext>
                </a:extLst>
              </a:tr>
              <a:tr h="1540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דנה ליסט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1,250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1,003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8,291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6,054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362647"/>
                  </a:ext>
                </a:extLst>
              </a:tr>
              <a:tr h="1540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התיכון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99,081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95,555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601,509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600,222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366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363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949034"/>
                  </a:ext>
                </a:extLst>
              </a:tr>
              <a:tr h="162204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לבב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3,434,375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3,765,448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22,194,677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24,741,016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11,209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13,370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914230"/>
                  </a:ext>
                </a:extLst>
              </a:tr>
              <a:tr h="1540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לנדסברג נגה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62,675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67,364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389,255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424,438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247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358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026176"/>
                  </a:ext>
                </a:extLst>
              </a:tr>
              <a:tr h="1540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מאיר נתן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48,379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49,315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290,687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303,441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198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203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645727"/>
                  </a:ext>
                </a:extLst>
              </a:tr>
              <a:tr h="1540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מני קדוש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3,665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2,137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22,977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13,411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280140"/>
                  </a:ext>
                </a:extLst>
              </a:tr>
              <a:tr h="1540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קוסטה זהבה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5,893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7,634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40,297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50,517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27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40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189526"/>
                  </a:ext>
                </a:extLst>
              </a:tr>
              <a:tr h="1540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רונן וינוגרד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13,023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13,470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72,328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76,055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27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730942"/>
                  </a:ext>
                </a:extLst>
              </a:tr>
              <a:tr h="1540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רשפון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100,247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101,141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663,417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670,091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308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515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381385"/>
                  </a:ext>
                </a:extLst>
              </a:tr>
              <a:tr h="1540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מסמכים לבב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4,791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3,244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19,994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14,379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229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163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866605"/>
                  </a:ext>
                </a:extLst>
              </a:tr>
              <a:tr h="1540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שרמן סוכנויות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366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378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2,794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2,841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307695"/>
                  </a:ext>
                </a:extLst>
              </a:tr>
              <a:tr h="1540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פסח פלדמן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452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498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3,106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3,278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208001"/>
                  </a:ext>
                </a:extLst>
              </a:tr>
              <a:tr h="1540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ז'קלין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399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545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3,158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3,838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112464"/>
                  </a:ext>
                </a:extLst>
              </a:tr>
              <a:tr h="1540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אילן הראל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22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88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835275"/>
                  </a:ext>
                </a:extLst>
              </a:tr>
              <a:tr h="1540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חן סדרס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1,853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13,832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329851"/>
                  </a:ext>
                </a:extLst>
              </a:tr>
              <a:tr h="1540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ויויאן אוחיון -חדש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2,639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28,664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25272"/>
                  </a:ext>
                </a:extLst>
              </a:tr>
              <a:tr h="162204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סכום כולל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4,253,723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4,649,159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23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27,336,195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30,386,088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22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14,544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he-IL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17,202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326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26516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170</TotalTime>
  <Words>1291</Words>
  <Application>Microsoft Office PowerPoint</Application>
  <PresentationFormat>מסך רחב</PresentationFormat>
  <Paragraphs>633</Paragraphs>
  <Slides>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ערכת נושא Office</vt:lpstr>
      <vt:lpstr>מצגת הנהלה שנתי    2023 מול 2024  (ינואר-דצמבר)    לבב סוכנות לביטוח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ויקי - לבב סוכנות לביטוח</dc:creator>
  <cp:lastModifiedBy>אורית - לבב סוכנות לביטוח</cp:lastModifiedBy>
  <cp:revision>10</cp:revision>
  <dcterms:created xsi:type="dcterms:W3CDTF">2023-07-13T06:37:23Z</dcterms:created>
  <dcterms:modified xsi:type="dcterms:W3CDTF">2025-03-17T08:45:39Z</dcterms:modified>
</cp:coreProperties>
</file>