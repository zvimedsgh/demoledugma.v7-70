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700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55D32-1BBD-35C0-586E-4BB1249650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DB3182-81C6-61A3-D3D0-7B58AEAA21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7B3839-5E60-76D9-5961-2AAD0436A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92DD8-E6ED-4C86-AB96-A3192EE66AB9}" type="datetimeFigureOut">
              <a:rPr lang="en-IL" smtClean="0"/>
              <a:t>10/05/2026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CB6A6B-533A-555C-FAF5-E0F1FCDC0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17016C-1A4C-BBD7-871C-EDD1718D7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DD7C3-4164-43D2-936A-1DD363C98624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0433212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13F0F-3D96-8C0D-B14F-8161A5E5F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090B15-0948-B0B7-761C-554F0E67B5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6A1A92-003F-A4E5-264F-4146721F9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92DD8-E6ED-4C86-AB96-A3192EE66AB9}" type="datetimeFigureOut">
              <a:rPr lang="en-IL" smtClean="0"/>
              <a:t>10/05/2026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65FBAA-7F1F-5171-A9F1-4A308AD889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B68B09-9900-3152-A85F-B3F17200F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DD7C3-4164-43D2-936A-1DD363C98624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541369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DFBF1-3C45-06C9-C77D-5D2773A5C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E8BC7C-91CF-2E61-1E73-24D3017D02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107D9F-38F5-FD9B-0DE3-5EF307F91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92DD8-E6ED-4C86-AB96-A3192EE66AB9}" type="datetimeFigureOut">
              <a:rPr lang="en-IL" smtClean="0"/>
              <a:t>10/05/2026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595EAC-507F-483C-A1F4-02BA2F1D3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2E771A-D97E-C5BD-6E9F-DF7E954F3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DD7C3-4164-43D2-936A-1DD363C98624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4702211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1DE77-0F8E-5201-1318-DBC793245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C78C60-25F8-83C6-74E6-A23BCB0E52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5E24AA-A4F4-D5E2-D4B6-D2CC7024A1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4B4582-5889-E886-9B0F-409FED8BC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92DD8-E6ED-4C86-AB96-A3192EE66AB9}" type="datetimeFigureOut">
              <a:rPr lang="en-IL" smtClean="0"/>
              <a:t>10/05/2026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1FA827-21B3-9EEE-A3D3-B91883147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E43DFA-7C84-5B7C-7BF4-47AF769F8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DD7C3-4164-43D2-936A-1DD363C98624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6288999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E93E4-3FEF-82ED-2B89-F2ECBFB43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22D852-EEFA-1C0E-BDC0-7EE18E7827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1BEEAB-A025-EBED-0ECA-A9AED46656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841719-03B3-6570-813C-EFD9645F40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342F37-8B60-C063-5551-646C69688E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86E3D6-0706-D8B2-8579-26C8B4E3FA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92DD8-E6ED-4C86-AB96-A3192EE66AB9}" type="datetimeFigureOut">
              <a:rPr lang="en-IL" smtClean="0"/>
              <a:t>10/05/2026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2D1F403-E536-7B85-1415-87A254BB0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2004DBF-3197-C416-4B6D-6AA3F2DA6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DD7C3-4164-43D2-936A-1DD363C98624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8937711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90CC4-C5FF-DDC1-9589-A2FBF75B5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CB0AB0-4B4D-3EEE-1AE0-6DA0B4457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92DD8-E6ED-4C86-AB96-A3192EE66AB9}" type="datetimeFigureOut">
              <a:rPr lang="en-IL" smtClean="0"/>
              <a:t>10/05/2026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D3BFC1-32F0-4468-0C88-D3595B9D9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6E7710-F196-FC8E-42CD-97D038096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DD7C3-4164-43D2-936A-1DD363C98624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4777924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8C87DD-08C4-D5A1-E20E-D41717CC0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92DD8-E6ED-4C86-AB96-A3192EE66AB9}" type="datetimeFigureOut">
              <a:rPr lang="en-IL" smtClean="0"/>
              <a:t>10/05/2026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C8D255-3CAA-30BC-714C-6FB77B45B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0C7F72-DE1F-27FA-27EE-C4FDD59F2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DD7C3-4164-43D2-936A-1DD363C98624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6221569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EC72B-E7A9-3295-1057-D21BA4B317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9CCA96-22FB-E4A2-6620-1BBE42A9D0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32A122-5935-2A4C-16E6-60E3CE1182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D70EF3-38D6-ED55-BE72-8D2BAE0CB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92DD8-E6ED-4C86-AB96-A3192EE66AB9}" type="datetimeFigureOut">
              <a:rPr lang="en-IL" smtClean="0"/>
              <a:t>10/05/2026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62609C-0A90-74C4-586B-69353D48B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2C3951-8AD3-C036-65FB-1F4660D03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DD7C3-4164-43D2-936A-1DD363C98624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521622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DCCE7-0165-99BB-B547-7960BB952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CB37693-30DE-4E2B-C593-CA2F587CC3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B1183E-7945-B216-C4FA-7DA2F16912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33CB7C-6DF2-041F-10B8-21B137896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92DD8-E6ED-4C86-AB96-A3192EE66AB9}" type="datetimeFigureOut">
              <a:rPr lang="en-IL" smtClean="0"/>
              <a:t>10/05/2026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24485B-62CD-754B-F409-CA479E00F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3D9BB0-2555-CE47-B8F3-E41D6EFA9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DD7C3-4164-43D2-936A-1DD363C98624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9949455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61524-0AFD-FA11-FA02-EF6AF15F8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77CF82-96C6-19B5-E3F1-D48AF00EEF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4034CD-2259-CDE2-C685-FC810932B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92DD8-E6ED-4C86-AB96-A3192EE66AB9}" type="datetimeFigureOut">
              <a:rPr lang="en-IL" smtClean="0"/>
              <a:t>10/05/2026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ECCEE1-86D9-81DE-AF10-6CA636038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2C5993-B272-6D4A-1ECF-03252FBFB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DD7C3-4164-43D2-936A-1DD363C98624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1266029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498774D-6B52-6D11-C767-24F2D01F12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CB45EA-4043-714D-BB7E-7F775E6639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733A53-96DE-CD54-E28B-50AD2E7BB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92DD8-E6ED-4C86-AB96-A3192EE66AB9}" type="datetimeFigureOut">
              <a:rPr lang="en-IL" smtClean="0"/>
              <a:t>10/05/2026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E40A1A-7874-7E4B-749F-5127C744C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CA836-295D-E45D-3B24-9E79C7787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DD7C3-4164-43D2-936A-1DD363C98624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3533879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8A6249-20E2-347D-E84F-9077AAA44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9FC3ED-7A9B-92A9-EC3A-59DA37660D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8742CC-3422-365F-A511-02B7520CA3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E92DD8-E6ED-4C86-AB96-A3192EE66AB9}" type="datetimeFigureOut">
              <a:rPr lang="en-IL" smtClean="0"/>
              <a:t>10/05/2026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34096E-7EB5-BCE5-0588-89EBA8D129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3FECD8-6E62-4A40-C999-FC6183F49D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7DD7C3-4164-43D2-936A-1DD363C98624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594234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gif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gif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gif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gif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gif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gif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gif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gi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9EDB4E5-A994-A4FE-6082-4657C21B8E5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BE3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0D39815-96F5-17DF-4CF8-0967D1864CF5}"/>
              </a:ext>
            </a:extLst>
          </p:cNvPr>
          <p:cNvSpPr/>
          <p:nvPr/>
        </p:nvSpPr>
        <p:spPr>
          <a:xfrm>
            <a:off x="635000" y="508000"/>
            <a:ext cx="10922000" cy="5842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A0AB24-B795-922C-0569-5F608ED2C83E}"/>
              </a:ext>
            </a:extLst>
          </p:cNvPr>
          <p:cNvSpPr txBox="1"/>
          <p:nvPr/>
        </p:nvSpPr>
        <p:spPr>
          <a:xfrm>
            <a:off x="1016000" y="1143000"/>
            <a:ext cx="10160000" cy="70788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4000" b="1">
                <a:solidFill>
                  <a:srgbClr val="323232"/>
                </a:solidFill>
              </a:rPr>
              <a:t>מצגת הנהלה</a:t>
            </a:r>
            <a:endParaRPr lang="en-IL" sz="4000" b="1">
              <a:solidFill>
                <a:srgbClr val="32323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713DA7-7362-E45E-F350-F89AB8536E04}"/>
              </a:ext>
            </a:extLst>
          </p:cNvPr>
          <p:cNvSpPr txBox="1"/>
          <p:nvPr/>
        </p:nvSpPr>
        <p:spPr>
          <a:xfrm>
            <a:off x="1016000" y="2286000"/>
            <a:ext cx="101600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3200">
                <a:solidFill>
                  <a:srgbClr val="505050"/>
                </a:solidFill>
              </a:rPr>
              <a:t>2019 מול 2020</a:t>
            </a:r>
            <a:endParaRPr lang="en-IL" sz="3200">
              <a:solidFill>
                <a:srgbClr val="50505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89A7E6-3FC9-8FF1-B8CC-32272A195D41}"/>
              </a:ext>
            </a:extLst>
          </p:cNvPr>
          <p:cNvSpPr txBox="1"/>
          <p:nvPr/>
        </p:nvSpPr>
        <p:spPr>
          <a:xfrm>
            <a:off x="1016000" y="3175000"/>
            <a:ext cx="10160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2000">
                <a:solidFill>
                  <a:srgbClr val="787878"/>
                </a:solidFill>
              </a:rPr>
              <a:t>שנתי | בורדרו | בחר/י</a:t>
            </a:r>
            <a:endParaRPr lang="en-IL" sz="2000">
              <a:solidFill>
                <a:srgbClr val="787878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271A0E-5793-4A1F-D782-34AEBA9D01CF}"/>
              </a:ext>
            </a:extLst>
          </p:cNvPr>
          <p:cNvSpPr txBox="1"/>
          <p:nvPr/>
        </p:nvSpPr>
        <p:spPr>
          <a:xfrm>
            <a:off x="1016000" y="5080000"/>
            <a:ext cx="10160000" cy="61555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3400" b="1">
                <a:solidFill>
                  <a:srgbClr val="00823C"/>
                </a:solidFill>
              </a:rPr>
              <a:t>לדוגמא סוכנות לביטוח</a:t>
            </a:r>
            <a:endParaRPr lang="en-IL" sz="3400" b="1">
              <a:solidFill>
                <a:srgbClr val="00823C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389E8F-FFBF-E0F1-416B-1E41108389D0}"/>
              </a:ext>
            </a:extLst>
          </p:cNvPr>
          <p:cNvSpPr/>
          <p:nvPr/>
        </p:nvSpPr>
        <p:spPr>
          <a:xfrm>
            <a:off x="635000" y="6413500"/>
            <a:ext cx="10922000" cy="63500"/>
          </a:xfrm>
          <a:prstGeom prst="rect">
            <a:avLst/>
          </a:prstGeom>
          <a:solidFill>
            <a:srgbClr val="C8A0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8CEB26-4B5B-508B-2E25-D933EF768D31}"/>
              </a:ext>
            </a:extLst>
          </p:cNvPr>
          <p:cNvSpPr txBox="1"/>
          <p:nvPr/>
        </p:nvSpPr>
        <p:spPr>
          <a:xfrm>
            <a:off x="11115469" y="25400"/>
            <a:ext cx="502061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1 / 29</a:t>
            </a:r>
          </a:p>
        </p:txBody>
      </p:sp>
    </p:spTree>
    <p:extLst>
      <p:ext uri="{BB962C8B-B14F-4D97-AF65-F5344CB8AC3E}">
        <p14:creationId xmlns:p14="http://schemas.microsoft.com/office/powerpoint/2010/main" val="9422723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02927A4-8873-71B3-DA37-4FB420C79ED1}"/>
              </a:ext>
            </a:extLst>
          </p:cNvPr>
          <p:cNvSpPr txBox="1"/>
          <p:nvPr/>
        </p:nvSpPr>
        <p:spPr>
          <a:xfrm>
            <a:off x="254000" y="50800"/>
            <a:ext cx="11684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b="1">
                <a:solidFill>
                  <a:srgbClr val="00468C"/>
                </a:solidFill>
              </a:rPr>
              <a:t>לדוגמא סוכנות לביטוח</a:t>
            </a:r>
            <a:endParaRPr lang="en-IL" b="1">
              <a:solidFill>
                <a:srgbClr val="00468C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62DEF2-C4B0-EF18-D354-B043FB296C29}"/>
              </a:ext>
            </a:extLst>
          </p:cNvPr>
          <p:cNvSpPr txBox="1"/>
          <p:nvPr/>
        </p:nvSpPr>
        <p:spPr>
          <a:xfrm>
            <a:off x="254000" y="381000"/>
            <a:ext cx="11684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2000" b="1">
                <a:solidFill>
                  <a:srgbClr val="323232"/>
                </a:solidFill>
              </a:rPr>
              <a:t>סה"כ פרמיות ועמלות - 2019 מול 2020</a:t>
            </a:r>
            <a:endParaRPr lang="en-IL" sz="2000" b="1">
              <a:solidFill>
                <a:srgbClr val="32323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B48D1F-C203-8B5F-978A-DEE3767D5FD4}"/>
              </a:ext>
            </a:extLst>
          </p:cNvPr>
          <p:cNvSpPr txBox="1"/>
          <p:nvPr/>
        </p:nvSpPr>
        <p:spPr>
          <a:xfrm>
            <a:off x="508000" y="736600"/>
            <a:ext cx="11176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1100">
                <a:solidFill>
                  <a:srgbClr val="787878"/>
                </a:solidFill>
              </a:rPr>
              <a:t>שנתי | בורדרו | בחר/י</a:t>
            </a:r>
            <a:endParaRPr lang="en-IL" sz="1100">
              <a:solidFill>
                <a:srgbClr val="787878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6026D6A-E554-3132-6EA4-706533730AA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000" y="1117600"/>
            <a:ext cx="10160000" cy="5397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BDA0202-A612-A5E7-D699-BE1CC24E6F11}"/>
              </a:ext>
            </a:extLst>
          </p:cNvPr>
          <p:cNvSpPr txBox="1"/>
          <p:nvPr/>
        </p:nvSpPr>
        <p:spPr>
          <a:xfrm>
            <a:off x="11115469" y="25400"/>
            <a:ext cx="502061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2 / 29</a:t>
            </a:r>
          </a:p>
        </p:txBody>
      </p:sp>
    </p:spTree>
    <p:extLst>
      <p:ext uri="{BB962C8B-B14F-4D97-AF65-F5344CB8AC3E}">
        <p14:creationId xmlns:p14="http://schemas.microsoft.com/office/powerpoint/2010/main" val="30854071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07D90E2-827A-AB96-D3C3-930A31363AF6}"/>
              </a:ext>
            </a:extLst>
          </p:cNvPr>
          <p:cNvSpPr txBox="1"/>
          <p:nvPr/>
        </p:nvSpPr>
        <p:spPr>
          <a:xfrm>
            <a:off x="254000" y="50800"/>
            <a:ext cx="11684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600" b="1">
                <a:solidFill>
                  <a:srgbClr val="00468C"/>
                </a:solidFill>
              </a:rPr>
              <a:t>לדוגמא סוכנות לביטוח</a:t>
            </a:r>
            <a:endParaRPr lang="en-IL" sz="1600" b="1">
              <a:solidFill>
                <a:srgbClr val="00468C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A2E926-CCAD-5B9B-6A44-3FE9FF8D5246}"/>
              </a:ext>
            </a:extLst>
          </p:cNvPr>
          <p:cNvSpPr txBox="1"/>
          <p:nvPr/>
        </p:nvSpPr>
        <p:spPr>
          <a:xfrm>
            <a:off x="254000" y="355600"/>
            <a:ext cx="11684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b="1">
                <a:solidFill>
                  <a:srgbClr val="323232"/>
                </a:solidFill>
              </a:rPr>
              <a:t>פרמיות לפי חודשים - 2019 מול 2020</a:t>
            </a:r>
            <a:endParaRPr lang="en-IL" b="1">
              <a:solidFill>
                <a:srgbClr val="32323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98ED4C-6C00-80DC-6A46-DBA96DB47C43}"/>
              </a:ext>
            </a:extLst>
          </p:cNvPr>
          <p:cNvSpPr txBox="1"/>
          <p:nvPr/>
        </p:nvSpPr>
        <p:spPr>
          <a:xfrm>
            <a:off x="508000" y="685800"/>
            <a:ext cx="11176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100">
                <a:solidFill>
                  <a:srgbClr val="787878"/>
                </a:solidFill>
              </a:rPr>
              <a:t>שנתי | בורדרו | בחר/י</a:t>
            </a:r>
            <a:endParaRPr lang="en-IL" sz="1100">
              <a:solidFill>
                <a:srgbClr val="787878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D2B3773-341E-0DE3-F533-489939B8A90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016000"/>
            <a:ext cx="10668000" cy="55372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3022769-0B20-9CC7-0275-742255416E10}"/>
              </a:ext>
            </a:extLst>
          </p:cNvPr>
          <p:cNvSpPr txBox="1"/>
          <p:nvPr/>
        </p:nvSpPr>
        <p:spPr>
          <a:xfrm>
            <a:off x="11115469" y="25400"/>
            <a:ext cx="502061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3 / 29</a:t>
            </a:r>
          </a:p>
        </p:txBody>
      </p:sp>
    </p:spTree>
    <p:extLst>
      <p:ext uri="{BB962C8B-B14F-4D97-AF65-F5344CB8AC3E}">
        <p14:creationId xmlns:p14="http://schemas.microsoft.com/office/powerpoint/2010/main" val="21511490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3C1EE7D-DF50-9F91-47FF-F198D705EF6A}"/>
              </a:ext>
            </a:extLst>
          </p:cNvPr>
          <p:cNvSpPr txBox="1"/>
          <p:nvPr/>
        </p:nvSpPr>
        <p:spPr>
          <a:xfrm>
            <a:off x="254000" y="50800"/>
            <a:ext cx="11684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600" b="1">
                <a:solidFill>
                  <a:srgbClr val="00468C"/>
                </a:solidFill>
              </a:rPr>
              <a:t>לדוגמא סוכנות לביטוח</a:t>
            </a:r>
            <a:endParaRPr lang="en-IL" sz="1600" b="1">
              <a:solidFill>
                <a:srgbClr val="00468C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A2F44D-1F9E-C815-767A-616E3755F279}"/>
              </a:ext>
            </a:extLst>
          </p:cNvPr>
          <p:cNvSpPr txBox="1"/>
          <p:nvPr/>
        </p:nvSpPr>
        <p:spPr>
          <a:xfrm>
            <a:off x="254000" y="355600"/>
            <a:ext cx="11684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b="1">
                <a:solidFill>
                  <a:srgbClr val="323232"/>
                </a:solidFill>
              </a:rPr>
              <a:t>מסמכים לפי חודשים - 2019 מול 2020</a:t>
            </a:r>
            <a:endParaRPr lang="en-IL" b="1">
              <a:solidFill>
                <a:srgbClr val="32323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3DC37D-5AD6-E6E6-B8A3-C7248409764A}"/>
              </a:ext>
            </a:extLst>
          </p:cNvPr>
          <p:cNvSpPr txBox="1"/>
          <p:nvPr/>
        </p:nvSpPr>
        <p:spPr>
          <a:xfrm>
            <a:off x="508000" y="685800"/>
            <a:ext cx="11176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100">
                <a:solidFill>
                  <a:srgbClr val="787878"/>
                </a:solidFill>
              </a:rPr>
              <a:t>שנתי | בורדרו | בחר/י</a:t>
            </a:r>
            <a:endParaRPr lang="en-IL" sz="1100">
              <a:solidFill>
                <a:srgbClr val="787878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CF4C04A-9CF1-BE12-ABF3-A04601AFC2E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016000"/>
            <a:ext cx="10668000" cy="55372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5349ED5-5843-1FF0-5648-937E27879115}"/>
              </a:ext>
            </a:extLst>
          </p:cNvPr>
          <p:cNvSpPr txBox="1"/>
          <p:nvPr/>
        </p:nvSpPr>
        <p:spPr>
          <a:xfrm>
            <a:off x="11115469" y="25400"/>
            <a:ext cx="502061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4 / 29</a:t>
            </a:r>
          </a:p>
        </p:txBody>
      </p:sp>
    </p:spTree>
    <p:extLst>
      <p:ext uri="{BB962C8B-B14F-4D97-AF65-F5344CB8AC3E}">
        <p14:creationId xmlns:p14="http://schemas.microsoft.com/office/powerpoint/2010/main" val="30010227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3C75BCD-441A-BA41-494C-BF28196155AF}"/>
              </a:ext>
            </a:extLst>
          </p:cNvPr>
          <p:cNvSpPr txBox="1"/>
          <p:nvPr/>
        </p:nvSpPr>
        <p:spPr>
          <a:xfrm>
            <a:off x="254000" y="50800"/>
            <a:ext cx="11684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600" b="1">
                <a:solidFill>
                  <a:srgbClr val="00468C"/>
                </a:solidFill>
              </a:rPr>
              <a:t>לדוגמא סוכנות לביטוח</a:t>
            </a:r>
            <a:endParaRPr lang="en-IL" sz="1600" b="1">
              <a:solidFill>
                <a:srgbClr val="00468C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DF9B3B-4672-0A5A-6EE3-9A7F91709B42}"/>
              </a:ext>
            </a:extLst>
          </p:cNvPr>
          <p:cNvSpPr txBox="1"/>
          <p:nvPr/>
        </p:nvSpPr>
        <p:spPr>
          <a:xfrm>
            <a:off x="254000" y="355600"/>
            <a:ext cx="11684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b="1">
                <a:solidFill>
                  <a:srgbClr val="323232"/>
                </a:solidFill>
              </a:rPr>
              <a:t>פוליסות לפי חודשים - 2019 מול 2020</a:t>
            </a:r>
            <a:endParaRPr lang="en-IL" b="1">
              <a:solidFill>
                <a:srgbClr val="32323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9246A7-4647-2FC9-FB59-98534252B279}"/>
              </a:ext>
            </a:extLst>
          </p:cNvPr>
          <p:cNvSpPr txBox="1"/>
          <p:nvPr/>
        </p:nvSpPr>
        <p:spPr>
          <a:xfrm>
            <a:off x="508000" y="685800"/>
            <a:ext cx="11176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100">
                <a:solidFill>
                  <a:srgbClr val="787878"/>
                </a:solidFill>
              </a:rPr>
              <a:t>שנתי | בורדרו | בחר/י</a:t>
            </a:r>
            <a:endParaRPr lang="en-IL" sz="1100">
              <a:solidFill>
                <a:srgbClr val="787878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5DCAFCF-088E-DC89-82E4-6181816B005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016000"/>
            <a:ext cx="10668000" cy="55372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9836D29-D79B-EADE-6400-3F154BE63FAC}"/>
              </a:ext>
            </a:extLst>
          </p:cNvPr>
          <p:cNvSpPr txBox="1"/>
          <p:nvPr/>
        </p:nvSpPr>
        <p:spPr>
          <a:xfrm>
            <a:off x="11115469" y="25400"/>
            <a:ext cx="502061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5 / 29</a:t>
            </a:r>
          </a:p>
        </p:txBody>
      </p:sp>
    </p:spTree>
    <p:extLst>
      <p:ext uri="{BB962C8B-B14F-4D97-AF65-F5344CB8AC3E}">
        <p14:creationId xmlns:p14="http://schemas.microsoft.com/office/powerpoint/2010/main" val="34578023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12FEAB8-9C29-B02B-FFC2-7362429F5E92}"/>
              </a:ext>
            </a:extLst>
          </p:cNvPr>
          <p:cNvSpPr txBox="1"/>
          <p:nvPr/>
        </p:nvSpPr>
        <p:spPr>
          <a:xfrm>
            <a:off x="254000" y="50800"/>
            <a:ext cx="11684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600" b="1">
                <a:solidFill>
                  <a:srgbClr val="00468C"/>
                </a:solidFill>
              </a:rPr>
              <a:t>לדוגמא סוכנות לביטוח</a:t>
            </a:r>
            <a:endParaRPr lang="en-IL" sz="1600" b="1">
              <a:solidFill>
                <a:srgbClr val="00468C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560D65-715B-0E63-F5B2-F55808B7DB19}"/>
              </a:ext>
            </a:extLst>
          </p:cNvPr>
          <p:cNvSpPr txBox="1"/>
          <p:nvPr/>
        </p:nvSpPr>
        <p:spPr>
          <a:xfrm>
            <a:off x="254000" y="355600"/>
            <a:ext cx="11684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b="1">
                <a:solidFill>
                  <a:srgbClr val="323232"/>
                </a:solidFill>
              </a:rPr>
              <a:t>עמלות לפי חודשים - 2019 מול 2020</a:t>
            </a:r>
            <a:endParaRPr lang="en-IL" b="1">
              <a:solidFill>
                <a:srgbClr val="32323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8C8F8D-6856-E3D2-B7E1-01E3A32A640D}"/>
              </a:ext>
            </a:extLst>
          </p:cNvPr>
          <p:cNvSpPr txBox="1"/>
          <p:nvPr/>
        </p:nvSpPr>
        <p:spPr>
          <a:xfrm>
            <a:off x="508000" y="685800"/>
            <a:ext cx="11176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100">
                <a:solidFill>
                  <a:srgbClr val="787878"/>
                </a:solidFill>
              </a:rPr>
              <a:t>שנתי | בורדרו | בחר/י</a:t>
            </a:r>
            <a:endParaRPr lang="en-IL" sz="1100">
              <a:solidFill>
                <a:srgbClr val="787878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8355810-5DA7-1FEE-D1FB-5D3F5025388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016000"/>
            <a:ext cx="10668000" cy="55372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A3EE33E-3E16-AEA0-E8F7-DA7B028FA540}"/>
              </a:ext>
            </a:extLst>
          </p:cNvPr>
          <p:cNvSpPr txBox="1"/>
          <p:nvPr/>
        </p:nvSpPr>
        <p:spPr>
          <a:xfrm>
            <a:off x="11115469" y="25400"/>
            <a:ext cx="502061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6 / 29</a:t>
            </a:r>
          </a:p>
        </p:txBody>
      </p:sp>
    </p:spTree>
    <p:extLst>
      <p:ext uri="{BB962C8B-B14F-4D97-AF65-F5344CB8AC3E}">
        <p14:creationId xmlns:p14="http://schemas.microsoft.com/office/powerpoint/2010/main" val="29471233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8D202AF-E70C-D630-19D6-F6FA9B7D6B60}"/>
              </a:ext>
            </a:extLst>
          </p:cNvPr>
          <p:cNvSpPr txBox="1"/>
          <p:nvPr/>
        </p:nvSpPr>
        <p:spPr>
          <a:xfrm>
            <a:off x="254000" y="25400"/>
            <a:ext cx="11684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400" b="1">
                <a:solidFill>
                  <a:srgbClr val="00468C"/>
                </a:solidFill>
              </a:rPr>
              <a:t>לדוגמא סוכנות לביטוח</a:t>
            </a:r>
            <a:endParaRPr lang="en-IL" sz="1400" b="1">
              <a:solidFill>
                <a:srgbClr val="00468C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EADF01-09E8-69A0-5ED5-00FCF114D601}"/>
              </a:ext>
            </a:extLst>
          </p:cNvPr>
          <p:cNvSpPr txBox="1"/>
          <p:nvPr/>
        </p:nvSpPr>
        <p:spPr>
          <a:xfrm>
            <a:off x="254000" y="279400"/>
            <a:ext cx="11684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1400" b="1">
                <a:solidFill>
                  <a:srgbClr val="323232"/>
                </a:solidFill>
              </a:rPr>
              <a:t>חודשים - טבלת נתונים</a:t>
            </a:r>
            <a:endParaRPr lang="en-IL" sz="1400" b="1">
              <a:solidFill>
                <a:srgbClr val="32323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C5EA7E-F5FF-AF7F-2137-87C0338D60C1}"/>
              </a:ext>
            </a:extLst>
          </p:cNvPr>
          <p:cNvSpPr txBox="1"/>
          <p:nvPr/>
        </p:nvSpPr>
        <p:spPr>
          <a:xfrm>
            <a:off x="508000" y="533400"/>
            <a:ext cx="11176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900">
                <a:solidFill>
                  <a:srgbClr val="787878"/>
                </a:solidFill>
              </a:rPr>
              <a:t>שנתי | בורדרו | בחר/י</a:t>
            </a:r>
            <a:endParaRPr lang="en-IL" sz="900">
              <a:solidFill>
                <a:srgbClr val="787878"/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38EE8DA-8D08-1228-DA0D-DFD19031C7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7515124"/>
              </p:ext>
            </p:extLst>
          </p:nvPr>
        </p:nvGraphicFramePr>
        <p:xfrm>
          <a:off x="127000" y="787400"/>
          <a:ext cx="11938000" cy="304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6900">
                  <a:extLst>
                    <a:ext uri="{9D8B030D-6E8A-4147-A177-3AD203B41FA5}">
                      <a16:colId xmlns:a16="http://schemas.microsoft.com/office/drawing/2014/main" val="1837279950"/>
                    </a:ext>
                  </a:extLst>
                </a:gridCol>
                <a:gridCol w="811784">
                  <a:extLst>
                    <a:ext uri="{9D8B030D-6E8A-4147-A177-3AD203B41FA5}">
                      <a16:colId xmlns:a16="http://schemas.microsoft.com/office/drawing/2014/main" val="3457532148"/>
                    </a:ext>
                  </a:extLst>
                </a:gridCol>
                <a:gridCol w="811784">
                  <a:extLst>
                    <a:ext uri="{9D8B030D-6E8A-4147-A177-3AD203B41FA5}">
                      <a16:colId xmlns:a16="http://schemas.microsoft.com/office/drawing/2014/main" val="312576999"/>
                    </a:ext>
                  </a:extLst>
                </a:gridCol>
                <a:gridCol w="596900">
                  <a:extLst>
                    <a:ext uri="{9D8B030D-6E8A-4147-A177-3AD203B41FA5}">
                      <a16:colId xmlns:a16="http://schemas.microsoft.com/office/drawing/2014/main" val="2282426152"/>
                    </a:ext>
                  </a:extLst>
                </a:gridCol>
                <a:gridCol w="811784">
                  <a:extLst>
                    <a:ext uri="{9D8B030D-6E8A-4147-A177-3AD203B41FA5}">
                      <a16:colId xmlns:a16="http://schemas.microsoft.com/office/drawing/2014/main" val="1323127483"/>
                    </a:ext>
                  </a:extLst>
                </a:gridCol>
                <a:gridCol w="811784">
                  <a:extLst>
                    <a:ext uri="{9D8B030D-6E8A-4147-A177-3AD203B41FA5}">
                      <a16:colId xmlns:a16="http://schemas.microsoft.com/office/drawing/2014/main" val="3311848377"/>
                    </a:ext>
                  </a:extLst>
                </a:gridCol>
                <a:gridCol w="596900">
                  <a:extLst>
                    <a:ext uri="{9D8B030D-6E8A-4147-A177-3AD203B41FA5}">
                      <a16:colId xmlns:a16="http://schemas.microsoft.com/office/drawing/2014/main" val="3448348747"/>
                    </a:ext>
                  </a:extLst>
                </a:gridCol>
                <a:gridCol w="811784">
                  <a:extLst>
                    <a:ext uri="{9D8B030D-6E8A-4147-A177-3AD203B41FA5}">
                      <a16:colId xmlns:a16="http://schemas.microsoft.com/office/drawing/2014/main" val="2886706701"/>
                    </a:ext>
                  </a:extLst>
                </a:gridCol>
                <a:gridCol w="811784">
                  <a:extLst>
                    <a:ext uri="{9D8B030D-6E8A-4147-A177-3AD203B41FA5}">
                      <a16:colId xmlns:a16="http://schemas.microsoft.com/office/drawing/2014/main" val="4221788672"/>
                    </a:ext>
                  </a:extLst>
                </a:gridCol>
                <a:gridCol w="596900">
                  <a:extLst>
                    <a:ext uri="{9D8B030D-6E8A-4147-A177-3AD203B41FA5}">
                      <a16:colId xmlns:a16="http://schemas.microsoft.com/office/drawing/2014/main" val="404766859"/>
                    </a:ext>
                  </a:extLst>
                </a:gridCol>
                <a:gridCol w="811784">
                  <a:extLst>
                    <a:ext uri="{9D8B030D-6E8A-4147-A177-3AD203B41FA5}">
                      <a16:colId xmlns:a16="http://schemas.microsoft.com/office/drawing/2014/main" val="1474653673"/>
                    </a:ext>
                  </a:extLst>
                </a:gridCol>
                <a:gridCol w="811784">
                  <a:extLst>
                    <a:ext uri="{9D8B030D-6E8A-4147-A177-3AD203B41FA5}">
                      <a16:colId xmlns:a16="http://schemas.microsoft.com/office/drawing/2014/main" val="251441520"/>
                    </a:ext>
                  </a:extLst>
                </a:gridCol>
                <a:gridCol w="596900">
                  <a:extLst>
                    <a:ext uri="{9D8B030D-6E8A-4147-A177-3AD203B41FA5}">
                      <a16:colId xmlns:a16="http://schemas.microsoft.com/office/drawing/2014/main" val="2892207427"/>
                    </a:ext>
                  </a:extLst>
                </a:gridCol>
                <a:gridCol w="811784">
                  <a:extLst>
                    <a:ext uri="{9D8B030D-6E8A-4147-A177-3AD203B41FA5}">
                      <a16:colId xmlns:a16="http://schemas.microsoft.com/office/drawing/2014/main" val="3746215435"/>
                    </a:ext>
                  </a:extLst>
                </a:gridCol>
                <a:gridCol w="811784">
                  <a:extLst>
                    <a:ext uri="{9D8B030D-6E8A-4147-A177-3AD203B41FA5}">
                      <a16:colId xmlns:a16="http://schemas.microsoft.com/office/drawing/2014/main" val="590499291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3176127336"/>
                    </a:ext>
                  </a:extLst>
                </a:gridCol>
              </a:tblGrid>
              <a:tr h="203200">
                <a:tc gridSpan="3"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עמלות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פוליסות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מבוטחים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מסמכים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פרמיות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8350299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he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0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2020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2019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0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2020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2019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0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2020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2019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0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2020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2019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0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2020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2019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0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481604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-0.2%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468,027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469,037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-21.3%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733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931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-14.6%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-17.2%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855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1,032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-11.7%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2,718,446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3,077,823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ינואר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482372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-3.2%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259,558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268,058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2.1%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683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669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-0.9%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524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529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1.5%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766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755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-4.6%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1,742,712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1,826,008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פברואר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6396667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51.2%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265,116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175,385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9.0%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739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15.1%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1,367,314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1,188,239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מרץ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5737598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8.7%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205,799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189,375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6.1%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594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560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1.8%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460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452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5.1%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698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664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10.4%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1,385,293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1,254,968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אפריל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0840459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-0.8%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174,491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175,904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12.1%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12.3%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17.1%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753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1,204,094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1,190,284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מאי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0724687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4.7%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193,765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185,117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13.9%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639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561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14.2%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530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464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15.6%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741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641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-2.1%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1,223,417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1,249,281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יוני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925934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233,138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232,889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816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804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-2.4%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1,567,399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1,605,909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יולי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7808674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3.8%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217,049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209,150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6.9%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653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611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526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506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7.9%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780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723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1,421,542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1,380,135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אוגוסט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341009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14.1%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179,037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156,906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-2.7%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755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776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18.5%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1,233,679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1,041,302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ספטמבר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0187449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-9.1%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163,089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179,395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11.5%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603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541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9.9%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467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425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16.1%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763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657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-3.0%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1,127,659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1,162,774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אוקטובר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2497870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183,924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181,000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9.0%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14.6%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793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1,236,780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1,194,814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נובמבר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1253846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145.6%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371,312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151,207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39.5%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710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509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44.0%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573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398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32.1%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844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639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56.0%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1,566,139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1,003,751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דצמבר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4187324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13.2%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2,914,305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2,573,422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1.5%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6,282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6,190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0.9%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3,024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2,997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6.9%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9,303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8,704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3.6%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17,794,474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17,175,288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000" b="1">
                          <a:latin typeface="Arial" panose="020B0604020202020204" pitchFamily="34" charset="0"/>
                        </a:rPr>
                        <a:t>סה"כ</a:t>
                      </a:r>
                      <a:endParaRPr lang="en-IL" sz="1000" b="1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618935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F81022E-E028-4C30-5690-1C0287BCC217}"/>
              </a:ext>
            </a:extLst>
          </p:cNvPr>
          <p:cNvSpPr txBox="1"/>
          <p:nvPr/>
        </p:nvSpPr>
        <p:spPr>
          <a:xfrm>
            <a:off x="11115469" y="25400"/>
            <a:ext cx="502061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7 / 29</a:t>
            </a:r>
          </a:p>
        </p:txBody>
      </p:sp>
    </p:spTree>
    <p:extLst>
      <p:ext uri="{BB962C8B-B14F-4D97-AF65-F5344CB8AC3E}">
        <p14:creationId xmlns:p14="http://schemas.microsoft.com/office/powerpoint/2010/main" val="17015336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8006556-C6C3-FE32-A2E7-6F056BCF4C54}"/>
              </a:ext>
            </a:extLst>
          </p:cNvPr>
          <p:cNvSpPr txBox="1"/>
          <p:nvPr/>
        </p:nvSpPr>
        <p:spPr>
          <a:xfrm>
            <a:off x="254000" y="50800"/>
            <a:ext cx="11684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600" b="1">
                <a:solidFill>
                  <a:srgbClr val="00468C"/>
                </a:solidFill>
              </a:rPr>
              <a:t>לדוגמא סוכנות לביטוח</a:t>
            </a:r>
            <a:endParaRPr lang="en-IL" sz="1600" b="1">
              <a:solidFill>
                <a:srgbClr val="00468C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50B6A9-5910-6365-D4F3-9268134EF987}"/>
              </a:ext>
            </a:extLst>
          </p:cNvPr>
          <p:cNvSpPr txBox="1"/>
          <p:nvPr/>
        </p:nvSpPr>
        <p:spPr>
          <a:xfrm>
            <a:off x="254000" y="355600"/>
            <a:ext cx="11684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b="1">
                <a:solidFill>
                  <a:srgbClr val="323232"/>
                </a:solidFill>
              </a:rPr>
              <a:t>פרמיות לפי חברות - 2019 מול 2020</a:t>
            </a:r>
            <a:endParaRPr lang="en-IL" b="1">
              <a:solidFill>
                <a:srgbClr val="32323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3447F0-1042-67C0-45D1-B40371532FF6}"/>
              </a:ext>
            </a:extLst>
          </p:cNvPr>
          <p:cNvSpPr txBox="1"/>
          <p:nvPr/>
        </p:nvSpPr>
        <p:spPr>
          <a:xfrm>
            <a:off x="508000" y="685800"/>
            <a:ext cx="11176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100">
                <a:solidFill>
                  <a:srgbClr val="787878"/>
                </a:solidFill>
              </a:rPr>
              <a:t>שנתי | בורדרו | בחר/י</a:t>
            </a:r>
            <a:endParaRPr lang="en-IL" sz="1100">
              <a:solidFill>
                <a:srgbClr val="787878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EC64163-3699-2AB8-39B5-68064A14A93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016000"/>
            <a:ext cx="10668000" cy="55372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0788DC7-02FB-0F2E-13EC-396F1BE37DE0}"/>
              </a:ext>
            </a:extLst>
          </p:cNvPr>
          <p:cNvSpPr txBox="1"/>
          <p:nvPr/>
        </p:nvSpPr>
        <p:spPr>
          <a:xfrm>
            <a:off x="11115469" y="25400"/>
            <a:ext cx="502061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8 / 29</a:t>
            </a:r>
          </a:p>
        </p:txBody>
      </p:sp>
    </p:spTree>
    <p:extLst>
      <p:ext uri="{BB962C8B-B14F-4D97-AF65-F5344CB8AC3E}">
        <p14:creationId xmlns:p14="http://schemas.microsoft.com/office/powerpoint/2010/main" val="11215415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9383850-D17B-6551-9E00-4D9CB22EDB7D}"/>
              </a:ext>
            </a:extLst>
          </p:cNvPr>
          <p:cNvSpPr txBox="1"/>
          <p:nvPr/>
        </p:nvSpPr>
        <p:spPr>
          <a:xfrm>
            <a:off x="254000" y="50800"/>
            <a:ext cx="11684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600" b="1">
                <a:solidFill>
                  <a:srgbClr val="00468C"/>
                </a:solidFill>
              </a:rPr>
              <a:t>לדוגמא סוכנות לביטוח</a:t>
            </a:r>
            <a:endParaRPr lang="en-IL" sz="1600" b="1">
              <a:solidFill>
                <a:srgbClr val="00468C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EA9EC8-C5CD-F087-B8A9-556318EF8337}"/>
              </a:ext>
            </a:extLst>
          </p:cNvPr>
          <p:cNvSpPr txBox="1"/>
          <p:nvPr/>
        </p:nvSpPr>
        <p:spPr>
          <a:xfrm>
            <a:off x="254000" y="355600"/>
            <a:ext cx="11684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b="1">
                <a:solidFill>
                  <a:srgbClr val="323232"/>
                </a:solidFill>
              </a:rPr>
              <a:t>מסמכים לפי חברות - 2019 מול 2020</a:t>
            </a:r>
            <a:endParaRPr lang="en-IL" b="1">
              <a:solidFill>
                <a:srgbClr val="32323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0BA18A-5757-96D4-0CF8-A326A6123E66}"/>
              </a:ext>
            </a:extLst>
          </p:cNvPr>
          <p:cNvSpPr txBox="1"/>
          <p:nvPr/>
        </p:nvSpPr>
        <p:spPr>
          <a:xfrm>
            <a:off x="508000" y="685800"/>
            <a:ext cx="11176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100">
                <a:solidFill>
                  <a:srgbClr val="787878"/>
                </a:solidFill>
              </a:rPr>
              <a:t>שנתי | בורדרו | בחר/י</a:t>
            </a:r>
            <a:endParaRPr lang="en-IL" sz="1100">
              <a:solidFill>
                <a:srgbClr val="787878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70C7338-E059-53BD-3B01-C30365A81AC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016000"/>
            <a:ext cx="10668000" cy="55372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926A565-7368-7672-4041-4D511229CA2D}"/>
              </a:ext>
            </a:extLst>
          </p:cNvPr>
          <p:cNvSpPr txBox="1"/>
          <p:nvPr/>
        </p:nvSpPr>
        <p:spPr>
          <a:xfrm>
            <a:off x="11115469" y="25400"/>
            <a:ext cx="502061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9 / 29</a:t>
            </a:r>
          </a:p>
        </p:txBody>
      </p:sp>
    </p:spTree>
    <p:extLst>
      <p:ext uri="{BB962C8B-B14F-4D97-AF65-F5344CB8AC3E}">
        <p14:creationId xmlns:p14="http://schemas.microsoft.com/office/powerpoint/2010/main" val="17253864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EDC3357-08E9-C52A-34E0-648D1C84D07D}"/>
              </a:ext>
            </a:extLst>
          </p:cNvPr>
          <p:cNvSpPr txBox="1"/>
          <p:nvPr/>
        </p:nvSpPr>
        <p:spPr>
          <a:xfrm>
            <a:off x="254000" y="50800"/>
            <a:ext cx="11684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600" b="1">
                <a:solidFill>
                  <a:srgbClr val="00468C"/>
                </a:solidFill>
              </a:rPr>
              <a:t>לדוגמא סוכנות לביטוח</a:t>
            </a:r>
            <a:endParaRPr lang="en-IL" sz="1600" b="1">
              <a:solidFill>
                <a:srgbClr val="00468C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FC1005-2FA9-82BE-1575-B0A45C7123F5}"/>
              </a:ext>
            </a:extLst>
          </p:cNvPr>
          <p:cNvSpPr txBox="1"/>
          <p:nvPr/>
        </p:nvSpPr>
        <p:spPr>
          <a:xfrm>
            <a:off x="254000" y="355600"/>
            <a:ext cx="11684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b="1">
                <a:solidFill>
                  <a:srgbClr val="323232"/>
                </a:solidFill>
              </a:rPr>
              <a:t>פוליסות לפי חברות - 2019 מול 2020</a:t>
            </a:r>
            <a:endParaRPr lang="en-IL" b="1">
              <a:solidFill>
                <a:srgbClr val="32323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5AB527-1338-C24A-49AD-362041821B64}"/>
              </a:ext>
            </a:extLst>
          </p:cNvPr>
          <p:cNvSpPr txBox="1"/>
          <p:nvPr/>
        </p:nvSpPr>
        <p:spPr>
          <a:xfrm>
            <a:off x="508000" y="685800"/>
            <a:ext cx="11176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100">
                <a:solidFill>
                  <a:srgbClr val="787878"/>
                </a:solidFill>
              </a:rPr>
              <a:t>שנתי | בורדרו | בחר/י</a:t>
            </a:r>
            <a:endParaRPr lang="en-IL" sz="1100">
              <a:solidFill>
                <a:srgbClr val="787878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2B3A4CD-7A1F-3FE4-AD85-542292B50CA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016000"/>
            <a:ext cx="10668000" cy="55372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C7AE294-AFAA-FD90-BFA4-08E6CDF025E4}"/>
              </a:ext>
            </a:extLst>
          </p:cNvPr>
          <p:cNvSpPr txBox="1"/>
          <p:nvPr/>
        </p:nvSpPr>
        <p:spPr>
          <a:xfrm>
            <a:off x="11080203" y="25400"/>
            <a:ext cx="572593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10 / 29</a:t>
            </a:r>
          </a:p>
        </p:txBody>
      </p:sp>
    </p:spTree>
    <p:extLst>
      <p:ext uri="{BB962C8B-B14F-4D97-AF65-F5344CB8AC3E}">
        <p14:creationId xmlns:p14="http://schemas.microsoft.com/office/powerpoint/2010/main" val="28404715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BA1FB21-D108-9B5A-9010-8118151F623B}"/>
              </a:ext>
            </a:extLst>
          </p:cNvPr>
          <p:cNvSpPr txBox="1"/>
          <p:nvPr/>
        </p:nvSpPr>
        <p:spPr>
          <a:xfrm>
            <a:off x="254000" y="50800"/>
            <a:ext cx="11684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600" b="1">
                <a:solidFill>
                  <a:srgbClr val="00468C"/>
                </a:solidFill>
              </a:rPr>
              <a:t>לדוגמא סוכנות לביטוח</a:t>
            </a:r>
            <a:endParaRPr lang="en-IL" sz="1600" b="1">
              <a:solidFill>
                <a:srgbClr val="00468C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D2F891-F173-EE71-F92F-57EA13B4625C}"/>
              </a:ext>
            </a:extLst>
          </p:cNvPr>
          <p:cNvSpPr txBox="1"/>
          <p:nvPr/>
        </p:nvSpPr>
        <p:spPr>
          <a:xfrm>
            <a:off x="254000" y="355600"/>
            <a:ext cx="11684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b="1">
                <a:solidFill>
                  <a:srgbClr val="323232"/>
                </a:solidFill>
              </a:rPr>
              <a:t>עמלות לפי חברות - 2019 מול 2020</a:t>
            </a:r>
            <a:endParaRPr lang="en-IL" b="1">
              <a:solidFill>
                <a:srgbClr val="32323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060A5F-FCC9-5347-48AA-4601FCA36D47}"/>
              </a:ext>
            </a:extLst>
          </p:cNvPr>
          <p:cNvSpPr txBox="1"/>
          <p:nvPr/>
        </p:nvSpPr>
        <p:spPr>
          <a:xfrm>
            <a:off x="508000" y="685800"/>
            <a:ext cx="11176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100">
                <a:solidFill>
                  <a:srgbClr val="787878"/>
                </a:solidFill>
              </a:rPr>
              <a:t>שנתי | בורדרו | בחר/י</a:t>
            </a:r>
            <a:endParaRPr lang="en-IL" sz="1100">
              <a:solidFill>
                <a:srgbClr val="787878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544F5EA-D9EE-C5B7-F0AF-672A03E954B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016000"/>
            <a:ext cx="10668000" cy="55372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90A1222-33AD-9866-24D0-392F2A07A197}"/>
              </a:ext>
            </a:extLst>
          </p:cNvPr>
          <p:cNvSpPr txBox="1"/>
          <p:nvPr/>
        </p:nvSpPr>
        <p:spPr>
          <a:xfrm>
            <a:off x="11080203" y="25400"/>
            <a:ext cx="572593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11 / 29</a:t>
            </a:r>
          </a:p>
        </p:txBody>
      </p:sp>
    </p:spTree>
    <p:extLst>
      <p:ext uri="{BB962C8B-B14F-4D97-AF65-F5344CB8AC3E}">
        <p14:creationId xmlns:p14="http://schemas.microsoft.com/office/powerpoint/2010/main" val="41189120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0F12647-4805-A5AA-8B0F-C997536E98D6}"/>
              </a:ext>
            </a:extLst>
          </p:cNvPr>
          <p:cNvSpPr txBox="1"/>
          <p:nvPr/>
        </p:nvSpPr>
        <p:spPr>
          <a:xfrm>
            <a:off x="254000" y="25400"/>
            <a:ext cx="11684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400" b="1">
                <a:solidFill>
                  <a:srgbClr val="00468C"/>
                </a:solidFill>
              </a:rPr>
              <a:t>לדוגמא סוכנות לביטוח</a:t>
            </a:r>
            <a:endParaRPr lang="en-IL" sz="1400" b="1">
              <a:solidFill>
                <a:srgbClr val="00468C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AA76B2-0BDC-EB19-652E-B6779791B347}"/>
              </a:ext>
            </a:extLst>
          </p:cNvPr>
          <p:cNvSpPr txBox="1"/>
          <p:nvPr/>
        </p:nvSpPr>
        <p:spPr>
          <a:xfrm>
            <a:off x="254000" y="279400"/>
            <a:ext cx="11684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1400" b="1">
                <a:solidFill>
                  <a:srgbClr val="323232"/>
                </a:solidFill>
              </a:rPr>
              <a:t>חברות - טבלת נתונים</a:t>
            </a:r>
            <a:endParaRPr lang="en-IL" sz="1400" b="1">
              <a:solidFill>
                <a:srgbClr val="32323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6CF729-89F0-8617-E0B3-55FB83F9B04C}"/>
              </a:ext>
            </a:extLst>
          </p:cNvPr>
          <p:cNvSpPr txBox="1"/>
          <p:nvPr/>
        </p:nvSpPr>
        <p:spPr>
          <a:xfrm>
            <a:off x="508000" y="533400"/>
            <a:ext cx="11176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900">
                <a:solidFill>
                  <a:srgbClr val="787878"/>
                </a:solidFill>
              </a:rPr>
              <a:t>שנתי | בורדרו | בחר/י</a:t>
            </a:r>
            <a:endParaRPr lang="en-IL" sz="900">
              <a:solidFill>
                <a:srgbClr val="787878"/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746B1EB-7663-A448-F3C9-C5986DAFBE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0913644"/>
              </p:ext>
            </p:extLst>
          </p:nvPr>
        </p:nvGraphicFramePr>
        <p:xfrm>
          <a:off x="127000" y="787400"/>
          <a:ext cx="11938000" cy="264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6900">
                  <a:extLst>
                    <a:ext uri="{9D8B030D-6E8A-4147-A177-3AD203B41FA5}">
                      <a16:colId xmlns:a16="http://schemas.microsoft.com/office/drawing/2014/main" val="2888951692"/>
                    </a:ext>
                  </a:extLst>
                </a:gridCol>
                <a:gridCol w="811784">
                  <a:extLst>
                    <a:ext uri="{9D8B030D-6E8A-4147-A177-3AD203B41FA5}">
                      <a16:colId xmlns:a16="http://schemas.microsoft.com/office/drawing/2014/main" val="1566764164"/>
                    </a:ext>
                  </a:extLst>
                </a:gridCol>
                <a:gridCol w="811784">
                  <a:extLst>
                    <a:ext uri="{9D8B030D-6E8A-4147-A177-3AD203B41FA5}">
                      <a16:colId xmlns:a16="http://schemas.microsoft.com/office/drawing/2014/main" val="2607014707"/>
                    </a:ext>
                  </a:extLst>
                </a:gridCol>
                <a:gridCol w="596900">
                  <a:extLst>
                    <a:ext uri="{9D8B030D-6E8A-4147-A177-3AD203B41FA5}">
                      <a16:colId xmlns:a16="http://schemas.microsoft.com/office/drawing/2014/main" val="3484878131"/>
                    </a:ext>
                  </a:extLst>
                </a:gridCol>
                <a:gridCol w="811784">
                  <a:extLst>
                    <a:ext uri="{9D8B030D-6E8A-4147-A177-3AD203B41FA5}">
                      <a16:colId xmlns:a16="http://schemas.microsoft.com/office/drawing/2014/main" val="346982236"/>
                    </a:ext>
                  </a:extLst>
                </a:gridCol>
                <a:gridCol w="811784">
                  <a:extLst>
                    <a:ext uri="{9D8B030D-6E8A-4147-A177-3AD203B41FA5}">
                      <a16:colId xmlns:a16="http://schemas.microsoft.com/office/drawing/2014/main" val="1369255962"/>
                    </a:ext>
                  </a:extLst>
                </a:gridCol>
                <a:gridCol w="596900">
                  <a:extLst>
                    <a:ext uri="{9D8B030D-6E8A-4147-A177-3AD203B41FA5}">
                      <a16:colId xmlns:a16="http://schemas.microsoft.com/office/drawing/2014/main" val="3647563075"/>
                    </a:ext>
                  </a:extLst>
                </a:gridCol>
                <a:gridCol w="811784">
                  <a:extLst>
                    <a:ext uri="{9D8B030D-6E8A-4147-A177-3AD203B41FA5}">
                      <a16:colId xmlns:a16="http://schemas.microsoft.com/office/drawing/2014/main" val="3047948621"/>
                    </a:ext>
                  </a:extLst>
                </a:gridCol>
                <a:gridCol w="811784">
                  <a:extLst>
                    <a:ext uri="{9D8B030D-6E8A-4147-A177-3AD203B41FA5}">
                      <a16:colId xmlns:a16="http://schemas.microsoft.com/office/drawing/2014/main" val="3972889592"/>
                    </a:ext>
                  </a:extLst>
                </a:gridCol>
                <a:gridCol w="596900">
                  <a:extLst>
                    <a:ext uri="{9D8B030D-6E8A-4147-A177-3AD203B41FA5}">
                      <a16:colId xmlns:a16="http://schemas.microsoft.com/office/drawing/2014/main" val="4196753938"/>
                    </a:ext>
                  </a:extLst>
                </a:gridCol>
                <a:gridCol w="811784">
                  <a:extLst>
                    <a:ext uri="{9D8B030D-6E8A-4147-A177-3AD203B41FA5}">
                      <a16:colId xmlns:a16="http://schemas.microsoft.com/office/drawing/2014/main" val="3950311788"/>
                    </a:ext>
                  </a:extLst>
                </a:gridCol>
                <a:gridCol w="811784">
                  <a:extLst>
                    <a:ext uri="{9D8B030D-6E8A-4147-A177-3AD203B41FA5}">
                      <a16:colId xmlns:a16="http://schemas.microsoft.com/office/drawing/2014/main" val="1230209291"/>
                    </a:ext>
                  </a:extLst>
                </a:gridCol>
                <a:gridCol w="596900">
                  <a:extLst>
                    <a:ext uri="{9D8B030D-6E8A-4147-A177-3AD203B41FA5}">
                      <a16:colId xmlns:a16="http://schemas.microsoft.com/office/drawing/2014/main" val="2757426756"/>
                    </a:ext>
                  </a:extLst>
                </a:gridCol>
                <a:gridCol w="811784">
                  <a:extLst>
                    <a:ext uri="{9D8B030D-6E8A-4147-A177-3AD203B41FA5}">
                      <a16:colId xmlns:a16="http://schemas.microsoft.com/office/drawing/2014/main" val="2458654287"/>
                    </a:ext>
                  </a:extLst>
                </a:gridCol>
                <a:gridCol w="811784">
                  <a:extLst>
                    <a:ext uri="{9D8B030D-6E8A-4147-A177-3AD203B41FA5}">
                      <a16:colId xmlns:a16="http://schemas.microsoft.com/office/drawing/2014/main" val="1407233381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1303661623"/>
                    </a:ext>
                  </a:extLst>
                </a:gridCol>
              </a:tblGrid>
              <a:tr h="203200">
                <a:tc gridSpan="3"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עמלות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פוליסות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מבוטחים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מסמכים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פרמיות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7103377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he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0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2020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2019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0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2020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2019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0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2020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2019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0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2020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2019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0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2020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2019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0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834576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30.4%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555,090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425,841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29.7%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1,566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1,207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22.6%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1,027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838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42.8%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3,038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2,128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28.9%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4,346,518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3,371,368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הפניקס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5863073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26.6%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946,552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747,706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-10.1%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1,964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2,185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-8.7%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1,190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1,304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-6.2%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2,520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2,686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-11.7%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3,801,997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4,306,243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כלל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976294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944,043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919,045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-1.7%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1,306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1,328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-2.9%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1,052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1,083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-5.8%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1,767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1,876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6,259,493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6,121,341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איילון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839463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156.0%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47,001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18,360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219.2%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166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176.6%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130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152.6%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240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95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187.9%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428,520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148,845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הכשרה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820675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-22.0%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130,465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167,268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-22.0%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-24.7%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-21.0%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-22.1%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931,574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1,196,272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מגדל (המגן) חברה לביטוח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8385373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5.6%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225,897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213,870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6.6%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708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664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7.7%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545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506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0.5%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978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973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7.4%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1,722,870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1,603,564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הראל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0855906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-46.7%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17,046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31,953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-19.8%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-36.1%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-28.3%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-29.0%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184,950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260,528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הכשרה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4375794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-5.3%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46,771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49,378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-16.6%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241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289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-18.9%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189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233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-16.9%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241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290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-5.1%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107,093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112,854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דרכים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832026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1,440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1300.0%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11,459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קש חתמים בינלאומיים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773351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-33.3%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-33.3%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-33.3%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-100.0%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54,271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קופרנינוה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8443405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13.2%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2,914,305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2,573,422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1.5%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6,282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6,190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0.9%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3,024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2,997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6.9%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9,303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8,704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3.6%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17,794,474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17,175,288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000" b="1">
                          <a:latin typeface="Arial" panose="020B0604020202020204" pitchFamily="34" charset="0"/>
                        </a:rPr>
                        <a:t>סה"כ</a:t>
                      </a:r>
                      <a:endParaRPr lang="en-IL" sz="1000" b="1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669200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49EFD2B-492E-0BA5-4ED0-E825D719521F}"/>
              </a:ext>
            </a:extLst>
          </p:cNvPr>
          <p:cNvSpPr txBox="1"/>
          <p:nvPr/>
        </p:nvSpPr>
        <p:spPr>
          <a:xfrm>
            <a:off x="11080203" y="25400"/>
            <a:ext cx="572593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12 / 29</a:t>
            </a:r>
          </a:p>
        </p:txBody>
      </p:sp>
    </p:spTree>
    <p:extLst>
      <p:ext uri="{BB962C8B-B14F-4D97-AF65-F5344CB8AC3E}">
        <p14:creationId xmlns:p14="http://schemas.microsoft.com/office/powerpoint/2010/main" val="36072200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7A417A8-40F4-F082-DC2F-A16B2AAD0F1B}"/>
              </a:ext>
            </a:extLst>
          </p:cNvPr>
          <p:cNvSpPr txBox="1"/>
          <p:nvPr/>
        </p:nvSpPr>
        <p:spPr>
          <a:xfrm>
            <a:off x="254000" y="50800"/>
            <a:ext cx="11684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600" b="1">
                <a:solidFill>
                  <a:srgbClr val="00468C"/>
                </a:solidFill>
              </a:rPr>
              <a:t>לדוגמא סוכנות לביטוח</a:t>
            </a:r>
            <a:endParaRPr lang="en-IL" sz="1600" b="1">
              <a:solidFill>
                <a:srgbClr val="00468C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B02622-3B5F-B7EA-7004-484A2BEA1017}"/>
              </a:ext>
            </a:extLst>
          </p:cNvPr>
          <p:cNvSpPr txBox="1"/>
          <p:nvPr/>
        </p:nvSpPr>
        <p:spPr>
          <a:xfrm>
            <a:off x="254000" y="355600"/>
            <a:ext cx="11684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b="1">
                <a:solidFill>
                  <a:srgbClr val="323232"/>
                </a:solidFill>
              </a:rPr>
              <a:t>פרמיות לפי ענף מרכז - 2019 מול 2020</a:t>
            </a:r>
            <a:endParaRPr lang="en-IL" b="1">
              <a:solidFill>
                <a:srgbClr val="32323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971AF5-9227-4DFE-6E38-32F33B4664B3}"/>
              </a:ext>
            </a:extLst>
          </p:cNvPr>
          <p:cNvSpPr txBox="1"/>
          <p:nvPr/>
        </p:nvSpPr>
        <p:spPr>
          <a:xfrm>
            <a:off x="508000" y="685800"/>
            <a:ext cx="11176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100">
                <a:solidFill>
                  <a:srgbClr val="787878"/>
                </a:solidFill>
              </a:rPr>
              <a:t>שנתי | בורדרו | בחר/י</a:t>
            </a:r>
            <a:endParaRPr lang="en-IL" sz="1100">
              <a:solidFill>
                <a:srgbClr val="787878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BB59C43-5E5D-79DA-F36C-5F799C0A561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016000"/>
            <a:ext cx="10668000" cy="55372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4F7CE06-17A7-98E4-96D5-545D07BC93D9}"/>
              </a:ext>
            </a:extLst>
          </p:cNvPr>
          <p:cNvSpPr txBox="1"/>
          <p:nvPr/>
        </p:nvSpPr>
        <p:spPr>
          <a:xfrm>
            <a:off x="11080203" y="25400"/>
            <a:ext cx="572593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13 / 29</a:t>
            </a:r>
          </a:p>
        </p:txBody>
      </p:sp>
    </p:spTree>
    <p:extLst>
      <p:ext uri="{BB962C8B-B14F-4D97-AF65-F5344CB8AC3E}">
        <p14:creationId xmlns:p14="http://schemas.microsoft.com/office/powerpoint/2010/main" val="28482401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6562D47-76B9-D95F-8888-33250FCD6206}"/>
              </a:ext>
            </a:extLst>
          </p:cNvPr>
          <p:cNvSpPr txBox="1"/>
          <p:nvPr/>
        </p:nvSpPr>
        <p:spPr>
          <a:xfrm>
            <a:off x="254000" y="50800"/>
            <a:ext cx="11684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600" b="1">
                <a:solidFill>
                  <a:srgbClr val="00468C"/>
                </a:solidFill>
              </a:rPr>
              <a:t>לדוגמא סוכנות לביטוח</a:t>
            </a:r>
            <a:endParaRPr lang="en-IL" sz="1600" b="1">
              <a:solidFill>
                <a:srgbClr val="00468C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ACE767-B1CA-1F50-CFC2-B2B4C418C8F2}"/>
              </a:ext>
            </a:extLst>
          </p:cNvPr>
          <p:cNvSpPr txBox="1"/>
          <p:nvPr/>
        </p:nvSpPr>
        <p:spPr>
          <a:xfrm>
            <a:off x="254000" y="355600"/>
            <a:ext cx="11684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b="1">
                <a:solidFill>
                  <a:srgbClr val="323232"/>
                </a:solidFill>
              </a:rPr>
              <a:t>מסמכים לפי ענף מרכז - 2019 מול 2020</a:t>
            </a:r>
            <a:endParaRPr lang="en-IL" b="1">
              <a:solidFill>
                <a:srgbClr val="32323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4EC8BE-1759-0A7E-DA1B-9D48848CAB1C}"/>
              </a:ext>
            </a:extLst>
          </p:cNvPr>
          <p:cNvSpPr txBox="1"/>
          <p:nvPr/>
        </p:nvSpPr>
        <p:spPr>
          <a:xfrm>
            <a:off x="508000" y="685800"/>
            <a:ext cx="11176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100">
                <a:solidFill>
                  <a:srgbClr val="787878"/>
                </a:solidFill>
              </a:rPr>
              <a:t>שנתי | בורדרו | בחר/י</a:t>
            </a:r>
            <a:endParaRPr lang="en-IL" sz="1100">
              <a:solidFill>
                <a:srgbClr val="787878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9A2B9F9-41C1-855D-4379-47D0B78B9FF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016000"/>
            <a:ext cx="10668000" cy="55372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D7F6B43-C626-322A-9FA4-130D90EAA4D3}"/>
              </a:ext>
            </a:extLst>
          </p:cNvPr>
          <p:cNvSpPr txBox="1"/>
          <p:nvPr/>
        </p:nvSpPr>
        <p:spPr>
          <a:xfrm>
            <a:off x="11080203" y="25400"/>
            <a:ext cx="572593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14 / 29</a:t>
            </a:r>
          </a:p>
        </p:txBody>
      </p:sp>
    </p:spTree>
    <p:extLst>
      <p:ext uri="{BB962C8B-B14F-4D97-AF65-F5344CB8AC3E}">
        <p14:creationId xmlns:p14="http://schemas.microsoft.com/office/powerpoint/2010/main" val="7426712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C3011F3-0212-D21F-FC81-221A226DF4B1}"/>
              </a:ext>
            </a:extLst>
          </p:cNvPr>
          <p:cNvSpPr txBox="1"/>
          <p:nvPr/>
        </p:nvSpPr>
        <p:spPr>
          <a:xfrm>
            <a:off x="254000" y="50800"/>
            <a:ext cx="11684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600" b="1">
                <a:solidFill>
                  <a:srgbClr val="00468C"/>
                </a:solidFill>
              </a:rPr>
              <a:t>לדוגמא סוכנות לביטוח</a:t>
            </a:r>
            <a:endParaRPr lang="en-IL" sz="1600" b="1">
              <a:solidFill>
                <a:srgbClr val="00468C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FFF4F4-B7B7-CCB9-0854-E410C8254A4D}"/>
              </a:ext>
            </a:extLst>
          </p:cNvPr>
          <p:cNvSpPr txBox="1"/>
          <p:nvPr/>
        </p:nvSpPr>
        <p:spPr>
          <a:xfrm>
            <a:off x="254000" y="355600"/>
            <a:ext cx="11684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b="1">
                <a:solidFill>
                  <a:srgbClr val="323232"/>
                </a:solidFill>
              </a:rPr>
              <a:t>פוליסות לפי ענף מרכז - 2019 מול 2020</a:t>
            </a:r>
            <a:endParaRPr lang="en-IL" b="1">
              <a:solidFill>
                <a:srgbClr val="32323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886AAB-FBF3-0E6C-466D-B14CEA36FECF}"/>
              </a:ext>
            </a:extLst>
          </p:cNvPr>
          <p:cNvSpPr txBox="1"/>
          <p:nvPr/>
        </p:nvSpPr>
        <p:spPr>
          <a:xfrm>
            <a:off x="508000" y="685800"/>
            <a:ext cx="11176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100">
                <a:solidFill>
                  <a:srgbClr val="787878"/>
                </a:solidFill>
              </a:rPr>
              <a:t>שנתי | בורדרו | בחר/י</a:t>
            </a:r>
            <a:endParaRPr lang="en-IL" sz="1100">
              <a:solidFill>
                <a:srgbClr val="787878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B561810-5242-9874-B69B-8D92C9FA4D3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016000"/>
            <a:ext cx="10668000" cy="55372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C0C8CA5-D5B5-7FDB-B4D2-E878781DEBC2}"/>
              </a:ext>
            </a:extLst>
          </p:cNvPr>
          <p:cNvSpPr txBox="1"/>
          <p:nvPr/>
        </p:nvSpPr>
        <p:spPr>
          <a:xfrm>
            <a:off x="11080203" y="25400"/>
            <a:ext cx="572593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15 / 29</a:t>
            </a:r>
          </a:p>
        </p:txBody>
      </p:sp>
    </p:spTree>
    <p:extLst>
      <p:ext uri="{BB962C8B-B14F-4D97-AF65-F5344CB8AC3E}">
        <p14:creationId xmlns:p14="http://schemas.microsoft.com/office/powerpoint/2010/main" val="42682371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B2EA693-3CCD-EB09-7663-C82F2F37537D}"/>
              </a:ext>
            </a:extLst>
          </p:cNvPr>
          <p:cNvSpPr txBox="1"/>
          <p:nvPr/>
        </p:nvSpPr>
        <p:spPr>
          <a:xfrm>
            <a:off x="254000" y="50800"/>
            <a:ext cx="11684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600" b="1">
                <a:solidFill>
                  <a:srgbClr val="00468C"/>
                </a:solidFill>
              </a:rPr>
              <a:t>לדוגמא סוכנות לביטוח</a:t>
            </a:r>
            <a:endParaRPr lang="en-IL" sz="1600" b="1">
              <a:solidFill>
                <a:srgbClr val="00468C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BF2CD7-E595-490C-9F2D-9BD78B991D15}"/>
              </a:ext>
            </a:extLst>
          </p:cNvPr>
          <p:cNvSpPr txBox="1"/>
          <p:nvPr/>
        </p:nvSpPr>
        <p:spPr>
          <a:xfrm>
            <a:off x="254000" y="355600"/>
            <a:ext cx="11684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b="1">
                <a:solidFill>
                  <a:srgbClr val="323232"/>
                </a:solidFill>
              </a:rPr>
              <a:t>עמלות לפי ענף מרכז - 2019 מול 2020</a:t>
            </a:r>
            <a:endParaRPr lang="en-IL" b="1">
              <a:solidFill>
                <a:srgbClr val="32323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B5FA3D-6C1C-89A4-D11F-DF8FEA6C28CE}"/>
              </a:ext>
            </a:extLst>
          </p:cNvPr>
          <p:cNvSpPr txBox="1"/>
          <p:nvPr/>
        </p:nvSpPr>
        <p:spPr>
          <a:xfrm>
            <a:off x="508000" y="685800"/>
            <a:ext cx="11176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100">
                <a:solidFill>
                  <a:srgbClr val="787878"/>
                </a:solidFill>
              </a:rPr>
              <a:t>שנתי | בורדרו | בחר/י</a:t>
            </a:r>
            <a:endParaRPr lang="en-IL" sz="1100">
              <a:solidFill>
                <a:srgbClr val="787878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A8055DE-5121-0D49-F2AE-ADBAB47EDD6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016000"/>
            <a:ext cx="10668000" cy="55372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22DB3CA-E2EF-0B4F-1DE3-AE68E9A6D856}"/>
              </a:ext>
            </a:extLst>
          </p:cNvPr>
          <p:cNvSpPr txBox="1"/>
          <p:nvPr/>
        </p:nvSpPr>
        <p:spPr>
          <a:xfrm>
            <a:off x="11080203" y="25400"/>
            <a:ext cx="572593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16 / 29</a:t>
            </a:r>
          </a:p>
        </p:txBody>
      </p:sp>
    </p:spTree>
    <p:extLst>
      <p:ext uri="{BB962C8B-B14F-4D97-AF65-F5344CB8AC3E}">
        <p14:creationId xmlns:p14="http://schemas.microsoft.com/office/powerpoint/2010/main" val="25090176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EA016B3-D671-CED4-B607-83D564AB1240}"/>
              </a:ext>
            </a:extLst>
          </p:cNvPr>
          <p:cNvSpPr txBox="1"/>
          <p:nvPr/>
        </p:nvSpPr>
        <p:spPr>
          <a:xfrm>
            <a:off x="254000" y="25400"/>
            <a:ext cx="11684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400" b="1">
                <a:solidFill>
                  <a:srgbClr val="00468C"/>
                </a:solidFill>
              </a:rPr>
              <a:t>לדוגמא סוכנות לביטוח</a:t>
            </a:r>
            <a:endParaRPr lang="en-IL" sz="1400" b="1">
              <a:solidFill>
                <a:srgbClr val="00468C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B21FE5-D1E8-A2B1-1547-F88E6EB3EDC3}"/>
              </a:ext>
            </a:extLst>
          </p:cNvPr>
          <p:cNvSpPr txBox="1"/>
          <p:nvPr/>
        </p:nvSpPr>
        <p:spPr>
          <a:xfrm>
            <a:off x="254000" y="279400"/>
            <a:ext cx="11684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1400" b="1">
                <a:solidFill>
                  <a:srgbClr val="323232"/>
                </a:solidFill>
              </a:rPr>
              <a:t>ענף מרכז - טבלת נתונים</a:t>
            </a:r>
            <a:endParaRPr lang="en-IL" sz="1400" b="1">
              <a:solidFill>
                <a:srgbClr val="32323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95BE5D-7CC5-C9D0-D441-BF9528BA332D}"/>
              </a:ext>
            </a:extLst>
          </p:cNvPr>
          <p:cNvSpPr txBox="1"/>
          <p:nvPr/>
        </p:nvSpPr>
        <p:spPr>
          <a:xfrm>
            <a:off x="508000" y="533400"/>
            <a:ext cx="11176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900">
                <a:solidFill>
                  <a:srgbClr val="787878"/>
                </a:solidFill>
              </a:rPr>
              <a:t>שנתי | בורדרו | בחר/י</a:t>
            </a:r>
            <a:endParaRPr lang="en-IL" sz="900">
              <a:solidFill>
                <a:srgbClr val="787878"/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C3104A8-4C4F-50C6-21BD-6C47488A3E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8069498"/>
              </p:ext>
            </p:extLst>
          </p:nvPr>
        </p:nvGraphicFramePr>
        <p:xfrm>
          <a:off x="127000" y="787400"/>
          <a:ext cx="11938000" cy="284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6900">
                  <a:extLst>
                    <a:ext uri="{9D8B030D-6E8A-4147-A177-3AD203B41FA5}">
                      <a16:colId xmlns:a16="http://schemas.microsoft.com/office/drawing/2014/main" val="2017408706"/>
                    </a:ext>
                  </a:extLst>
                </a:gridCol>
                <a:gridCol w="811784">
                  <a:extLst>
                    <a:ext uri="{9D8B030D-6E8A-4147-A177-3AD203B41FA5}">
                      <a16:colId xmlns:a16="http://schemas.microsoft.com/office/drawing/2014/main" val="72409511"/>
                    </a:ext>
                  </a:extLst>
                </a:gridCol>
                <a:gridCol w="811784">
                  <a:extLst>
                    <a:ext uri="{9D8B030D-6E8A-4147-A177-3AD203B41FA5}">
                      <a16:colId xmlns:a16="http://schemas.microsoft.com/office/drawing/2014/main" val="2652236817"/>
                    </a:ext>
                  </a:extLst>
                </a:gridCol>
                <a:gridCol w="596900">
                  <a:extLst>
                    <a:ext uri="{9D8B030D-6E8A-4147-A177-3AD203B41FA5}">
                      <a16:colId xmlns:a16="http://schemas.microsoft.com/office/drawing/2014/main" val="1570637266"/>
                    </a:ext>
                  </a:extLst>
                </a:gridCol>
                <a:gridCol w="811784">
                  <a:extLst>
                    <a:ext uri="{9D8B030D-6E8A-4147-A177-3AD203B41FA5}">
                      <a16:colId xmlns:a16="http://schemas.microsoft.com/office/drawing/2014/main" val="229890061"/>
                    </a:ext>
                  </a:extLst>
                </a:gridCol>
                <a:gridCol w="811784">
                  <a:extLst>
                    <a:ext uri="{9D8B030D-6E8A-4147-A177-3AD203B41FA5}">
                      <a16:colId xmlns:a16="http://schemas.microsoft.com/office/drawing/2014/main" val="3720922567"/>
                    </a:ext>
                  </a:extLst>
                </a:gridCol>
                <a:gridCol w="596900">
                  <a:extLst>
                    <a:ext uri="{9D8B030D-6E8A-4147-A177-3AD203B41FA5}">
                      <a16:colId xmlns:a16="http://schemas.microsoft.com/office/drawing/2014/main" val="2349389009"/>
                    </a:ext>
                  </a:extLst>
                </a:gridCol>
                <a:gridCol w="811784">
                  <a:extLst>
                    <a:ext uri="{9D8B030D-6E8A-4147-A177-3AD203B41FA5}">
                      <a16:colId xmlns:a16="http://schemas.microsoft.com/office/drawing/2014/main" val="612465030"/>
                    </a:ext>
                  </a:extLst>
                </a:gridCol>
                <a:gridCol w="811784">
                  <a:extLst>
                    <a:ext uri="{9D8B030D-6E8A-4147-A177-3AD203B41FA5}">
                      <a16:colId xmlns:a16="http://schemas.microsoft.com/office/drawing/2014/main" val="728915174"/>
                    </a:ext>
                  </a:extLst>
                </a:gridCol>
                <a:gridCol w="596900">
                  <a:extLst>
                    <a:ext uri="{9D8B030D-6E8A-4147-A177-3AD203B41FA5}">
                      <a16:colId xmlns:a16="http://schemas.microsoft.com/office/drawing/2014/main" val="2252394794"/>
                    </a:ext>
                  </a:extLst>
                </a:gridCol>
                <a:gridCol w="811784">
                  <a:extLst>
                    <a:ext uri="{9D8B030D-6E8A-4147-A177-3AD203B41FA5}">
                      <a16:colId xmlns:a16="http://schemas.microsoft.com/office/drawing/2014/main" val="4200219938"/>
                    </a:ext>
                  </a:extLst>
                </a:gridCol>
                <a:gridCol w="811784">
                  <a:extLst>
                    <a:ext uri="{9D8B030D-6E8A-4147-A177-3AD203B41FA5}">
                      <a16:colId xmlns:a16="http://schemas.microsoft.com/office/drawing/2014/main" val="2895254108"/>
                    </a:ext>
                  </a:extLst>
                </a:gridCol>
                <a:gridCol w="596900">
                  <a:extLst>
                    <a:ext uri="{9D8B030D-6E8A-4147-A177-3AD203B41FA5}">
                      <a16:colId xmlns:a16="http://schemas.microsoft.com/office/drawing/2014/main" val="942922297"/>
                    </a:ext>
                  </a:extLst>
                </a:gridCol>
                <a:gridCol w="811784">
                  <a:extLst>
                    <a:ext uri="{9D8B030D-6E8A-4147-A177-3AD203B41FA5}">
                      <a16:colId xmlns:a16="http://schemas.microsoft.com/office/drawing/2014/main" val="4122799803"/>
                    </a:ext>
                  </a:extLst>
                </a:gridCol>
                <a:gridCol w="811784">
                  <a:extLst>
                    <a:ext uri="{9D8B030D-6E8A-4147-A177-3AD203B41FA5}">
                      <a16:colId xmlns:a16="http://schemas.microsoft.com/office/drawing/2014/main" val="643149394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1529295067"/>
                    </a:ext>
                  </a:extLst>
                </a:gridCol>
              </a:tblGrid>
              <a:tr h="203200">
                <a:tc gridSpan="3"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עמלות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פוליסות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מבוטחים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מסמכים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פרמיות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37916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he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0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2020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2019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0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2020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2019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0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2020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2019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0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2020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2019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0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2020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2019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0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3672519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173,760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169,516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-14.3%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-16.3%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-10.5%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-0.1%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1,187,340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1,188,410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חבויות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17248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0.8%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357,123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354,243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1.2%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1,298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1,282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0.3%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970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967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1.6%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1,490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1,466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3.4%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2,261,810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2,188,221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דירות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0011894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772,973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768,563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2,201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2,088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1,434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1,367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4,407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4,006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5,826,309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5,784,619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רכב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3399174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2.3%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180,469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176,376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-3.8%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577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600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-2.8%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307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316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-2.8%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630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648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5.7%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844,733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799,353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טרקטורים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3133579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660,632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640,742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-1.2%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-2.0%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782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772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4,437,289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4,240,583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חבר מושב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6104483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16.1%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152,612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131,401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-5.1%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112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118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-8.5%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97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106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16.7%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161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138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8.2%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802,477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741,637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בית עסק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9248209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176.2%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423,699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153,376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21.0%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14.8%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56.2%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9.6%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1,056,720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964,109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שונות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95880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3.4%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151,503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146,468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-3.8%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609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633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-2.9%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366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377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-2.1%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699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714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7.0%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1,085,696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1,014,499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רכב אחר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3302348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20,896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20,198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46.2%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207,575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201,091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אש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529808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64.6%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20,639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12,539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35.8%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182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134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9.0%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97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89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34.6%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206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153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60.2%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84,524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52,765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נסיעות לחו"ל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602824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סחורה בהעברה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3311434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13.2%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2,914,305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2,573,422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1.5%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6,282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6,190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0.9%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3,024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2,997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6.9%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9,303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8,704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3.6%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17,794,474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17,175,288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000" b="1">
                          <a:latin typeface="Arial" panose="020B0604020202020204" pitchFamily="34" charset="0"/>
                        </a:rPr>
                        <a:t>סה"כ</a:t>
                      </a:r>
                      <a:endParaRPr lang="en-IL" sz="1000" b="1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451364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F0A4EA3-00A8-BC64-E1BF-DEF3BE500939}"/>
              </a:ext>
            </a:extLst>
          </p:cNvPr>
          <p:cNvSpPr txBox="1"/>
          <p:nvPr/>
        </p:nvSpPr>
        <p:spPr>
          <a:xfrm>
            <a:off x="11080203" y="25400"/>
            <a:ext cx="572593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17 / 29</a:t>
            </a:r>
          </a:p>
        </p:txBody>
      </p:sp>
    </p:spTree>
    <p:extLst>
      <p:ext uri="{BB962C8B-B14F-4D97-AF65-F5344CB8AC3E}">
        <p14:creationId xmlns:p14="http://schemas.microsoft.com/office/powerpoint/2010/main" val="25752707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A497FE4-3BC6-6282-5759-1B1C7362C6B2}"/>
              </a:ext>
            </a:extLst>
          </p:cNvPr>
          <p:cNvSpPr txBox="1"/>
          <p:nvPr/>
        </p:nvSpPr>
        <p:spPr>
          <a:xfrm>
            <a:off x="254000" y="50800"/>
            <a:ext cx="11684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600" b="1">
                <a:solidFill>
                  <a:srgbClr val="00468C"/>
                </a:solidFill>
              </a:rPr>
              <a:t>לדוגמא סוכנות לביטוח</a:t>
            </a:r>
            <a:endParaRPr lang="en-IL" sz="1600" b="1">
              <a:solidFill>
                <a:srgbClr val="00468C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61F87C-C1A8-D980-65DA-DE461D1442C3}"/>
              </a:ext>
            </a:extLst>
          </p:cNvPr>
          <p:cNvSpPr txBox="1"/>
          <p:nvPr/>
        </p:nvSpPr>
        <p:spPr>
          <a:xfrm>
            <a:off x="254000" y="355600"/>
            <a:ext cx="11684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b="1">
                <a:solidFill>
                  <a:srgbClr val="323232"/>
                </a:solidFill>
              </a:rPr>
              <a:t>פרמיות לפי טלריות - 2019 מול 2020</a:t>
            </a:r>
            <a:endParaRPr lang="en-IL" b="1">
              <a:solidFill>
                <a:srgbClr val="32323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D96E0B-F9C5-A7FE-4042-30A5F3E88B03}"/>
              </a:ext>
            </a:extLst>
          </p:cNvPr>
          <p:cNvSpPr txBox="1"/>
          <p:nvPr/>
        </p:nvSpPr>
        <p:spPr>
          <a:xfrm>
            <a:off x="508000" y="685800"/>
            <a:ext cx="11176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100">
                <a:solidFill>
                  <a:srgbClr val="787878"/>
                </a:solidFill>
              </a:rPr>
              <a:t>שנתי | בורדרו | בחר/י</a:t>
            </a:r>
            <a:endParaRPr lang="en-IL" sz="1100">
              <a:solidFill>
                <a:srgbClr val="787878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4128CF1-B65A-7CA9-388B-1174A6FE4FD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016000"/>
            <a:ext cx="10668000" cy="55372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4B50FC1-49FC-ABD7-E499-5CCD98F0944C}"/>
              </a:ext>
            </a:extLst>
          </p:cNvPr>
          <p:cNvSpPr txBox="1"/>
          <p:nvPr/>
        </p:nvSpPr>
        <p:spPr>
          <a:xfrm>
            <a:off x="11080203" y="25400"/>
            <a:ext cx="572593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18 / 29</a:t>
            </a:r>
          </a:p>
        </p:txBody>
      </p:sp>
    </p:spTree>
    <p:extLst>
      <p:ext uri="{BB962C8B-B14F-4D97-AF65-F5344CB8AC3E}">
        <p14:creationId xmlns:p14="http://schemas.microsoft.com/office/powerpoint/2010/main" val="12939771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B56FE17-850A-0020-8C50-D909B242D52C}"/>
              </a:ext>
            </a:extLst>
          </p:cNvPr>
          <p:cNvSpPr txBox="1"/>
          <p:nvPr/>
        </p:nvSpPr>
        <p:spPr>
          <a:xfrm>
            <a:off x="254000" y="50800"/>
            <a:ext cx="11684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600" b="1">
                <a:solidFill>
                  <a:srgbClr val="00468C"/>
                </a:solidFill>
              </a:rPr>
              <a:t>לדוגמא סוכנות לביטוח</a:t>
            </a:r>
            <a:endParaRPr lang="en-IL" sz="1600" b="1">
              <a:solidFill>
                <a:srgbClr val="00468C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B9C975-495D-0C4C-CF95-9A2630206E82}"/>
              </a:ext>
            </a:extLst>
          </p:cNvPr>
          <p:cNvSpPr txBox="1"/>
          <p:nvPr/>
        </p:nvSpPr>
        <p:spPr>
          <a:xfrm>
            <a:off x="254000" y="355600"/>
            <a:ext cx="11684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b="1">
                <a:solidFill>
                  <a:srgbClr val="323232"/>
                </a:solidFill>
              </a:rPr>
              <a:t>מסמכים לפי טלריות - 2019 מול 2020</a:t>
            </a:r>
            <a:endParaRPr lang="en-IL" b="1">
              <a:solidFill>
                <a:srgbClr val="32323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03B69E-D01C-050D-9ECC-D5377EBE811F}"/>
              </a:ext>
            </a:extLst>
          </p:cNvPr>
          <p:cNvSpPr txBox="1"/>
          <p:nvPr/>
        </p:nvSpPr>
        <p:spPr>
          <a:xfrm>
            <a:off x="508000" y="685800"/>
            <a:ext cx="11176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100">
                <a:solidFill>
                  <a:srgbClr val="787878"/>
                </a:solidFill>
              </a:rPr>
              <a:t>שנתי | בורדרו | בחר/י</a:t>
            </a:r>
            <a:endParaRPr lang="en-IL" sz="1100">
              <a:solidFill>
                <a:srgbClr val="787878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E9935B-A53C-E1D0-DC6C-8B12B7C9118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016000"/>
            <a:ext cx="10668000" cy="55372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315BADC-2E7C-FFBF-0BF7-5401166B84D7}"/>
              </a:ext>
            </a:extLst>
          </p:cNvPr>
          <p:cNvSpPr txBox="1"/>
          <p:nvPr/>
        </p:nvSpPr>
        <p:spPr>
          <a:xfrm>
            <a:off x="11080203" y="25400"/>
            <a:ext cx="572593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19 / 29</a:t>
            </a:r>
          </a:p>
        </p:txBody>
      </p:sp>
    </p:spTree>
    <p:extLst>
      <p:ext uri="{BB962C8B-B14F-4D97-AF65-F5344CB8AC3E}">
        <p14:creationId xmlns:p14="http://schemas.microsoft.com/office/powerpoint/2010/main" val="5534510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F034641-340F-7E40-DD5F-26216ED863B3}"/>
              </a:ext>
            </a:extLst>
          </p:cNvPr>
          <p:cNvSpPr txBox="1"/>
          <p:nvPr/>
        </p:nvSpPr>
        <p:spPr>
          <a:xfrm>
            <a:off x="254000" y="50800"/>
            <a:ext cx="11684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600" b="1">
                <a:solidFill>
                  <a:srgbClr val="00468C"/>
                </a:solidFill>
              </a:rPr>
              <a:t>לדוגמא סוכנות לביטוח</a:t>
            </a:r>
            <a:endParaRPr lang="en-IL" sz="1600" b="1">
              <a:solidFill>
                <a:srgbClr val="00468C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4B9E22-F22E-821F-B970-F0C43935DEAE}"/>
              </a:ext>
            </a:extLst>
          </p:cNvPr>
          <p:cNvSpPr txBox="1"/>
          <p:nvPr/>
        </p:nvSpPr>
        <p:spPr>
          <a:xfrm>
            <a:off x="254000" y="355600"/>
            <a:ext cx="11684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b="1">
                <a:solidFill>
                  <a:srgbClr val="323232"/>
                </a:solidFill>
              </a:rPr>
              <a:t>פוליסות לפי טלריות - 2019 מול 2020</a:t>
            </a:r>
            <a:endParaRPr lang="en-IL" b="1">
              <a:solidFill>
                <a:srgbClr val="32323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AA11BA-36B1-A1B0-BB02-A04B374B8D21}"/>
              </a:ext>
            </a:extLst>
          </p:cNvPr>
          <p:cNvSpPr txBox="1"/>
          <p:nvPr/>
        </p:nvSpPr>
        <p:spPr>
          <a:xfrm>
            <a:off x="508000" y="685800"/>
            <a:ext cx="11176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100">
                <a:solidFill>
                  <a:srgbClr val="787878"/>
                </a:solidFill>
              </a:rPr>
              <a:t>שנתי | בורדרו | בחר/י</a:t>
            </a:r>
            <a:endParaRPr lang="en-IL" sz="1100">
              <a:solidFill>
                <a:srgbClr val="787878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78AE72F-32BA-C805-0E75-0F27E569C28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016000"/>
            <a:ext cx="10668000" cy="55372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4E64847-5D29-65F2-DCC0-263E69129F9A}"/>
              </a:ext>
            </a:extLst>
          </p:cNvPr>
          <p:cNvSpPr txBox="1"/>
          <p:nvPr/>
        </p:nvSpPr>
        <p:spPr>
          <a:xfrm>
            <a:off x="11080203" y="25400"/>
            <a:ext cx="572593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20 / 29</a:t>
            </a:r>
          </a:p>
        </p:txBody>
      </p:sp>
    </p:spTree>
    <p:extLst>
      <p:ext uri="{BB962C8B-B14F-4D97-AF65-F5344CB8AC3E}">
        <p14:creationId xmlns:p14="http://schemas.microsoft.com/office/powerpoint/2010/main" val="29354496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579DF79-028F-8FF4-AC8E-06211A75CF31}"/>
              </a:ext>
            </a:extLst>
          </p:cNvPr>
          <p:cNvSpPr txBox="1"/>
          <p:nvPr/>
        </p:nvSpPr>
        <p:spPr>
          <a:xfrm>
            <a:off x="254000" y="50800"/>
            <a:ext cx="11684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600" b="1">
                <a:solidFill>
                  <a:srgbClr val="00468C"/>
                </a:solidFill>
              </a:rPr>
              <a:t>לדוגמא סוכנות לביטוח</a:t>
            </a:r>
            <a:endParaRPr lang="en-IL" sz="1600" b="1">
              <a:solidFill>
                <a:srgbClr val="00468C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66F83A-E7B6-316D-534D-8ED0295BBDBB}"/>
              </a:ext>
            </a:extLst>
          </p:cNvPr>
          <p:cNvSpPr txBox="1"/>
          <p:nvPr/>
        </p:nvSpPr>
        <p:spPr>
          <a:xfrm>
            <a:off x="254000" y="355600"/>
            <a:ext cx="11684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b="1">
                <a:solidFill>
                  <a:srgbClr val="323232"/>
                </a:solidFill>
              </a:rPr>
              <a:t>עמלות לפי טלריות - 2019 מול 2020</a:t>
            </a:r>
            <a:endParaRPr lang="en-IL" b="1">
              <a:solidFill>
                <a:srgbClr val="32323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5B57E4-F5C5-D8EA-E594-FE85E48AD5F1}"/>
              </a:ext>
            </a:extLst>
          </p:cNvPr>
          <p:cNvSpPr txBox="1"/>
          <p:nvPr/>
        </p:nvSpPr>
        <p:spPr>
          <a:xfrm>
            <a:off x="508000" y="685800"/>
            <a:ext cx="11176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100">
                <a:solidFill>
                  <a:srgbClr val="787878"/>
                </a:solidFill>
              </a:rPr>
              <a:t>שנתי | בורדרו | בחר/י</a:t>
            </a:r>
            <a:endParaRPr lang="en-IL" sz="1100">
              <a:solidFill>
                <a:srgbClr val="787878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6FC238D-A334-C3E7-B7DC-2BAB415BFF4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016000"/>
            <a:ext cx="10668000" cy="55372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D9117FD-EA5C-1AEE-725E-55DFD2B612C4}"/>
              </a:ext>
            </a:extLst>
          </p:cNvPr>
          <p:cNvSpPr txBox="1"/>
          <p:nvPr/>
        </p:nvSpPr>
        <p:spPr>
          <a:xfrm>
            <a:off x="11080203" y="25400"/>
            <a:ext cx="572593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21 / 29</a:t>
            </a:r>
          </a:p>
        </p:txBody>
      </p:sp>
    </p:spTree>
    <p:extLst>
      <p:ext uri="{BB962C8B-B14F-4D97-AF65-F5344CB8AC3E}">
        <p14:creationId xmlns:p14="http://schemas.microsoft.com/office/powerpoint/2010/main" val="20113270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84111C9-1E67-6702-D0CC-ECEBA15B9D1E}"/>
              </a:ext>
            </a:extLst>
          </p:cNvPr>
          <p:cNvSpPr txBox="1"/>
          <p:nvPr/>
        </p:nvSpPr>
        <p:spPr>
          <a:xfrm>
            <a:off x="254000" y="25400"/>
            <a:ext cx="11684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400" b="1">
                <a:solidFill>
                  <a:srgbClr val="00468C"/>
                </a:solidFill>
              </a:rPr>
              <a:t>לדוגמא סוכנות לביטוח</a:t>
            </a:r>
            <a:endParaRPr lang="en-IL" sz="1400" b="1">
              <a:solidFill>
                <a:srgbClr val="00468C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9662BA-A334-24E2-3CFD-AC7034A73D0B}"/>
              </a:ext>
            </a:extLst>
          </p:cNvPr>
          <p:cNvSpPr txBox="1"/>
          <p:nvPr/>
        </p:nvSpPr>
        <p:spPr>
          <a:xfrm>
            <a:off x="254000" y="279400"/>
            <a:ext cx="11684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1400" b="1">
                <a:solidFill>
                  <a:srgbClr val="323232"/>
                </a:solidFill>
              </a:rPr>
              <a:t>טלריות - טבלת נתונים</a:t>
            </a:r>
            <a:endParaRPr lang="en-IL" sz="1400" b="1">
              <a:solidFill>
                <a:srgbClr val="32323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25A9D5-86C3-86CC-33F8-8A32FEFD8FBD}"/>
              </a:ext>
            </a:extLst>
          </p:cNvPr>
          <p:cNvSpPr txBox="1"/>
          <p:nvPr/>
        </p:nvSpPr>
        <p:spPr>
          <a:xfrm>
            <a:off x="508000" y="533400"/>
            <a:ext cx="11176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900">
                <a:solidFill>
                  <a:srgbClr val="787878"/>
                </a:solidFill>
              </a:rPr>
              <a:t>שנתי | בורדרו | בחר/י</a:t>
            </a:r>
            <a:endParaRPr lang="en-IL" sz="900">
              <a:solidFill>
                <a:srgbClr val="787878"/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7CA914C-BC35-BDB6-F657-623BED3A50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1035491"/>
              </p:ext>
            </p:extLst>
          </p:nvPr>
        </p:nvGraphicFramePr>
        <p:xfrm>
          <a:off x="127000" y="787400"/>
          <a:ext cx="11938000" cy="284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6900">
                  <a:extLst>
                    <a:ext uri="{9D8B030D-6E8A-4147-A177-3AD203B41FA5}">
                      <a16:colId xmlns:a16="http://schemas.microsoft.com/office/drawing/2014/main" val="158673580"/>
                    </a:ext>
                  </a:extLst>
                </a:gridCol>
                <a:gridCol w="811784">
                  <a:extLst>
                    <a:ext uri="{9D8B030D-6E8A-4147-A177-3AD203B41FA5}">
                      <a16:colId xmlns:a16="http://schemas.microsoft.com/office/drawing/2014/main" val="1301787398"/>
                    </a:ext>
                  </a:extLst>
                </a:gridCol>
                <a:gridCol w="811784">
                  <a:extLst>
                    <a:ext uri="{9D8B030D-6E8A-4147-A177-3AD203B41FA5}">
                      <a16:colId xmlns:a16="http://schemas.microsoft.com/office/drawing/2014/main" val="3227916460"/>
                    </a:ext>
                  </a:extLst>
                </a:gridCol>
                <a:gridCol w="596900">
                  <a:extLst>
                    <a:ext uri="{9D8B030D-6E8A-4147-A177-3AD203B41FA5}">
                      <a16:colId xmlns:a16="http://schemas.microsoft.com/office/drawing/2014/main" val="1641814257"/>
                    </a:ext>
                  </a:extLst>
                </a:gridCol>
                <a:gridCol w="811784">
                  <a:extLst>
                    <a:ext uri="{9D8B030D-6E8A-4147-A177-3AD203B41FA5}">
                      <a16:colId xmlns:a16="http://schemas.microsoft.com/office/drawing/2014/main" val="1533198522"/>
                    </a:ext>
                  </a:extLst>
                </a:gridCol>
                <a:gridCol w="811784">
                  <a:extLst>
                    <a:ext uri="{9D8B030D-6E8A-4147-A177-3AD203B41FA5}">
                      <a16:colId xmlns:a16="http://schemas.microsoft.com/office/drawing/2014/main" val="4043465216"/>
                    </a:ext>
                  </a:extLst>
                </a:gridCol>
                <a:gridCol w="596900">
                  <a:extLst>
                    <a:ext uri="{9D8B030D-6E8A-4147-A177-3AD203B41FA5}">
                      <a16:colId xmlns:a16="http://schemas.microsoft.com/office/drawing/2014/main" val="3161926405"/>
                    </a:ext>
                  </a:extLst>
                </a:gridCol>
                <a:gridCol w="811784">
                  <a:extLst>
                    <a:ext uri="{9D8B030D-6E8A-4147-A177-3AD203B41FA5}">
                      <a16:colId xmlns:a16="http://schemas.microsoft.com/office/drawing/2014/main" val="1169130154"/>
                    </a:ext>
                  </a:extLst>
                </a:gridCol>
                <a:gridCol w="811784">
                  <a:extLst>
                    <a:ext uri="{9D8B030D-6E8A-4147-A177-3AD203B41FA5}">
                      <a16:colId xmlns:a16="http://schemas.microsoft.com/office/drawing/2014/main" val="695382510"/>
                    </a:ext>
                  </a:extLst>
                </a:gridCol>
                <a:gridCol w="596900">
                  <a:extLst>
                    <a:ext uri="{9D8B030D-6E8A-4147-A177-3AD203B41FA5}">
                      <a16:colId xmlns:a16="http://schemas.microsoft.com/office/drawing/2014/main" val="727427124"/>
                    </a:ext>
                  </a:extLst>
                </a:gridCol>
                <a:gridCol w="811784">
                  <a:extLst>
                    <a:ext uri="{9D8B030D-6E8A-4147-A177-3AD203B41FA5}">
                      <a16:colId xmlns:a16="http://schemas.microsoft.com/office/drawing/2014/main" val="3451393728"/>
                    </a:ext>
                  </a:extLst>
                </a:gridCol>
                <a:gridCol w="811784">
                  <a:extLst>
                    <a:ext uri="{9D8B030D-6E8A-4147-A177-3AD203B41FA5}">
                      <a16:colId xmlns:a16="http://schemas.microsoft.com/office/drawing/2014/main" val="3460580429"/>
                    </a:ext>
                  </a:extLst>
                </a:gridCol>
                <a:gridCol w="596900">
                  <a:extLst>
                    <a:ext uri="{9D8B030D-6E8A-4147-A177-3AD203B41FA5}">
                      <a16:colId xmlns:a16="http://schemas.microsoft.com/office/drawing/2014/main" val="562486280"/>
                    </a:ext>
                  </a:extLst>
                </a:gridCol>
                <a:gridCol w="811784">
                  <a:extLst>
                    <a:ext uri="{9D8B030D-6E8A-4147-A177-3AD203B41FA5}">
                      <a16:colId xmlns:a16="http://schemas.microsoft.com/office/drawing/2014/main" val="4196029379"/>
                    </a:ext>
                  </a:extLst>
                </a:gridCol>
                <a:gridCol w="811784">
                  <a:extLst>
                    <a:ext uri="{9D8B030D-6E8A-4147-A177-3AD203B41FA5}">
                      <a16:colId xmlns:a16="http://schemas.microsoft.com/office/drawing/2014/main" val="2625439318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2235571802"/>
                    </a:ext>
                  </a:extLst>
                </a:gridCol>
              </a:tblGrid>
              <a:tr h="177800">
                <a:tc gridSpan="3"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עמלות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פוליסות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מבוטחים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מסמכים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פרמיות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551668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he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0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2020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2019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0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2020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2019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0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2020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2019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0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2020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2019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0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2020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2019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0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9886809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231,180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217,036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-0.9%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9.7%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884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806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11.3%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1,721,139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1,546,926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טלר 5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5906716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3.1%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272,719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264,625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4.6%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682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652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-1.2%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319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323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9.8%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1,073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977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3.8%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1,787,020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1,721,440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טלר 2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1747405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-1.3%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234,653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237,759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-8.0%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-14.7%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798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935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-1.6%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1,541,565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1,566,231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טלר 9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5913036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104.1%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517,149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253,438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3.4%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725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701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1.8%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283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278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16.3%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1,239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1,065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-2.7%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1,663,214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1,708,797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טלר 1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4161597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213,523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204,105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13.6%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852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750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1,419,096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1,342,756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טלר 6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434377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5.3%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326,407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309,920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2.6%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720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702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-2.7%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358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368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10.7%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961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868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1.4%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2,081,257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2,052,404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טלר 7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7582338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-8.4%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253,430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276,672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-3.5%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8.6%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822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757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-5.9%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1,685,214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1,791,779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טלר 8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5604748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8.3%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302,159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279,082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-3.2%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638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659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-1.3%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310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314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-5.1%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958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1,010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8.0%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1,937,193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1,793,398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טלר 3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2014958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27.0%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179,733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141,543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30.8%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18.1%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33.7%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25.7%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1,260,803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1,003,095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טלר 10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576554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-1.7%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382,061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388,731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-3.8%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690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717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-4.2%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275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287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-0.8%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1,005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1,013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1.6%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2,688,999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2,646,243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טלר 4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933837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19.3%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-12.5%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12.6%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2,501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2,220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טלר 14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085886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679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6,474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טלר 15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2093316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טלר 11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8430099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13.2%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2,914,305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2,573,422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1.5%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6,282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6,190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0.9%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3,024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2,997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6.9%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9,303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8,704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3.6%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17,794,474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17,175,288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000" b="1">
                          <a:latin typeface="Arial" panose="020B0604020202020204" pitchFamily="34" charset="0"/>
                        </a:rPr>
                        <a:t>סה"כ</a:t>
                      </a:r>
                      <a:endParaRPr lang="en-IL" sz="1000" b="1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420782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FF3CEB2E-3D62-13A1-C7AA-076727E43097}"/>
              </a:ext>
            </a:extLst>
          </p:cNvPr>
          <p:cNvSpPr txBox="1"/>
          <p:nvPr/>
        </p:nvSpPr>
        <p:spPr>
          <a:xfrm>
            <a:off x="11080203" y="25400"/>
            <a:ext cx="572593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22 / 29</a:t>
            </a:r>
          </a:p>
        </p:txBody>
      </p:sp>
    </p:spTree>
    <p:extLst>
      <p:ext uri="{BB962C8B-B14F-4D97-AF65-F5344CB8AC3E}">
        <p14:creationId xmlns:p14="http://schemas.microsoft.com/office/powerpoint/2010/main" val="16994105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404F919-D573-D26D-DA25-0B026AB7A604}"/>
              </a:ext>
            </a:extLst>
          </p:cNvPr>
          <p:cNvSpPr txBox="1"/>
          <p:nvPr/>
        </p:nvSpPr>
        <p:spPr>
          <a:xfrm>
            <a:off x="254000" y="50800"/>
            <a:ext cx="11684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600" b="1">
                <a:solidFill>
                  <a:srgbClr val="00468C"/>
                </a:solidFill>
              </a:rPr>
              <a:t>לדוגמא סוכנות לביטוח</a:t>
            </a:r>
            <a:endParaRPr lang="en-IL" sz="1600" b="1">
              <a:solidFill>
                <a:srgbClr val="00468C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C0B527-CF97-3CBE-3F4C-39F03836146B}"/>
              </a:ext>
            </a:extLst>
          </p:cNvPr>
          <p:cNvSpPr txBox="1"/>
          <p:nvPr/>
        </p:nvSpPr>
        <p:spPr>
          <a:xfrm>
            <a:off x="254000" y="355600"/>
            <a:ext cx="11684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b="1">
                <a:solidFill>
                  <a:srgbClr val="323232"/>
                </a:solidFill>
              </a:rPr>
              <a:t>פרמיות לפי סוכנים - 2019 מול 2020</a:t>
            </a:r>
            <a:endParaRPr lang="en-IL" b="1">
              <a:solidFill>
                <a:srgbClr val="32323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2A03AC-2C37-F882-1218-8980BF4643E3}"/>
              </a:ext>
            </a:extLst>
          </p:cNvPr>
          <p:cNvSpPr txBox="1"/>
          <p:nvPr/>
        </p:nvSpPr>
        <p:spPr>
          <a:xfrm>
            <a:off x="508000" y="685800"/>
            <a:ext cx="11176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100">
                <a:solidFill>
                  <a:srgbClr val="787878"/>
                </a:solidFill>
              </a:rPr>
              <a:t>שנתי | בורדרו | בחר/י</a:t>
            </a:r>
            <a:endParaRPr lang="en-IL" sz="1100">
              <a:solidFill>
                <a:srgbClr val="787878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D21D9AB-7F36-46AD-376E-BF7EDE9E8C2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016000"/>
            <a:ext cx="10668000" cy="55372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7511E5B-CB83-EC4A-17D1-4A42B75125F3}"/>
              </a:ext>
            </a:extLst>
          </p:cNvPr>
          <p:cNvSpPr txBox="1"/>
          <p:nvPr/>
        </p:nvSpPr>
        <p:spPr>
          <a:xfrm>
            <a:off x="11080203" y="25400"/>
            <a:ext cx="572593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23 / 29</a:t>
            </a:r>
          </a:p>
        </p:txBody>
      </p:sp>
    </p:spTree>
    <p:extLst>
      <p:ext uri="{BB962C8B-B14F-4D97-AF65-F5344CB8AC3E}">
        <p14:creationId xmlns:p14="http://schemas.microsoft.com/office/powerpoint/2010/main" val="20831081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CDCEB7B-1D43-22BB-2EE8-E09140B7D825}"/>
              </a:ext>
            </a:extLst>
          </p:cNvPr>
          <p:cNvSpPr txBox="1"/>
          <p:nvPr/>
        </p:nvSpPr>
        <p:spPr>
          <a:xfrm>
            <a:off x="254000" y="50800"/>
            <a:ext cx="11684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600" b="1">
                <a:solidFill>
                  <a:srgbClr val="00468C"/>
                </a:solidFill>
              </a:rPr>
              <a:t>לדוגמא סוכנות לביטוח</a:t>
            </a:r>
            <a:endParaRPr lang="en-IL" sz="1600" b="1">
              <a:solidFill>
                <a:srgbClr val="00468C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B2AB3B-E35E-FF47-3DCB-1CD3E7B70A93}"/>
              </a:ext>
            </a:extLst>
          </p:cNvPr>
          <p:cNvSpPr txBox="1"/>
          <p:nvPr/>
        </p:nvSpPr>
        <p:spPr>
          <a:xfrm>
            <a:off x="254000" y="355600"/>
            <a:ext cx="11684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b="1">
                <a:solidFill>
                  <a:srgbClr val="323232"/>
                </a:solidFill>
              </a:rPr>
              <a:t>מסמכים לפי סוכנים - 2019 מול 2020</a:t>
            </a:r>
            <a:endParaRPr lang="en-IL" b="1">
              <a:solidFill>
                <a:srgbClr val="32323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7A016C-6C83-2C1B-F114-D87C9C0917A4}"/>
              </a:ext>
            </a:extLst>
          </p:cNvPr>
          <p:cNvSpPr txBox="1"/>
          <p:nvPr/>
        </p:nvSpPr>
        <p:spPr>
          <a:xfrm>
            <a:off x="508000" y="685800"/>
            <a:ext cx="11176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100">
                <a:solidFill>
                  <a:srgbClr val="787878"/>
                </a:solidFill>
              </a:rPr>
              <a:t>שנתי | בורדרו | בחר/י</a:t>
            </a:r>
            <a:endParaRPr lang="en-IL" sz="1100">
              <a:solidFill>
                <a:srgbClr val="787878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65F7536-DAE7-3144-91B1-682F8D2263D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016000"/>
            <a:ext cx="10668000" cy="55372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998FBEE-7D02-0253-704D-A5494AA28B28}"/>
              </a:ext>
            </a:extLst>
          </p:cNvPr>
          <p:cNvSpPr txBox="1"/>
          <p:nvPr/>
        </p:nvSpPr>
        <p:spPr>
          <a:xfrm>
            <a:off x="11080203" y="25400"/>
            <a:ext cx="572593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24 / 29</a:t>
            </a:r>
          </a:p>
        </p:txBody>
      </p:sp>
    </p:spTree>
    <p:extLst>
      <p:ext uri="{BB962C8B-B14F-4D97-AF65-F5344CB8AC3E}">
        <p14:creationId xmlns:p14="http://schemas.microsoft.com/office/powerpoint/2010/main" val="12026051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E565AFC-F228-6875-F935-0B80E400927A}"/>
              </a:ext>
            </a:extLst>
          </p:cNvPr>
          <p:cNvSpPr txBox="1"/>
          <p:nvPr/>
        </p:nvSpPr>
        <p:spPr>
          <a:xfrm>
            <a:off x="254000" y="50800"/>
            <a:ext cx="11684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600" b="1">
                <a:solidFill>
                  <a:srgbClr val="00468C"/>
                </a:solidFill>
              </a:rPr>
              <a:t>לדוגמא סוכנות לביטוח</a:t>
            </a:r>
            <a:endParaRPr lang="en-IL" sz="1600" b="1">
              <a:solidFill>
                <a:srgbClr val="00468C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D0E714-D74D-9F42-2AEE-7C9224D27D75}"/>
              </a:ext>
            </a:extLst>
          </p:cNvPr>
          <p:cNvSpPr txBox="1"/>
          <p:nvPr/>
        </p:nvSpPr>
        <p:spPr>
          <a:xfrm>
            <a:off x="254000" y="355600"/>
            <a:ext cx="11684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b="1">
                <a:solidFill>
                  <a:srgbClr val="323232"/>
                </a:solidFill>
              </a:rPr>
              <a:t>פוליסות לפי סוכנים - 2019 מול 2020</a:t>
            </a:r>
            <a:endParaRPr lang="en-IL" b="1">
              <a:solidFill>
                <a:srgbClr val="32323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5BC8BB-B988-99C1-9AC1-6393615D0CE5}"/>
              </a:ext>
            </a:extLst>
          </p:cNvPr>
          <p:cNvSpPr txBox="1"/>
          <p:nvPr/>
        </p:nvSpPr>
        <p:spPr>
          <a:xfrm>
            <a:off x="508000" y="685800"/>
            <a:ext cx="11176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100">
                <a:solidFill>
                  <a:srgbClr val="787878"/>
                </a:solidFill>
              </a:rPr>
              <a:t>שנתי | בורדרו | בחר/י</a:t>
            </a:r>
            <a:endParaRPr lang="en-IL" sz="1100">
              <a:solidFill>
                <a:srgbClr val="787878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C77F826-2685-3F05-42B0-E01B174BA02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016000"/>
            <a:ext cx="10668000" cy="55372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577B1B9-7DFA-960E-B6EB-CAD75FB51B75}"/>
              </a:ext>
            </a:extLst>
          </p:cNvPr>
          <p:cNvSpPr txBox="1"/>
          <p:nvPr/>
        </p:nvSpPr>
        <p:spPr>
          <a:xfrm>
            <a:off x="11080203" y="25400"/>
            <a:ext cx="572593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25 / 29</a:t>
            </a:r>
          </a:p>
        </p:txBody>
      </p:sp>
    </p:spTree>
    <p:extLst>
      <p:ext uri="{BB962C8B-B14F-4D97-AF65-F5344CB8AC3E}">
        <p14:creationId xmlns:p14="http://schemas.microsoft.com/office/powerpoint/2010/main" val="10203669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DB25E5E-6695-A16E-FF1E-B6A36BC67734}"/>
              </a:ext>
            </a:extLst>
          </p:cNvPr>
          <p:cNvSpPr txBox="1"/>
          <p:nvPr/>
        </p:nvSpPr>
        <p:spPr>
          <a:xfrm>
            <a:off x="254000" y="50800"/>
            <a:ext cx="11684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600" b="1">
                <a:solidFill>
                  <a:srgbClr val="00468C"/>
                </a:solidFill>
              </a:rPr>
              <a:t>לדוגמא סוכנות לביטוח</a:t>
            </a:r>
            <a:endParaRPr lang="en-IL" sz="1600" b="1">
              <a:solidFill>
                <a:srgbClr val="00468C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68D1D1-B043-4EED-7731-A1F79D2DA88B}"/>
              </a:ext>
            </a:extLst>
          </p:cNvPr>
          <p:cNvSpPr txBox="1"/>
          <p:nvPr/>
        </p:nvSpPr>
        <p:spPr>
          <a:xfrm>
            <a:off x="254000" y="355600"/>
            <a:ext cx="11684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b="1">
                <a:solidFill>
                  <a:srgbClr val="323232"/>
                </a:solidFill>
              </a:rPr>
              <a:t>עמלות לפי סוכנים - 2019 מול 2020</a:t>
            </a:r>
            <a:endParaRPr lang="en-IL" b="1">
              <a:solidFill>
                <a:srgbClr val="32323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25DCE4-7EBF-8088-68E5-E21EB341D291}"/>
              </a:ext>
            </a:extLst>
          </p:cNvPr>
          <p:cNvSpPr txBox="1"/>
          <p:nvPr/>
        </p:nvSpPr>
        <p:spPr>
          <a:xfrm>
            <a:off x="508000" y="685800"/>
            <a:ext cx="11176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100">
                <a:solidFill>
                  <a:srgbClr val="787878"/>
                </a:solidFill>
              </a:rPr>
              <a:t>שנתי | בורדרו | בחר/י</a:t>
            </a:r>
            <a:endParaRPr lang="en-IL" sz="1100">
              <a:solidFill>
                <a:srgbClr val="787878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6F666BD-57A2-7407-16E5-418E07D2784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016000"/>
            <a:ext cx="10668000" cy="55372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F7132C-6291-C9CB-DCFA-DBF5A98A0B22}"/>
              </a:ext>
            </a:extLst>
          </p:cNvPr>
          <p:cNvSpPr txBox="1"/>
          <p:nvPr/>
        </p:nvSpPr>
        <p:spPr>
          <a:xfrm>
            <a:off x="11080203" y="25400"/>
            <a:ext cx="572593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26 / 29</a:t>
            </a:r>
          </a:p>
        </p:txBody>
      </p:sp>
    </p:spTree>
    <p:extLst>
      <p:ext uri="{BB962C8B-B14F-4D97-AF65-F5344CB8AC3E}">
        <p14:creationId xmlns:p14="http://schemas.microsoft.com/office/powerpoint/2010/main" val="217420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D3F4B26-0A00-7029-3B72-570886090A4A}"/>
              </a:ext>
            </a:extLst>
          </p:cNvPr>
          <p:cNvSpPr txBox="1"/>
          <p:nvPr/>
        </p:nvSpPr>
        <p:spPr>
          <a:xfrm>
            <a:off x="254000" y="25400"/>
            <a:ext cx="11684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400" b="1">
                <a:solidFill>
                  <a:srgbClr val="00468C"/>
                </a:solidFill>
              </a:rPr>
              <a:t>לדוגמא סוכנות לביטוח</a:t>
            </a:r>
            <a:endParaRPr lang="en-IL" sz="1400" b="1">
              <a:solidFill>
                <a:srgbClr val="00468C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0F0DD7-198C-90E6-6773-FC2C3E8B345D}"/>
              </a:ext>
            </a:extLst>
          </p:cNvPr>
          <p:cNvSpPr txBox="1"/>
          <p:nvPr/>
        </p:nvSpPr>
        <p:spPr>
          <a:xfrm>
            <a:off x="254000" y="279400"/>
            <a:ext cx="11684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1400" b="1">
                <a:solidFill>
                  <a:srgbClr val="323232"/>
                </a:solidFill>
              </a:rPr>
              <a:t>סוכנים - טבלת נתונים</a:t>
            </a:r>
            <a:endParaRPr lang="en-IL" sz="1400" b="1">
              <a:solidFill>
                <a:srgbClr val="32323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EE6C62-4CE4-B1AB-DCFD-D8E5B204BACF}"/>
              </a:ext>
            </a:extLst>
          </p:cNvPr>
          <p:cNvSpPr txBox="1"/>
          <p:nvPr/>
        </p:nvSpPr>
        <p:spPr>
          <a:xfrm>
            <a:off x="508000" y="533400"/>
            <a:ext cx="11176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900">
                <a:solidFill>
                  <a:srgbClr val="787878"/>
                </a:solidFill>
              </a:rPr>
              <a:t>שנתי | בורדרו | בחר/י</a:t>
            </a:r>
            <a:endParaRPr lang="en-IL" sz="900">
              <a:solidFill>
                <a:srgbClr val="787878"/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AAB281C-4B92-82C5-C6E4-DBD43CA312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6720358"/>
              </p:ext>
            </p:extLst>
          </p:nvPr>
        </p:nvGraphicFramePr>
        <p:xfrm>
          <a:off x="127000" y="787400"/>
          <a:ext cx="11938000" cy="350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6900">
                  <a:extLst>
                    <a:ext uri="{9D8B030D-6E8A-4147-A177-3AD203B41FA5}">
                      <a16:colId xmlns:a16="http://schemas.microsoft.com/office/drawing/2014/main" val="3049477988"/>
                    </a:ext>
                  </a:extLst>
                </a:gridCol>
                <a:gridCol w="811784">
                  <a:extLst>
                    <a:ext uri="{9D8B030D-6E8A-4147-A177-3AD203B41FA5}">
                      <a16:colId xmlns:a16="http://schemas.microsoft.com/office/drawing/2014/main" val="3214638527"/>
                    </a:ext>
                  </a:extLst>
                </a:gridCol>
                <a:gridCol w="811784">
                  <a:extLst>
                    <a:ext uri="{9D8B030D-6E8A-4147-A177-3AD203B41FA5}">
                      <a16:colId xmlns:a16="http://schemas.microsoft.com/office/drawing/2014/main" val="4288789856"/>
                    </a:ext>
                  </a:extLst>
                </a:gridCol>
                <a:gridCol w="596900">
                  <a:extLst>
                    <a:ext uri="{9D8B030D-6E8A-4147-A177-3AD203B41FA5}">
                      <a16:colId xmlns:a16="http://schemas.microsoft.com/office/drawing/2014/main" val="3422466548"/>
                    </a:ext>
                  </a:extLst>
                </a:gridCol>
                <a:gridCol w="811784">
                  <a:extLst>
                    <a:ext uri="{9D8B030D-6E8A-4147-A177-3AD203B41FA5}">
                      <a16:colId xmlns:a16="http://schemas.microsoft.com/office/drawing/2014/main" val="448744493"/>
                    </a:ext>
                  </a:extLst>
                </a:gridCol>
                <a:gridCol w="811784">
                  <a:extLst>
                    <a:ext uri="{9D8B030D-6E8A-4147-A177-3AD203B41FA5}">
                      <a16:colId xmlns:a16="http://schemas.microsoft.com/office/drawing/2014/main" val="2038306106"/>
                    </a:ext>
                  </a:extLst>
                </a:gridCol>
                <a:gridCol w="596900">
                  <a:extLst>
                    <a:ext uri="{9D8B030D-6E8A-4147-A177-3AD203B41FA5}">
                      <a16:colId xmlns:a16="http://schemas.microsoft.com/office/drawing/2014/main" val="1905036531"/>
                    </a:ext>
                  </a:extLst>
                </a:gridCol>
                <a:gridCol w="811784">
                  <a:extLst>
                    <a:ext uri="{9D8B030D-6E8A-4147-A177-3AD203B41FA5}">
                      <a16:colId xmlns:a16="http://schemas.microsoft.com/office/drawing/2014/main" val="3587286451"/>
                    </a:ext>
                  </a:extLst>
                </a:gridCol>
                <a:gridCol w="811784">
                  <a:extLst>
                    <a:ext uri="{9D8B030D-6E8A-4147-A177-3AD203B41FA5}">
                      <a16:colId xmlns:a16="http://schemas.microsoft.com/office/drawing/2014/main" val="516970844"/>
                    </a:ext>
                  </a:extLst>
                </a:gridCol>
                <a:gridCol w="596900">
                  <a:extLst>
                    <a:ext uri="{9D8B030D-6E8A-4147-A177-3AD203B41FA5}">
                      <a16:colId xmlns:a16="http://schemas.microsoft.com/office/drawing/2014/main" val="3988297630"/>
                    </a:ext>
                  </a:extLst>
                </a:gridCol>
                <a:gridCol w="811784">
                  <a:extLst>
                    <a:ext uri="{9D8B030D-6E8A-4147-A177-3AD203B41FA5}">
                      <a16:colId xmlns:a16="http://schemas.microsoft.com/office/drawing/2014/main" val="3804922546"/>
                    </a:ext>
                  </a:extLst>
                </a:gridCol>
                <a:gridCol w="811784">
                  <a:extLst>
                    <a:ext uri="{9D8B030D-6E8A-4147-A177-3AD203B41FA5}">
                      <a16:colId xmlns:a16="http://schemas.microsoft.com/office/drawing/2014/main" val="1448616229"/>
                    </a:ext>
                  </a:extLst>
                </a:gridCol>
                <a:gridCol w="596900">
                  <a:extLst>
                    <a:ext uri="{9D8B030D-6E8A-4147-A177-3AD203B41FA5}">
                      <a16:colId xmlns:a16="http://schemas.microsoft.com/office/drawing/2014/main" val="3892396500"/>
                    </a:ext>
                  </a:extLst>
                </a:gridCol>
                <a:gridCol w="811784">
                  <a:extLst>
                    <a:ext uri="{9D8B030D-6E8A-4147-A177-3AD203B41FA5}">
                      <a16:colId xmlns:a16="http://schemas.microsoft.com/office/drawing/2014/main" val="1575957587"/>
                    </a:ext>
                  </a:extLst>
                </a:gridCol>
                <a:gridCol w="811784">
                  <a:extLst>
                    <a:ext uri="{9D8B030D-6E8A-4147-A177-3AD203B41FA5}">
                      <a16:colId xmlns:a16="http://schemas.microsoft.com/office/drawing/2014/main" val="3659899443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3601033765"/>
                    </a:ext>
                  </a:extLst>
                </a:gridCol>
              </a:tblGrid>
              <a:tr h="152400">
                <a:tc gridSpan="3"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עמלות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פוליסות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מבוטחים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מסמכים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פרמיות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5372073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he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0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2020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2019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0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2020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2019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0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2020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2019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0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2020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2019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0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2020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2019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0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6073744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17.2%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2,168,081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1,850,569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4,648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4,626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2,197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2,167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7.1%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7,127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6,655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12,901,767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12,408,793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סוכן 1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5462887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5.6%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3,880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3,675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11.1%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7.1%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1.7%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25,952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25,528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סוכן 13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5187369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16.1%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29,032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25,013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10.8%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9.1%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182,576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167,333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סוכן 2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1205751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0.9%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81,942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81,242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-10.6%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127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142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-9.6%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73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-1.2%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170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172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519,874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509,913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סוכן 6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2300334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32.2%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91,439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69,177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43.8%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18.2%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44.5%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29.4%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643,958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497,645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סוכן 5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2844518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-27.0%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21,768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29,821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98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97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-1.4%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72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73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-11.9%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126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143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-17.3%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151,780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183,487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סוכן 7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8419283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293,372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279,372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-2.2%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9.6%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869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793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1,871,869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1,846,676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סוכן 3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0590073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-5.3%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57,979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61,205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1.1%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88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87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17.1%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-9.2%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108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119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-4.7%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373,828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392,455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סוכן 8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939975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-6.6%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69,390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74,282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-4.5%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-6.0%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-2.8%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490,950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505,078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סוכן 4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8983808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-1.7%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35,854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36,480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-6.9%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95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102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1.8%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-15.6%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114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135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-2.6%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221,632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227,638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סוכן 10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3300534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-29.3%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986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-16.7%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-30.9%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4,525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6,553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סוכן 18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431205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-18.5%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5,083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6,236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9.5%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5.9%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-17.7%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-8.5%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41,626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45,493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סוכן 16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5141449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47,631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45,394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311,697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297,757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סוכן 12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8081905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-20.3%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5,426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6,806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-40.0%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-16.7%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-17.3%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33,227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40,191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סוכן 11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2878417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-35.6%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805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-3.3%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4,795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4,957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סוכן 15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0065298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-6.8%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1,056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1,133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100.0%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400.0%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-20.2%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5,381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6,744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סוכן 9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9411125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-20.6%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-7.9%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3,358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3,647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סוכן 20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1317855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6.2%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314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296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5.2%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2,089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1,986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סוכן 19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1946151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3,591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3,413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סוכן 17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0414805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-100.0%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-100.0%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-100.0%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סוכן 14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5935758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13.2%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2,914,305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2,573,422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1.5%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6,282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6,190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0.9%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3,024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2,997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6.9%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9,303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8,704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3.6%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17,794,474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17,175,288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000" b="1">
                          <a:latin typeface="Arial" panose="020B0604020202020204" pitchFamily="34" charset="0"/>
                        </a:rPr>
                        <a:t>סה"כ</a:t>
                      </a:r>
                      <a:endParaRPr lang="en-IL" sz="1000" b="1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511231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CBE1173-8691-6A86-3A94-5113F024C377}"/>
              </a:ext>
            </a:extLst>
          </p:cNvPr>
          <p:cNvSpPr txBox="1"/>
          <p:nvPr/>
        </p:nvSpPr>
        <p:spPr>
          <a:xfrm>
            <a:off x="11080203" y="25400"/>
            <a:ext cx="572593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27 / 29</a:t>
            </a:r>
          </a:p>
        </p:txBody>
      </p:sp>
    </p:spTree>
    <p:extLst>
      <p:ext uri="{BB962C8B-B14F-4D97-AF65-F5344CB8AC3E}">
        <p14:creationId xmlns:p14="http://schemas.microsoft.com/office/powerpoint/2010/main" val="40377594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46C8058-959D-7381-AA2A-64B649A0FB70}"/>
              </a:ext>
            </a:extLst>
          </p:cNvPr>
          <p:cNvSpPr txBox="1"/>
          <p:nvPr/>
        </p:nvSpPr>
        <p:spPr>
          <a:xfrm>
            <a:off x="254000" y="50800"/>
            <a:ext cx="11684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600" b="1">
                <a:solidFill>
                  <a:srgbClr val="00468C"/>
                </a:solidFill>
              </a:rPr>
              <a:t>לדוגמא סוכנות לביטוח</a:t>
            </a:r>
            <a:endParaRPr lang="en-IL" sz="1600" b="1">
              <a:solidFill>
                <a:srgbClr val="00468C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FFDD8F-0580-3012-5928-B79B7BA10F3B}"/>
              </a:ext>
            </a:extLst>
          </p:cNvPr>
          <p:cNvSpPr txBox="1"/>
          <p:nvPr/>
        </p:nvSpPr>
        <p:spPr>
          <a:xfrm>
            <a:off x="254000" y="355600"/>
            <a:ext cx="11684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b="1">
                <a:solidFill>
                  <a:srgbClr val="323232"/>
                </a:solidFill>
              </a:rPr>
              <a:t>פרמיות לפי סוכנים ללא סוכן 1 - 2019 מול 2020</a:t>
            </a:r>
            <a:endParaRPr lang="en-IL" b="1">
              <a:solidFill>
                <a:srgbClr val="32323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73CCB5-6BD6-B93E-6142-0F7E18D41BD6}"/>
              </a:ext>
            </a:extLst>
          </p:cNvPr>
          <p:cNvSpPr txBox="1"/>
          <p:nvPr/>
        </p:nvSpPr>
        <p:spPr>
          <a:xfrm>
            <a:off x="508000" y="685800"/>
            <a:ext cx="11176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100">
                <a:solidFill>
                  <a:srgbClr val="787878"/>
                </a:solidFill>
              </a:rPr>
              <a:t>שנתי | בורדרו | בחר/י</a:t>
            </a:r>
            <a:endParaRPr lang="en-IL" sz="1100">
              <a:solidFill>
                <a:srgbClr val="787878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B3FFFBF-7D0D-7A46-6D7E-761E432558B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016000"/>
            <a:ext cx="10668000" cy="55372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8621053-AF96-96B6-263E-1EEA8A026461}"/>
              </a:ext>
            </a:extLst>
          </p:cNvPr>
          <p:cNvSpPr txBox="1"/>
          <p:nvPr/>
        </p:nvSpPr>
        <p:spPr>
          <a:xfrm>
            <a:off x="11080203" y="25400"/>
            <a:ext cx="572593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28 / 29</a:t>
            </a:r>
          </a:p>
        </p:txBody>
      </p:sp>
    </p:spTree>
    <p:extLst>
      <p:ext uri="{BB962C8B-B14F-4D97-AF65-F5344CB8AC3E}">
        <p14:creationId xmlns:p14="http://schemas.microsoft.com/office/powerpoint/2010/main" val="40456142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B25D80E-19B8-1123-30C9-A213437A6C42}"/>
              </a:ext>
            </a:extLst>
          </p:cNvPr>
          <p:cNvSpPr txBox="1"/>
          <p:nvPr/>
        </p:nvSpPr>
        <p:spPr>
          <a:xfrm>
            <a:off x="254000" y="50800"/>
            <a:ext cx="11684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600" b="1">
                <a:solidFill>
                  <a:srgbClr val="00468C"/>
                </a:solidFill>
              </a:rPr>
              <a:t>לדוגמא סוכנות לביטוח</a:t>
            </a:r>
            <a:endParaRPr lang="en-IL" sz="1600" b="1">
              <a:solidFill>
                <a:srgbClr val="00468C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93DD7A-6590-63D0-91E4-85B2893E23C9}"/>
              </a:ext>
            </a:extLst>
          </p:cNvPr>
          <p:cNvSpPr txBox="1"/>
          <p:nvPr/>
        </p:nvSpPr>
        <p:spPr>
          <a:xfrm>
            <a:off x="254000" y="355600"/>
            <a:ext cx="11684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b="1">
                <a:solidFill>
                  <a:srgbClr val="323232"/>
                </a:solidFill>
              </a:rPr>
              <a:t>עמלות לפי סוכנים ללא סוכן 1 - 2019 מול 2020</a:t>
            </a:r>
            <a:endParaRPr lang="en-IL" b="1">
              <a:solidFill>
                <a:srgbClr val="32323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02D7B0-4068-67BC-7105-C50EFCBFB928}"/>
              </a:ext>
            </a:extLst>
          </p:cNvPr>
          <p:cNvSpPr txBox="1"/>
          <p:nvPr/>
        </p:nvSpPr>
        <p:spPr>
          <a:xfrm>
            <a:off x="508000" y="685800"/>
            <a:ext cx="11176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100">
                <a:solidFill>
                  <a:srgbClr val="787878"/>
                </a:solidFill>
              </a:rPr>
              <a:t>שנתי | בורדרו | בחר/י</a:t>
            </a:r>
            <a:endParaRPr lang="en-IL" sz="1100">
              <a:solidFill>
                <a:srgbClr val="787878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4F3FD79-A37A-948B-5618-BA757026A4C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016000"/>
            <a:ext cx="10668000" cy="55372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3350025-5B91-0A67-FE5B-39E2057D9CD1}"/>
              </a:ext>
            </a:extLst>
          </p:cNvPr>
          <p:cNvSpPr txBox="1"/>
          <p:nvPr/>
        </p:nvSpPr>
        <p:spPr>
          <a:xfrm>
            <a:off x="11080203" y="25400"/>
            <a:ext cx="572593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29 / 29</a:t>
            </a:r>
          </a:p>
        </p:txBody>
      </p:sp>
    </p:spTree>
    <p:extLst>
      <p:ext uri="{BB962C8B-B14F-4D97-AF65-F5344CB8AC3E}">
        <p14:creationId xmlns:p14="http://schemas.microsoft.com/office/powerpoint/2010/main" val="29146904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2313</Words>
  <Application>Microsoft Office PowerPoint</Application>
  <PresentationFormat>Custom</PresentationFormat>
  <Paragraphs>1353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צבי גורן</dc:creator>
  <cp:lastModifiedBy>צבי גורן</cp:lastModifiedBy>
  <cp:revision>1</cp:revision>
  <dcterms:created xsi:type="dcterms:W3CDTF">2026-05-10T07:14:25Z</dcterms:created>
  <dcterms:modified xsi:type="dcterms:W3CDTF">2026-05-10T07:15:30Z</dcterms:modified>
</cp:coreProperties>
</file>